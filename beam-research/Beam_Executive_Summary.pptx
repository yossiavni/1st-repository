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1762147-fe88-7b15-969d-833db6d5a32b}">
          <p14:sldIdLst>
            <p14:sldId id="256"/>
            <p14:sldId id="257"/>
          </p14:sldIdLst>
        </p14:section>
        <p14:section name="Beam today" id="{b43f8e57-cf8c-bb9f-5861-806bad10efb9}">
          <p14:sldIdLst>
            <p14:sldId id="258"/>
            <p14:sldId id="259"/>
            <p14:sldId id="260"/>
            <p14:sldId id="261"/>
          </p14:sldIdLst>
        </p14:section>
        <p14:section name="Competition" id="{3e0e7a04-60be-fd4d-7531-f77c731adead}">
          <p14:sldIdLst>
            <p14:sldId id="262"/>
            <p14:sldId id="263"/>
            <p14:sldId id="264"/>
          </p14:sldIdLst>
        </p14:section>
        <p14:section name="Opportunity" id="{7b1b983d-27f4-eb5c-7ffd-5f3a52a21900}">
          <p14:sldIdLst>
            <p14:sldId id="265"/>
            <p14:sldId id="266"/>
          </p14:sldIdLst>
        </p14:section>
        <p14:section name="Plan" id="{4d0429b3-be2e-f063-ee5f-3bee01b1b946}">
          <p14:sldIdLst>
            <p14:sldId id="267"/>
            <p14:sldId id="268"/>
            <p14:sldId id="269"/>
            <p14:sldId id="270"/>
          </p14:sldIdLst>
        </p14:section>
        <p14:section name="Close" id="{8484e8f8-caa7-c0a7-67f2-8c4f8aa1d369}">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54F"/>
                </a:solidFill>
                <a:latin typeface="+mn-lt"/>
              </a:defRPr>
            </a:pPr>
            <a:r>
              <a:rPr sz="1200" b="0" i="0" u="none" strike="noStrike">
                <a:solidFill>
                  <a:srgbClr val="13254F"/>
                </a:solidFill>
                <a:latin typeface="+mn-lt"/>
              </a:rPr>
              <a:t>Estimated GPU-hours by phase</a:t>
            </a:r>
          </a:p>
        </c:rich>
      </c:tx>
      <c:layout/>
      <c:overlay val="0"/>
    </c:title>
    <c:autoTitleDeleted val="0"/>
    <c:plotArea>
      <c:layout/>
      <c:barChart>
        <c:barDir val="bar"/>
        <c:grouping val="clustered"/>
        <c:varyColors val="0"/>
        <c:ser>
          <c:idx val="0"/>
          <c:order val="0"/>
          <c:tx>
            <c:strRef>
              <c:f>Sheet1!$B$1</c:f>
              <c:strCache>
                <c:ptCount val="1"/>
                <c:pt idx="0">
                  <c:v>GB300 GPU-hours (millions, est.)</c:v>
                </c:pt>
              </c:strCache>
            </c:strRef>
          </c:tx>
          <c:spPr>
            <a:solidFill>
              <a:srgbClr val="2E6FD8"/>
            </a:solidFill>
            <a:effectLst/>
          </c:spPr>
          <c:invertIfNegative val="0"/>
          <c:dLbls>
            <c:numFmt formatCode="0.0&quot;M&quot;" sourceLinked="0"/>
            <c:txPr>
              <a:bodyPr/>
              <a:lstStyle/>
              <a:p>
                <a:pPr>
                  <a:defRPr b="0" i="0" strike="noStrike" sz="1000" u="none">
                    <a:solidFill>
                      <a:srgbClr val="0B1530"/>
                    </a:solidFill>
                    <a:latin typeface="+mn-lt"/>
                  </a:defRPr>
                </a:pPr>
              </a:p>
            </c:txPr>
            <c:showLegendKey val="0"/>
            <c:showVal val="1"/>
            <c:showCatName val="0"/>
            <c:showSerName val="0"/>
            <c:showPercent val="0"/>
            <c:showBubbleSize val="0"/>
            <c:showLeaderLines val="0"/>
          </c:dLbls>
          <c:cat>
            <c:multiLvlStrRef>
              <c:f>Sheet1!$A$2:$A$3</c:f>
              <c:multiLvlStrCache>
                <c:ptCount val="2"/>
                <c:lvl>
                  <c:pt idx="0">
                    <c:v>Pre-training</c:v>
                  </c:pt>
                  <c:pt idx="1">
                    <c:v>Reinforcement learning</c:v>
                  </c:pt>
                </c:lvl>
              </c:multiLvlStrCache>
            </c:multiLvlStrRef>
          </c:cat>
          <c:val>
            <c:numRef>
              <c:f>Sheet1!$B$2:$B$3</c:f>
              <c:numCache>
                <c:formatCode>General</c:formatCode>
                <c:ptCount val="2"/>
                <c:pt idx="0">
                  <c:v>2.5</c:v>
                </c:pt>
                <c:pt idx="1">
                  <c:v>7.1</c:v>
                </c:pt>
              </c:numCache>
            </c:numRef>
          </c:val>
        </c:ser>
        <c:dLbls>
          <c:numFmt formatCode="0.0&quot;M&quot;" sourceLinked="0"/>
          <c:txPr>
            <a:bodyPr/>
            <a:lstStyle/>
            <a:p>
              <a:pPr>
                <a:defRPr b="0" i="0" strike="noStrike" sz="1000" u="none">
                  <a:solidFill>
                    <a:srgbClr val="0B1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9"/>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Beam</c:v>
                </c:pt>
              </c:strCache>
            </c:strRef>
          </c:tx>
          <c:spPr>
            <a:solidFill>
              <a:srgbClr val="F2A516"/>
            </a:solidFill>
            <a:effectLst/>
          </c:spPr>
          <c:invertIfNegative val="0"/>
          <c:dLbls>
            <c:numFmt formatCode="0.0" sourceLinked="0"/>
            <c:txPr>
              <a:bodyPr/>
              <a:lstStyle/>
              <a:p>
                <a:pPr>
                  <a:defRPr b="0" i="0" strike="noStrike" sz="900" u="none">
                    <a:solidFill>
                      <a:srgbClr val="0B1530"/>
                    </a:solidFill>
                    <a:latin typeface="+mn-lt"/>
                  </a:defRPr>
                </a:pPr>
              </a:p>
            </c:txPr>
            <c:showLegendKey val="0"/>
            <c:showVal val="1"/>
            <c:showCatName val="0"/>
            <c:showSerName val="0"/>
            <c:showPercent val="0"/>
            <c:showBubbleSize val="0"/>
            <c:showLeaderLines val="0"/>
          </c:dLbls>
          <c:cat>
            <c:multiLvlStrRef>
              <c:f>Sheet1!$A$2:$A$4</c:f>
              <c:multiLvlStrCache>
                <c:ptCount val="3"/>
                <c:lvl>
                  <c:pt idx="0">
                    <c:v>Terminal-Bench 2.1</c:v>
                  </c:pt>
                  <c:pt idx="1">
                    <c:v>GPQA Diamond</c:v>
                  </c:pt>
                  <c:pt idx="2">
                    <c:v>HLE (no tools)</c:v>
                  </c:pt>
                </c:lvl>
              </c:multiLvlStrCache>
            </c:multiLvlStrRef>
          </c:cat>
          <c:val>
            <c:numRef>
              <c:f>Sheet1!$B$2:$B$4</c:f>
              <c:numCache>
                <c:formatCode>General</c:formatCode>
                <c:ptCount val="3"/>
                <c:pt idx="0">
                  <c:v>80.1</c:v>
                </c:pt>
                <c:pt idx="1">
                  <c:v>90.5</c:v>
                </c:pt>
                <c:pt idx="2">
                  <c:v>36.2</c:v>
                </c:pt>
              </c:numCache>
            </c:numRef>
          </c:val>
        </c:ser>
        <c:ser>
          <c:idx val="1"/>
          <c:order val="1"/>
          <c:tx>
            <c:strRef>
              <c:f>Sheet1!$C$1</c:f>
              <c:strCache>
                <c:ptCount val="1"/>
                <c:pt idx="0">
                  <c:v>GLM 5.2</c:v>
                </c:pt>
              </c:strCache>
            </c:strRef>
          </c:tx>
          <c:spPr>
            <a:solidFill>
              <a:srgbClr val="8A93A6"/>
            </a:solidFill>
            <a:effectLst/>
          </c:spPr>
          <c:invertIfNegative val="0"/>
          <c:dLbls>
            <c:numFmt formatCode="0.0" sourceLinked="0"/>
            <c:txPr>
              <a:bodyPr/>
              <a:lstStyle/>
              <a:p>
                <a:pPr>
                  <a:defRPr b="0" i="0" strike="noStrike" sz="900" u="none">
                    <a:solidFill>
                      <a:srgbClr val="0B1530"/>
                    </a:solidFill>
                    <a:latin typeface="+mn-lt"/>
                  </a:defRPr>
                </a:pPr>
              </a:p>
            </c:txPr>
            <c:showLegendKey val="0"/>
            <c:showVal val="1"/>
            <c:showCatName val="0"/>
            <c:showSerName val="0"/>
            <c:showPercent val="0"/>
            <c:showBubbleSize val="0"/>
            <c:showLeaderLines val="0"/>
          </c:dLbls>
          <c:cat>
            <c:multiLvlStrRef>
              <c:f>Sheet1!$A$2:$A$4</c:f>
              <c:multiLvlStrCache>
                <c:ptCount val="3"/>
                <c:lvl>
                  <c:pt idx="0">
                    <c:v>Terminal-Bench 2.1</c:v>
                  </c:pt>
                  <c:pt idx="1">
                    <c:v>GPQA Diamond</c:v>
                  </c:pt>
                  <c:pt idx="2">
                    <c:v>HLE (no tools)</c:v>
                  </c:pt>
                </c:lvl>
              </c:multiLvlStrCache>
            </c:multiLvlStrRef>
          </c:cat>
          <c:val>
            <c:numRef>
              <c:f>Sheet1!$C$2:$C$4</c:f>
              <c:numCache>
                <c:formatCode>General</c:formatCode>
                <c:ptCount val="3"/>
                <c:pt idx="0">
                  <c:v>81</c:v>
                </c:pt>
                <c:pt idx="1">
                  <c:v>91.2</c:v>
                </c:pt>
                <c:pt idx="2">
                  <c:v>40.5</c:v>
                </c:pt>
              </c:numCache>
            </c:numRef>
          </c:val>
        </c:ser>
        <c:ser>
          <c:idx val="2"/>
          <c:order val="2"/>
          <c:tx>
            <c:strRef>
              <c:f>Sheet1!$D$1</c:f>
              <c:strCache>
                <c:ptCount val="1"/>
                <c:pt idx="0">
                  <c:v>Qwen 3.8 Max</c:v>
                </c:pt>
              </c:strCache>
            </c:strRef>
          </c:tx>
          <c:spPr>
            <a:solidFill>
              <a:srgbClr val="B7BECC"/>
            </a:solidFill>
            <a:effectLst/>
          </c:spPr>
          <c:invertIfNegative val="0"/>
          <c:dLbls>
            <c:numFmt formatCode="0.0" sourceLinked="0"/>
            <c:txPr>
              <a:bodyPr/>
              <a:lstStyle/>
              <a:p>
                <a:pPr>
                  <a:defRPr b="0" i="0" strike="noStrike" sz="900" u="none">
                    <a:solidFill>
                      <a:srgbClr val="0B1530"/>
                    </a:solidFill>
                    <a:latin typeface="+mn-lt"/>
                  </a:defRPr>
                </a:pPr>
              </a:p>
            </c:txPr>
            <c:showLegendKey val="0"/>
            <c:showVal val="1"/>
            <c:showCatName val="0"/>
            <c:showSerName val="0"/>
            <c:showPercent val="0"/>
            <c:showBubbleSize val="0"/>
            <c:showLeaderLines val="0"/>
          </c:dLbls>
          <c:cat>
            <c:multiLvlStrRef>
              <c:f>Sheet1!$A$2:$A$4</c:f>
              <c:multiLvlStrCache>
                <c:ptCount val="3"/>
                <c:lvl>
                  <c:pt idx="0">
                    <c:v>Terminal-Bench 2.1</c:v>
                  </c:pt>
                  <c:pt idx="1">
                    <c:v>GPQA Diamond</c:v>
                  </c:pt>
                  <c:pt idx="2">
                    <c:v>HLE (no tools)</c:v>
                  </c:pt>
                </c:lvl>
              </c:multiLvlStrCache>
            </c:multiLvlStrRef>
          </c:cat>
          <c:val>
            <c:numRef>
              <c:f>Sheet1!$D$2:$D$4</c:f>
              <c:numCache>
                <c:formatCode>General</c:formatCode>
                <c:ptCount val="3"/>
                <c:pt idx="0">
                  <c:v>86.6</c:v>
                </c:pt>
                <c:pt idx="1">
                  <c:v>92.6</c:v>
                </c:pt>
                <c:pt idx="2">
                  <c:v>43.6</c:v>
                </c:pt>
              </c:numCache>
            </c:numRef>
          </c:val>
        </c:ser>
        <c:ser>
          <c:idx val="3"/>
          <c:order val="3"/>
          <c:tx>
            <c:strRef>
              <c:f>Sheet1!$E$1</c:f>
              <c:strCache>
                <c:ptCount val="1"/>
                <c:pt idx="0">
                  <c:v>Kimi K3</c:v>
                </c:pt>
              </c:strCache>
            </c:strRef>
          </c:tx>
          <c:spPr>
            <a:solidFill>
              <a:srgbClr val="13254F"/>
            </a:solidFill>
            <a:effectLst/>
          </c:spPr>
          <c:invertIfNegative val="0"/>
          <c:dLbls>
            <c:numFmt formatCode="0.0" sourceLinked="0"/>
            <c:txPr>
              <a:bodyPr/>
              <a:lstStyle/>
              <a:p>
                <a:pPr>
                  <a:defRPr b="0" i="0" strike="noStrike" sz="900" u="none">
                    <a:solidFill>
                      <a:srgbClr val="0B1530"/>
                    </a:solidFill>
                    <a:latin typeface="+mn-lt"/>
                  </a:defRPr>
                </a:pPr>
              </a:p>
            </c:txPr>
            <c:showLegendKey val="0"/>
            <c:showVal val="1"/>
            <c:showCatName val="0"/>
            <c:showSerName val="0"/>
            <c:showPercent val="0"/>
            <c:showBubbleSize val="0"/>
            <c:showLeaderLines val="0"/>
          </c:dLbls>
          <c:cat>
            <c:multiLvlStrRef>
              <c:f>Sheet1!$A$2:$A$4</c:f>
              <c:multiLvlStrCache>
                <c:ptCount val="3"/>
                <c:lvl>
                  <c:pt idx="0">
                    <c:v>Terminal-Bench 2.1</c:v>
                  </c:pt>
                  <c:pt idx="1">
                    <c:v>GPQA Diamond</c:v>
                  </c:pt>
                  <c:pt idx="2">
                    <c:v>HLE (no tools)</c:v>
                  </c:pt>
                </c:lvl>
              </c:multiLvlStrCache>
            </c:multiLvlStrRef>
          </c:cat>
          <c:val>
            <c:numRef>
              <c:f>Sheet1!$E$2:$E$4</c:f>
              <c:numCache>
                <c:formatCode>General</c:formatCode>
                <c:ptCount val="3"/>
                <c:pt idx="0">
                  <c:v>88.3</c:v>
                </c:pt>
                <c:pt idx="1">
                  <c:v>93.5</c:v>
                </c:pt>
                <c:pt idx="2">
                  <c:v>46.9</c:v>
                </c:pt>
              </c:numCache>
            </c:numRef>
          </c:val>
        </c:ser>
        <c:dLbls>
          <c:numFmt formatCode="0.0" sourceLinked="0"/>
          <c:txPr>
            <a:bodyPr/>
            <a:lstStyle/>
            <a:p>
              <a:pPr>
                <a:defRPr b="0" i="0" strike="noStrike" sz="900" u="none">
                  <a:solidFill>
                    <a:srgbClr val="0B153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Closed</c:v>
                </c:pt>
              </c:strCache>
            </c:strRef>
          </c:tx>
          <c:spPr>
            <a:solidFill>
              <a:srgbClr val="13254F"/>
            </a:solidFill>
            <a:effectLst/>
          </c:spPr>
          <c:invertIfNegative val="0"/>
          <c:dLbls>
            <c:numFmt formatCode="#;;"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Sheet1!$A$2:$A$13</c:f>
              <c:multiLvlStrCache>
                <c:ptCount val="12"/>
                <c:lvl>
                  <c:pt idx="0">
                    <c:v>Nemotron 3.5 Super</c:v>
                  </c:pt>
                  <c:pt idx="1">
                    <c:v>Beam 1.0</c:v>
                  </c:pt>
                  <c:pt idx="2">
                    <c:v>Kimi K3</c:v>
                  </c:pt>
                  <c:pt idx="3">
                    <c:v>DeepSeek V4.1 Flash</c:v>
                  </c:pt>
                  <c:pt idx="4">
                    <c:v>GLM-5.3 Max</c:v>
                  </c:pt>
                  <c:pt idx="5">
                    <c:v>MiMo-V2.6-Pro</c:v>
                  </c:pt>
                  <c:pt idx="6">
                    <c:v>Grok 4.7</c:v>
                  </c:pt>
                  <c:pt idx="7">
                    <c:v>Gemini 4 Argon</c:v>
                  </c:pt>
                  <c:pt idx="8">
                    <c:v>Claude Fable 5.1</c:v>
                  </c:pt>
                  <c:pt idx="9">
                    <c:v>GPT-6 Astra</c:v>
                  </c:pt>
                  <c:pt idx="10">
                    <c:v>Claude Sonnet 5.5</c:v>
                  </c:pt>
                  <c:pt idx="11">
                    <c:v>Claude Opus 5.5</c:v>
                  </c:pt>
                </c:lvl>
              </c:multiLvlStrCache>
            </c:multiLvlStrRef>
          </c:cat>
          <c:val>
            <c:numRef>
              <c:f>Sheet1!$B$2:$B$13</c:f>
              <c:numCache>
                <c:formatCode>General</c:formatCode>
                <c:ptCount val="12"/>
                <c:pt idx="0">
                  <c:v>0</c:v>
                </c:pt>
                <c:pt idx="1">
                  <c:v>0</c:v>
                </c:pt>
                <c:pt idx="2">
                  <c:v>0</c:v>
                </c:pt>
                <c:pt idx="3">
                  <c:v>0</c:v>
                </c:pt>
                <c:pt idx="4">
                  <c:v>0</c:v>
                </c:pt>
                <c:pt idx="5">
                  <c:v>0</c:v>
                </c:pt>
                <c:pt idx="6">
                  <c:v>46</c:v>
                </c:pt>
                <c:pt idx="7">
                  <c:v>52.6</c:v>
                </c:pt>
                <c:pt idx="8">
                  <c:v>53</c:v>
                </c:pt>
                <c:pt idx="9">
                  <c:v>53</c:v>
                </c:pt>
                <c:pt idx="10">
                  <c:v>56</c:v>
                </c:pt>
                <c:pt idx="11">
                  <c:v>58</c:v>
                </c:pt>
              </c:numCache>
            </c:numRef>
          </c:val>
        </c:ser>
        <c:ser>
          <c:idx val="1"/>
          <c:order val="1"/>
          <c:tx>
            <c:strRef>
              <c:f>Sheet1!$C$1</c:f>
              <c:strCache>
                <c:ptCount val="1"/>
                <c:pt idx="0">
                  <c:v>Open weights</c:v>
                </c:pt>
              </c:strCache>
            </c:strRef>
          </c:tx>
          <c:spPr>
            <a:solidFill>
              <a:srgbClr val="8A93A6"/>
            </a:solidFill>
            <a:effectLst/>
          </c:spPr>
          <c:invertIfNegative val="0"/>
          <c:dLbls>
            <c:numFmt formatCode="#;;"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Sheet1!$A$2:$A$13</c:f>
              <c:multiLvlStrCache>
                <c:ptCount val="12"/>
                <c:lvl>
                  <c:pt idx="0">
                    <c:v>Nemotron 3.5 Super</c:v>
                  </c:pt>
                  <c:pt idx="1">
                    <c:v>Beam 1.0</c:v>
                  </c:pt>
                  <c:pt idx="2">
                    <c:v>Kimi K3</c:v>
                  </c:pt>
                  <c:pt idx="3">
                    <c:v>DeepSeek V4.1 Flash</c:v>
                  </c:pt>
                  <c:pt idx="4">
                    <c:v>GLM-5.3 Max</c:v>
                  </c:pt>
                  <c:pt idx="5">
                    <c:v>MiMo-V2.6-Pro</c:v>
                  </c:pt>
                  <c:pt idx="6">
                    <c:v>Grok 4.7</c:v>
                  </c:pt>
                  <c:pt idx="7">
                    <c:v>Gemini 4 Argon</c:v>
                  </c:pt>
                  <c:pt idx="8">
                    <c:v>Claude Fable 5.1</c:v>
                  </c:pt>
                  <c:pt idx="9">
                    <c:v>GPT-6 Astra</c:v>
                  </c:pt>
                  <c:pt idx="10">
                    <c:v>Claude Sonnet 5.5</c:v>
                  </c:pt>
                  <c:pt idx="11">
                    <c:v>Claude Opus 5.5</c:v>
                  </c:pt>
                </c:lvl>
              </c:multiLvlStrCache>
            </c:multiLvlStrRef>
          </c:cat>
          <c:val>
            <c:numRef>
              <c:f>Sheet1!$C$2:$C$13</c:f>
              <c:numCache>
                <c:formatCode>General</c:formatCode>
                <c:ptCount val="12"/>
                <c:pt idx="0">
                  <c:v>26</c:v>
                </c:pt>
                <c:pt idx="1">
                  <c:v>0</c:v>
                </c:pt>
                <c:pt idx="2">
                  <c:v>44</c:v>
                </c:pt>
                <c:pt idx="3">
                  <c:v>45</c:v>
                </c:pt>
                <c:pt idx="4">
                  <c:v>45</c:v>
                </c:pt>
                <c:pt idx="5">
                  <c:v>46</c:v>
                </c:pt>
                <c:pt idx="6">
                  <c:v>0</c:v>
                </c:pt>
                <c:pt idx="7">
                  <c:v>0</c:v>
                </c:pt>
                <c:pt idx="8">
                  <c:v>0</c:v>
                </c:pt>
                <c:pt idx="9">
                  <c:v>0</c:v>
                </c:pt>
                <c:pt idx="10">
                  <c:v>0</c:v>
                </c:pt>
                <c:pt idx="11">
                  <c:v>0</c:v>
                </c:pt>
              </c:numCache>
            </c:numRef>
          </c:val>
        </c:ser>
        <c:ser>
          <c:idx val="2"/>
          <c:order val="2"/>
          <c:tx>
            <c:strRef>
              <c:f>Sheet1!$D$1</c:f>
              <c:strCache>
                <c:ptCount val="1"/>
                <c:pt idx="0">
                  <c:v>Beam</c:v>
                </c:pt>
              </c:strCache>
            </c:strRef>
          </c:tx>
          <c:spPr>
            <a:solidFill>
              <a:srgbClr val="F2A516"/>
            </a:solidFill>
            <a:effectLst/>
          </c:spPr>
          <c:invertIfNegative val="0"/>
          <c:dLbls>
            <c:numFmt formatCode="#;;"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Sheet1!$A$2:$A$13</c:f>
              <c:multiLvlStrCache>
                <c:ptCount val="12"/>
                <c:lvl>
                  <c:pt idx="0">
                    <c:v>Nemotron 3.5 Super</c:v>
                  </c:pt>
                  <c:pt idx="1">
                    <c:v>Beam 1.0</c:v>
                  </c:pt>
                  <c:pt idx="2">
                    <c:v>Kimi K3</c:v>
                  </c:pt>
                  <c:pt idx="3">
                    <c:v>DeepSeek V4.1 Flash</c:v>
                  </c:pt>
                  <c:pt idx="4">
                    <c:v>GLM-5.3 Max</c:v>
                  </c:pt>
                  <c:pt idx="5">
                    <c:v>MiMo-V2.6-Pro</c:v>
                  </c:pt>
                  <c:pt idx="6">
                    <c:v>Grok 4.7</c:v>
                  </c:pt>
                  <c:pt idx="7">
                    <c:v>Gemini 4 Argon</c:v>
                  </c:pt>
                  <c:pt idx="8">
                    <c:v>Claude Fable 5.1</c:v>
                  </c:pt>
                  <c:pt idx="9">
                    <c:v>GPT-6 Astra</c:v>
                  </c:pt>
                  <c:pt idx="10">
                    <c:v>Claude Sonnet 5.5</c:v>
                  </c:pt>
                  <c:pt idx="11">
                    <c:v>Claude Opus 5.5</c:v>
                  </c:pt>
                </c:lvl>
              </c:multiLvlStrCache>
            </c:multiLvlStrRef>
          </c:cat>
          <c:val>
            <c:numRef>
              <c:f>Sheet1!$D$2:$D$13</c:f>
              <c:numCache>
                <c:formatCode>General</c:formatCode>
                <c:ptCount val="12"/>
                <c:pt idx="0">
                  <c:v>0</c:v>
                </c:pt>
                <c:pt idx="1">
                  <c:v>30</c:v>
                </c:pt>
                <c:pt idx="2">
                  <c:v>0</c:v>
                </c:pt>
                <c:pt idx="3">
                  <c:v>0</c:v>
                </c:pt>
                <c:pt idx="4">
                  <c:v>0</c:v>
                </c:pt>
                <c:pt idx="5">
                  <c:v>0</c:v>
                </c:pt>
                <c:pt idx="6">
                  <c:v>0</c:v>
                </c:pt>
                <c:pt idx="7">
                  <c:v>0</c:v>
                </c:pt>
                <c:pt idx="8">
                  <c:v>0</c:v>
                </c:pt>
                <c:pt idx="9">
                  <c:v>0</c:v>
                </c:pt>
                <c:pt idx="10">
                  <c:v>0</c:v>
                </c:pt>
                <c:pt idx="11">
                  <c:v>0</c:v>
                </c:pt>
              </c:numCache>
            </c:numRef>
          </c:val>
        </c:ser>
        <c:dLbls>
          <c:numFmt formatCode="#;;" sourceLinked="0"/>
          <c:txPr>
            <a:bodyPr/>
            <a:lstStyle/>
            <a:p>
              <a:pPr>
                <a:defRPr b="0" i="0" strike="noStrike" sz="1000" u="none">
                  <a:solidFill>
                    <a:srgbClr val="FFFFFF"/>
                  </a:solidFill>
                  <a:latin typeface="+mn-lt"/>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6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Share of enterprise LLM API spend (%)</c:v>
                </c:pt>
              </c:strCache>
            </c:strRef>
          </c:tx>
          <c:spPr>
            <a:solidFill>
              <a:srgbClr val="2E6FD8"/>
            </a:solidFill>
            <a:effectLst/>
          </c:spPr>
          <c:invertIfNegative val="0"/>
          <c:dLbls>
            <c:numFmt formatCode="0&quot;%&quot;" sourceLinked="0"/>
            <c:txPr>
              <a:bodyPr/>
              <a:lstStyle/>
              <a:p>
                <a:pPr>
                  <a:defRPr b="0" i="0" strike="noStrike" sz="1000" u="none">
                    <a:solidFill>
                      <a:srgbClr val="0B1530"/>
                    </a:solidFill>
                    <a:latin typeface="+mn-lt"/>
                  </a:defRPr>
                </a:pPr>
              </a:p>
            </c:txPr>
            <c:showLegendKey val="0"/>
            <c:showVal val="1"/>
            <c:showCatName val="0"/>
            <c:showSerName val="0"/>
            <c:showPercent val="0"/>
            <c:showBubbleSize val="0"/>
            <c:showLeaderLines val="0"/>
          </c:dLbls>
          <c:cat>
            <c:multiLvlStrRef>
              <c:f>Sheet1!$A$2:$A$5</c:f>
              <c:multiLvlStrCache>
                <c:ptCount val="4"/>
                <c:lvl>
                  <c:pt idx="0">
                    <c:v>Anthropic</c:v>
                  </c:pt>
                  <c:pt idx="1">
                    <c:v>OpenAI</c:v>
                  </c:pt>
                  <c:pt idx="2">
                    <c:v>Google &amp; other closed</c:v>
                  </c:pt>
                  <c:pt idx="3">
                    <c:v>Open-weight models</c:v>
                  </c:pt>
                </c:lvl>
              </c:multiLvlStrCache>
            </c:multiLvlStrRef>
          </c:cat>
          <c:val>
            <c:numRef>
              <c:f>Sheet1!$B$2:$B$5</c:f>
              <c:numCache>
                <c:formatCode>General</c:formatCode>
                <c:ptCount val="4"/>
                <c:pt idx="0">
                  <c:v>40</c:v>
                </c:pt>
                <c:pt idx="1">
                  <c:v>27</c:v>
                </c:pt>
                <c:pt idx="2">
                  <c:v>22</c:v>
                </c:pt>
                <c:pt idx="3">
                  <c:v>11</c:v>
                </c:pt>
              </c:numCache>
            </c:numRef>
          </c:val>
        </c:ser>
        <c:dLbls>
          <c:numFmt formatCode="0&quot;%&quot;" sourceLinked="0"/>
          <c:txPr>
            <a:bodyPr/>
            <a:lstStyle/>
            <a:p>
              <a:pPr>
                <a:defRPr b="0" i="0" strike="noStrike" sz="1000" u="none">
                  <a:solidFill>
                    <a:srgbClr val="0B15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max val="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Compute</c:v>
                </c:pt>
              </c:strCache>
            </c:strRef>
          </c:tx>
          <c:spPr>
            <a:solidFill>
              <a:srgbClr val="13254F"/>
            </a:solidFill>
            <a:effectLst/>
          </c:spPr>
          <c:invertIfNegative val="0"/>
          <c:dLbls>
            <c:numFmt formatCode="#,##0" sourceLinked="0"/>
            <c:txPr>
              <a:bodyPr/>
              <a:lstStyle/>
              <a:p>
                <a:pPr>
                  <a:defRPr b="0" i="0" strike="noStrike" sz="900" u="none">
                    <a:solidFill>
                      <a:srgbClr val="FFFFFF"/>
                    </a:solidFill>
                    <a:latin typeface="+mn-lt"/>
                  </a:defRPr>
                </a:pPr>
              </a:p>
            </c:txPr>
            <c:showLegendKey val="0"/>
            <c:showVal val="0"/>
            <c:showCatName val="0"/>
            <c:showSerName val="0"/>
            <c:showPercent val="0"/>
            <c:showBubbleSize val="0"/>
            <c:showLeaderLines val="0"/>
          </c:dLbls>
          <c:cat>
            <c:multiLvlStrRef>
              <c:f>Sheet1!$A$2:$A$4</c:f>
              <c:multiLvlStrCache>
                <c:ptCount val="3"/>
                <c:lvl>
                  <c:pt idx="0">
                    <c:v>A. Adapt Beam</c:v>
                  </c:pt>
                  <c:pt idx="1">
                    <c:v>B. Continue pre-training</c:v>
                  </c:pt>
                  <c:pt idx="2">
                    <c:v>C. Build from scratch</c:v>
                  </c:pt>
                </c:lvl>
              </c:multiLvlStrCache>
            </c:multiLvlStrRef>
          </c:cat>
          <c:val>
            <c:numRef>
              <c:f>Sheet1!$B$2:$B$4</c:f>
              <c:numCache>
                <c:formatCode>General</c:formatCode>
                <c:ptCount val="3"/>
                <c:pt idx="0">
                  <c:v>3</c:v>
                </c:pt>
                <c:pt idx="1">
                  <c:v>18</c:v>
                </c:pt>
                <c:pt idx="2">
                  <c:v>55</c:v>
                </c:pt>
              </c:numCache>
            </c:numRef>
          </c:val>
        </c:ser>
        <c:ser>
          <c:idx val="1"/>
          <c:order val="1"/>
          <c:tx>
            <c:strRef>
              <c:f>Sheet1!$C$1</c:f>
              <c:strCache>
                <c:ptCount val="1"/>
                <c:pt idx="0">
                  <c:v>People (2 yrs)</c:v>
                </c:pt>
              </c:strCache>
            </c:strRef>
          </c:tx>
          <c:spPr>
            <a:solidFill>
              <a:srgbClr val="2E6FD8"/>
            </a:solidFill>
            <a:effectLst/>
          </c:spPr>
          <c:invertIfNegative val="0"/>
          <c:dLbls>
            <c:numFmt formatCode="#,##0" sourceLinked="0"/>
            <c:txPr>
              <a:bodyPr/>
              <a:lstStyle/>
              <a:p>
                <a:pPr>
                  <a:defRPr b="0" i="0" strike="noStrike" sz="900" u="none">
                    <a:solidFill>
                      <a:srgbClr val="FFFFFF"/>
                    </a:solidFill>
                    <a:latin typeface="+mn-lt"/>
                  </a:defRPr>
                </a:pPr>
              </a:p>
            </c:txPr>
            <c:showLegendKey val="0"/>
            <c:showVal val="0"/>
            <c:showCatName val="0"/>
            <c:showSerName val="0"/>
            <c:showPercent val="0"/>
            <c:showBubbleSize val="0"/>
            <c:showLeaderLines val="0"/>
          </c:dLbls>
          <c:cat>
            <c:multiLvlStrRef>
              <c:f>Sheet1!$A$2:$A$4</c:f>
              <c:multiLvlStrCache>
                <c:ptCount val="3"/>
                <c:lvl>
                  <c:pt idx="0">
                    <c:v>A. Adapt Beam</c:v>
                  </c:pt>
                  <c:pt idx="1">
                    <c:v>B. Continue pre-training</c:v>
                  </c:pt>
                  <c:pt idx="2">
                    <c:v>C. Build from scratch</c:v>
                  </c:pt>
                </c:lvl>
              </c:multiLvlStrCache>
            </c:multiLvlStrRef>
          </c:cat>
          <c:val>
            <c:numRef>
              <c:f>Sheet1!$C$2:$C$4</c:f>
              <c:numCache>
                <c:formatCode>General</c:formatCode>
                <c:ptCount val="3"/>
                <c:pt idx="0">
                  <c:v>6</c:v>
                </c:pt>
                <c:pt idx="1">
                  <c:v>25</c:v>
                </c:pt>
                <c:pt idx="2">
                  <c:v>80</c:v>
                </c:pt>
              </c:numCache>
            </c:numRef>
          </c:val>
        </c:ser>
        <c:ser>
          <c:idx val="2"/>
          <c:order val="2"/>
          <c:tx>
            <c:strRef>
              <c:f>Sheet1!$D$1</c:f>
              <c:strCache>
                <c:ptCount val="1"/>
                <c:pt idx="0">
                  <c:v>Data &amp; environments</c:v>
                </c:pt>
              </c:strCache>
            </c:strRef>
          </c:tx>
          <c:spPr>
            <a:solidFill>
              <a:srgbClr val="5BB4E5"/>
            </a:solidFill>
            <a:effectLst/>
          </c:spPr>
          <c:invertIfNegative val="0"/>
          <c:dLbls>
            <c:numFmt formatCode="#,##0" sourceLinked="0"/>
            <c:txPr>
              <a:bodyPr/>
              <a:lstStyle/>
              <a:p>
                <a:pPr>
                  <a:defRPr b="0" i="0" strike="noStrike" sz="900" u="none">
                    <a:solidFill>
                      <a:srgbClr val="FFFFFF"/>
                    </a:solidFill>
                    <a:latin typeface="+mn-lt"/>
                  </a:defRPr>
                </a:pPr>
              </a:p>
            </c:txPr>
            <c:showLegendKey val="0"/>
            <c:showVal val="0"/>
            <c:showCatName val="0"/>
            <c:showSerName val="0"/>
            <c:showPercent val="0"/>
            <c:showBubbleSize val="0"/>
            <c:showLeaderLines val="0"/>
          </c:dLbls>
          <c:cat>
            <c:multiLvlStrRef>
              <c:f>Sheet1!$A$2:$A$4</c:f>
              <c:multiLvlStrCache>
                <c:ptCount val="3"/>
                <c:lvl>
                  <c:pt idx="0">
                    <c:v>A. Adapt Beam</c:v>
                  </c:pt>
                  <c:pt idx="1">
                    <c:v>B. Continue pre-training</c:v>
                  </c:pt>
                  <c:pt idx="2">
                    <c:v>C. Build from scratch</c:v>
                  </c:pt>
                </c:lvl>
              </c:multiLvlStrCache>
            </c:multiLvlStrRef>
          </c:cat>
          <c:val>
            <c:numRef>
              <c:f>Sheet1!$D$2:$D$4</c:f>
              <c:numCache>
                <c:formatCode>General</c:formatCode>
                <c:ptCount val="3"/>
                <c:pt idx="0">
                  <c:v>1</c:v>
                </c:pt>
                <c:pt idx="1">
                  <c:v>8</c:v>
                </c:pt>
                <c:pt idx="2">
                  <c:v>25</c:v>
                </c:pt>
              </c:numCache>
            </c:numRef>
          </c:val>
        </c:ser>
        <c:ser>
          <c:idx val="3"/>
          <c:order val="3"/>
          <c:tx>
            <c:strRef>
              <c:f>Sheet1!$E$1</c:f>
              <c:strCache>
                <c:ptCount val="1"/>
                <c:pt idx="0">
                  <c:v>Infra, eval, safety</c:v>
                </c:pt>
              </c:strCache>
            </c:strRef>
          </c:tx>
          <c:spPr>
            <a:solidFill>
              <a:srgbClr val="F2A516"/>
            </a:solidFill>
            <a:effectLst/>
          </c:spPr>
          <c:invertIfNegative val="0"/>
          <c:dLbls>
            <c:numFmt formatCode="#,##0" sourceLinked="0"/>
            <c:txPr>
              <a:bodyPr/>
              <a:lstStyle/>
              <a:p>
                <a:pPr>
                  <a:defRPr b="0" i="0" strike="noStrike" sz="900" u="none">
                    <a:solidFill>
                      <a:srgbClr val="FFFFFF"/>
                    </a:solidFill>
                    <a:latin typeface="+mn-lt"/>
                  </a:defRPr>
                </a:pPr>
              </a:p>
            </c:txPr>
            <c:showLegendKey val="0"/>
            <c:showVal val="0"/>
            <c:showCatName val="0"/>
            <c:showSerName val="0"/>
            <c:showPercent val="0"/>
            <c:showBubbleSize val="0"/>
            <c:showLeaderLines val="0"/>
          </c:dLbls>
          <c:cat>
            <c:multiLvlStrRef>
              <c:f>Sheet1!$A$2:$A$4</c:f>
              <c:multiLvlStrCache>
                <c:ptCount val="3"/>
                <c:lvl>
                  <c:pt idx="0">
                    <c:v>A. Adapt Beam</c:v>
                  </c:pt>
                  <c:pt idx="1">
                    <c:v>B. Continue pre-training</c:v>
                  </c:pt>
                  <c:pt idx="2">
                    <c:v>C. Build from scratch</c:v>
                  </c:pt>
                </c:lvl>
              </c:multiLvlStrCache>
            </c:multiLvlStrRef>
          </c:cat>
          <c:val>
            <c:numRef>
              <c:f>Sheet1!$E$2:$E$4</c:f>
              <c:numCache>
                <c:formatCode>General</c:formatCode>
                <c:ptCount val="3"/>
                <c:pt idx="0">
                  <c:v>1</c:v>
                </c:pt>
                <c:pt idx="1">
                  <c:v>5</c:v>
                </c:pt>
                <c:pt idx="2">
                  <c:v>15</c:v>
                </c:pt>
              </c:numCache>
            </c:numRef>
          </c:val>
        </c:ser>
        <c:dLbls>
          <c:numFmt formatCode="#,##0" sourceLinked="0"/>
          <c:txPr>
            <a:bodyPr/>
            <a:lstStyle/>
            <a:p>
              <a:pPr>
                <a:defRPr b="0" i="0" strike="noStrike" sz="900" u="none">
                  <a:solidFill>
                    <a:srgbClr val="FFFFFF"/>
                  </a:solidFill>
                  <a:latin typeface="+mn-lt"/>
                </a:defRPr>
              </a:pPr>
            </a:p>
          </c:txPr>
          <c:showLegendKey val="0"/>
          <c:showVal val="0"/>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6EC"/>
              </a:solidFill>
              <a:prstDash val="solid"/>
              <a:round/>
            </a:ln>
          </c:spPr>
        </c:majorGridlines>
        <c:title>
          <c:tx>
            <c:rich>
              <a:bodyPr/>
              <a:lstStyle/>
              <a:p>
                <a:pPr>
                  <a:defRPr sz="1000" b="0" i="0" u="none" strike="noStrike">
                    <a:solidFill>
                      <a:srgbClr val="52514E"/>
                    </a:solidFill>
                    <a:latin typeface="Arial"/>
                  </a:defRPr>
                </a:pPr>
                <a:r>
                  <a:rPr sz="1000" b="0" i="0" u="none" strike="noStrike">
                    <a:solidFill>
                      <a:srgbClr val="52514E"/>
                    </a:solidFill>
                    <a:latin typeface="Arial"/>
                  </a:rPr>
                  <a:t>US$ millions (indicative)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2514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decide whether and how to build a new open LLM comparable to Reflection AI's Beam, and how it could compete with the leading vendors. Detailed evidence is in the 37-page research baseline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numbers frame the decision. First, Beam is 28 points behind the leader on the only single-scale independent index. Second, the cost range depends mainly on whether we start from Beam's open weights. Third, enterprises are concentrating spend on closed models, so an open model must win on dimensions other than rank.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Beam is a sparse mixture-of-experts model: 501 billion parameters stored, about 23 billion used per token. It was released under Apache 2.0 with BF16, FP8 and NVFP4 checkpoints, a speculative-decoding drafter, and Mirror CLI, the agent harness it was trained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Animated build, five clicks. Click 1: each new token goes to a router. Click 2: the router chooses among 256 specialist experts, which together hold the model's 501 billion parameters. Click 3: only the top 8 experts actually run for this token, so just 23.4 billion parameters (4.7%) do any work. Click 4: compared with a dense model of the same size, each token needs about 21 times less compute. The model has the knowledge capacity of a very large model but the running cost of a small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Animated build, five clicks, one cost lever per click. 1: sparse experts give about 21 times less compute per token than a dense model of the same size. 2: most layers keep only a 512-token short-term memory (watch the window slide), so long-context memory is about 17% of a full-attention design. 3: 4-bit weights cut memory from about 1 TB to 0.28 TB, so the model fits one 8-GPU server. 4: a small drafter model speeds up generation, and Beam finishes tasks with about 40% fewer output tokens. The levers stack, but the trade-off is capability: Beam scores 30 on the independent index against 58 for the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compute is estimated at about 3.3e24 FLOPs. The RL phase ran on roughly 1.7 times as many GPUs for a similar duration. Building verifiable environments and sandbox orchestration is the longest-lead engineering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here come from Reflection's own launch table. SWE-bench Verified is 81.6 per the model card, and SWE-bench Pro v1 is 66.1, where Beam beats GLM-5.2 (62.1).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Vendor tables put Beam near GLM-5.2, but the only single-scale independent index puts it 14 to 16 points behind the best open models and 23 to 28 behind Anthropic, OpenAI and Google. Meta's closed Muse Spark 1.3 scored 61 on an earlier index version, which is not comparable and is excluded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Closed vendors compete on capability; Chinese open labs compete on price and open scores. A new US- or EU-built open model sits between them and needs a clear reason to be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Market-size estimates vary by definition; use them directionally. The consistent signal across sources is that open-weight share of enterprise spend has fallen.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segments where open weights win despite a lower aggregate score. Pick one or two as the commercial wedge; this choice should drive data, RL environments and evaluations.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Competing head-on with Anthropic, OpenAI, Google or xAI requires Level 3 resources. The realistic path to relevance is Level 1 with a clear niche, then Level 2 if the business case is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Author estimates at US$3–5 per GPU-hour and US$300–450K per fully loaded head-year. Option A gives the fastest proof of the data, RL and evaluation stack, and its weights are a permissive Apache 2.0 derivative.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gate has explicit go criteria. Stage 1 (adapt Beam) de-risks the data engine, RL environments and evaluation harness before committing to large 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risk register with likelihood and impact is in Section 20 of the research baseline. Also mirror Beam 1.0 weights now: the Apache 2.0 grant is irrevocable for the released version, whatever happens to Reflection's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 requested: approve Stage 1 budget (about US$11M over 3–6 months) and the choice of wedge market. Revisit the larger investment at Gate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diagram from the research baseline (Figure 1): 52 layers (3 dense + 49 mixture-of-experts), 256 experts with top-8 routing, gated attention with a 512-token sliding window, and full-context attention in only 9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citations with links are in Section 24 of Beam_Research_Baseline.docx.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51760"/>
            <a:ext cx="7498080" cy="10058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chemeClr val="accent4"/>
                </a:solidFill>
              </a:rPr>
              <a:t>Building a Beam-Class LLM · Executive summary · October 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rtlCol="0"/>
          <a:lstStyle>
            <a:lvl1pPr indent="0" marL="0">
              <a:buNone/>
              <a:defRPr lang="en-US" sz="2800" b="1" dirty="0">
                <a:solidFill>
                  <a:schemeClr val="bg1"/>
                </a:solidFill>
              </a:defRPr>
            </a:lvl1pPr>
          </a:lstStyle>
          <a:p>
            <a:pPr indent="0" marL="0">
              <a:buNone/>
            </a:pPr>
            <a:endParaRPr lang="en-US" sz="2800" dirty="0"/>
          </a:p>
        </p:txBody>
      </p:sp>
      <p:sp>
        <p:nvSpPr>
          <p:cNvPr id="3" name="Text 0"/>
          <p:cNvSpPr/>
          <p:nvPr/>
        </p:nvSpPr>
        <p:spPr>
          <a:xfrm>
            <a:off x="457200" y="4800600"/>
            <a:ext cx="6858000" cy="228600"/>
          </a:xfrm>
          <a:prstGeom prst="rect">
            <a:avLst/>
          </a:prstGeom>
          <a:noFill/>
          <a:ln/>
        </p:spPr>
        <p:txBody>
          <a:bodyPr wrap="square" lIns="0" tIns="0" rIns="0" bIns="0" rtlCol="0" anchor="ctr"/>
          <a:lstStyle/>
          <a:p>
            <a:pPr indent="0" marL="0">
              <a:buNone/>
            </a:pPr>
            <a:r>
              <a:rPr lang="en-US" sz="900" dirty="0">
                <a:solidFill>
                  <a:schemeClr val="accent3"/>
                </a:solidFill>
              </a:rPr>
              <a:t>Building a Beam-Class LLM · Executive summary · October 2026</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3.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rPr>
              <a:t>Building a Beam-Class LLM</a:t>
            </a:r>
            <a:endParaRPr lang="en-US" sz="4000" dirty="0"/>
          </a:p>
        </p:txBody>
      </p:sp>
      <p:sp>
        <p:nvSpPr>
          <p:cNvPr id="3" name="Text 0"/>
          <p:cNvSpPr/>
          <p:nvPr>
            <p:ph idx="101" type="body" hasCustomPrompt="1"/>
          </p:nvPr>
        </p:nvSpPr>
        <p:spPr>
          <a:xfrm>
            <a:off x="548640" y="2651760"/>
            <a:ext cx="7498080" cy="1005840"/>
          </a:xfrm>
          <a:prstGeom prst="rect">
            <a:avLst/>
          </a:prstGeom>
          <a:noFill/>
          <a:ln/>
        </p:spPr>
        <p:txBody>
          <a:bodyPr wrap="square" lIns="0" tIns="0" rIns="0" bIns="0" rtlCol="0" anchor="t"/>
          <a:lstStyle/>
          <a:p>
            <a:pPr indent="0" marL="0">
              <a:buNone/>
            </a:pPr>
            <a:r>
              <a:rPr lang="en-US" sz="1800" dirty="0">
                <a:solidFill>
                  <a:schemeClr val="bg2"/>
                </a:solidFill>
              </a:rPr>
              <a:t>The opportunity to develop a new open model that competes with Anthropic, OpenAI, Google, xAI and Meta</a:t>
            </a:r>
            <a:endParaRPr lang="en-US" sz="1800" dirty="0"/>
          </a:p>
        </p:txBody>
      </p:sp>
      <p:sp>
        <p:nvSpPr>
          <p:cNvPr id="4" name="Text 2"/>
          <p:cNvSpPr txBox="1"/>
          <p:nvPr/>
        </p:nvSpPr>
        <p:spPr>
          <a:xfrm>
            <a:off x="548640" y="4297680"/>
            <a:ext cx="7772400" cy="274320"/>
          </a:xfrm>
          <a:prstGeom prst="rect">
            <a:avLst/>
          </a:prstGeom>
          <a:noFill/>
          <a:ln/>
        </p:spPr>
        <p:txBody>
          <a:bodyPr wrap="square" lIns="0" tIns="0" rIns="0" bIns="0" rtlCol="0" anchor="t"/>
          <a:lstStyle/>
          <a:p>
            <a:pPr indent="0" marL="0">
              <a:buNone/>
            </a:pPr>
            <a:r>
              <a:rPr lang="en-US" sz="1200" dirty="0">
                <a:solidFill>
                  <a:schemeClr val="accent3"/>
                </a:solidFill>
              </a:rPr>
              <a:t>Executive summary · 19 October 2026 · Companion to the Research Baseline v2.0</a:t>
            </a:r>
            <a:endParaRPr lang="en-US" sz="1200" dirty="0"/>
          </a:p>
        </p:txBody>
      </p:sp>
      <p:sp>
        <p:nvSpPr>
          <p:cNvPr id="5" name="beam motif"/>
          <p:cNvSpPr/>
          <p:nvPr/>
        </p:nvSpPr>
        <p:spPr>
          <a:xfrm>
            <a:off x="7406640" y="457200"/>
            <a:ext cx="1188720" cy="1188720"/>
          </a:xfrm>
          <a:prstGeom prst="ellipse">
            <a:avLst/>
          </a:prstGeom>
          <a:solidFill>
            <a:schemeClr val="accent1"/>
          </a:solidFill>
          <a:ln w="12700">
            <a:solidFill>
              <a:schemeClr val="accent1"/>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bg1"/>
                </a:solidFill>
              </a:rPr>
              <a:t>The answer up front</a:t>
            </a:r>
            <a:endParaRPr lang="en-US" sz="2800" dirty="0"/>
          </a:p>
        </p:txBody>
      </p:sp>
      <p:sp>
        <p:nvSpPr>
          <p:cNvPr id="3" name="Text 1"/>
          <p:cNvSpPr txBox="1"/>
          <p:nvPr/>
        </p:nvSpPr>
        <p:spPr>
          <a:xfrm>
            <a:off x="457200" y="1143000"/>
            <a:ext cx="2606040" cy="82296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30 vs 58</a:t>
            </a:r>
            <a:endParaRPr lang="en-US" sz="4000" dirty="0"/>
          </a:p>
        </p:txBody>
      </p:sp>
      <p:sp>
        <p:nvSpPr>
          <p:cNvPr id="4" name="Text 2"/>
          <p:cNvSpPr txBox="1"/>
          <p:nvPr/>
        </p:nvSpPr>
        <p:spPr>
          <a:xfrm>
            <a:off x="457200" y="2057400"/>
            <a:ext cx="2514600" cy="914400"/>
          </a:xfrm>
          <a:prstGeom prst="rect">
            <a:avLst/>
          </a:prstGeom>
          <a:noFill/>
          <a:ln/>
        </p:spPr>
        <p:txBody>
          <a:bodyPr wrap="square" lIns="0" tIns="0" rIns="0" bIns="0" rtlCol="0" anchor="t"/>
          <a:lstStyle/>
          <a:p>
            <a:pPr indent="0" marL="0">
              <a:buNone/>
            </a:pPr>
            <a:r>
              <a:rPr lang="en-US" sz="1400" dirty="0">
                <a:solidFill>
                  <a:schemeClr val="bg1"/>
                </a:solidFill>
              </a:rPr>
              <a:t>Beam vs. Claude Opus 5.5 on the independent Artificial Analysis Intelligence Index</a:t>
            </a:r>
            <a:endParaRPr lang="en-US" sz="1400" dirty="0"/>
          </a:p>
        </p:txBody>
      </p:sp>
      <p:sp>
        <p:nvSpPr>
          <p:cNvPr id="5" name="Text 3"/>
          <p:cNvSpPr txBox="1"/>
          <p:nvPr/>
        </p:nvSpPr>
        <p:spPr>
          <a:xfrm>
            <a:off x="3273552" y="1143000"/>
            <a:ext cx="2606040" cy="82296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$11–175M</a:t>
            </a:r>
            <a:endParaRPr lang="en-US" sz="4000" dirty="0"/>
          </a:p>
        </p:txBody>
      </p:sp>
      <p:sp>
        <p:nvSpPr>
          <p:cNvPr id="6" name="Text 4"/>
          <p:cNvSpPr txBox="1"/>
          <p:nvPr/>
        </p:nvSpPr>
        <p:spPr>
          <a:xfrm>
            <a:off x="3273552" y="2057400"/>
            <a:ext cx="2514600" cy="914400"/>
          </a:xfrm>
          <a:prstGeom prst="rect">
            <a:avLst/>
          </a:prstGeom>
          <a:noFill/>
          <a:ln/>
        </p:spPr>
        <p:txBody>
          <a:bodyPr wrap="square" lIns="0" tIns="0" rIns="0" bIns="0" rtlCol="0" anchor="t"/>
          <a:lstStyle/>
          <a:p>
            <a:pPr indent="0" marL="0">
              <a:buNone/>
            </a:pPr>
            <a:r>
              <a:rPr lang="en-US" sz="1400" dirty="0">
                <a:solidFill>
                  <a:schemeClr val="bg1"/>
                </a:solidFill>
              </a:rPr>
              <a:t>Indicative 2-year cost to field a Beam-class model: adapt Beam vs. build from scratch</a:t>
            </a:r>
            <a:endParaRPr lang="en-US" sz="1400" dirty="0"/>
          </a:p>
        </p:txBody>
      </p:sp>
      <p:sp>
        <p:nvSpPr>
          <p:cNvPr id="7" name="Text 5"/>
          <p:cNvSpPr txBox="1"/>
          <p:nvPr/>
        </p:nvSpPr>
        <p:spPr>
          <a:xfrm>
            <a:off x="6089904" y="1143000"/>
            <a:ext cx="2606040" cy="822960"/>
          </a:xfrm>
          <a:prstGeom prst="rect">
            <a:avLst/>
          </a:prstGeom>
          <a:noFill/>
          <a:ln/>
        </p:spPr>
        <p:txBody>
          <a:bodyPr wrap="square" lIns="0" tIns="0" rIns="0" bIns="0" rtlCol="0" anchor="b"/>
          <a:lstStyle/>
          <a:p>
            <a:pPr indent="0" marL="0">
              <a:buNone/>
            </a:pPr>
            <a:r>
              <a:rPr lang="en-US" sz="4000" b="1" dirty="0">
                <a:solidFill>
                  <a:schemeClr val="accent1"/>
                </a:solidFill>
                <a:latin typeface="Arial" pitchFamily="34" charset="0"/>
                <a:ea typeface="Arial" pitchFamily="34" charset="-122"/>
                <a:cs typeface="Arial" pitchFamily="34" charset="-120"/>
              </a:rPr>
              <a:t>11%</a:t>
            </a:r>
            <a:endParaRPr lang="en-US" sz="4000" dirty="0"/>
          </a:p>
        </p:txBody>
      </p:sp>
      <p:sp>
        <p:nvSpPr>
          <p:cNvPr id="8" name="Text 6"/>
          <p:cNvSpPr txBox="1"/>
          <p:nvPr/>
        </p:nvSpPr>
        <p:spPr>
          <a:xfrm>
            <a:off x="6089904" y="2057400"/>
            <a:ext cx="2514600" cy="914400"/>
          </a:xfrm>
          <a:prstGeom prst="rect">
            <a:avLst/>
          </a:prstGeom>
          <a:noFill/>
          <a:ln/>
        </p:spPr>
        <p:txBody>
          <a:bodyPr wrap="square" lIns="0" tIns="0" rIns="0" bIns="0" rtlCol="0" anchor="t"/>
          <a:lstStyle/>
          <a:p>
            <a:pPr indent="0" marL="0">
              <a:buNone/>
            </a:pPr>
            <a:r>
              <a:rPr lang="en-US" sz="1400" dirty="0">
                <a:solidFill>
                  <a:schemeClr val="bg1"/>
                </a:solidFill>
              </a:rPr>
              <a:t>Open-weight share of enterprise LLM API spend, down from 19% a year earlier</a:t>
            </a:r>
            <a:endParaRPr lang="en-US" sz="1400" dirty="0"/>
          </a:p>
        </p:txBody>
      </p:sp>
      <p:sp>
        <p:nvSpPr>
          <p:cNvPr id="9" name="verdict card"/>
          <p:cNvSpPr/>
          <p:nvPr/>
        </p:nvSpPr>
        <p:spPr>
          <a:xfrm>
            <a:off x="457200" y="3291840"/>
            <a:ext cx="8229600" cy="1234440"/>
          </a:xfrm>
          <a:prstGeom prst="roundRect">
            <a:avLst>
              <a:gd name="adj" fmla="val 5926"/>
            </a:avLst>
          </a:prstGeom>
          <a:solidFill>
            <a:schemeClr val="tx1"/>
          </a:solidFill>
          <a:ln w="12700">
            <a:solidFill>
              <a:schemeClr val="tx1"/>
            </a:solidFill>
            <a:prstDash val="solid"/>
          </a:ln>
        </p:spPr>
      </p:sp>
      <p:sp>
        <p:nvSpPr>
          <p:cNvPr id="10" name="Text 8"/>
          <p:cNvSpPr txBox="1"/>
          <p:nvPr/>
        </p:nvSpPr>
        <p:spPr>
          <a:xfrm>
            <a:off x="685800" y="3429000"/>
            <a:ext cx="7772400" cy="1005840"/>
          </a:xfrm>
          <a:prstGeom prst="rect">
            <a:avLst/>
          </a:prstGeom>
          <a:noFill/>
          <a:ln/>
        </p:spPr>
        <p:txBody>
          <a:bodyPr wrap="square" lIns="0" tIns="0" rIns="0" bIns="0" rtlCol="0" anchor="ctr"/>
          <a:lstStyle/>
          <a:p>
            <a:pPr indent="0" marL="0">
              <a:buNone/>
            </a:pPr>
            <a:r>
              <a:rPr lang="en-US" sz="1500" b="1" dirty="0">
                <a:solidFill>
                  <a:schemeClr val="accent1"/>
                </a:solidFill>
              </a:rPr>
              <a:t>Verdict: </a:t>
            </a:r>
            <a:pPr indent="0" marL="0">
              <a:buNone/>
            </a:pPr>
            <a:r>
              <a:rPr lang="en-US" sz="1500" dirty="0">
                <a:solidFill>
                  <a:schemeClr val="bg1"/>
                </a:solidFill>
              </a:rPr>
              <a:t>a Beam-class model is buildable and affordable — but it will not beat Anthropic, OpenAI, Google or xAI on general capability. Win where closed models cannot follow: sovereignty, on-prem control, domain specialisation and cost. Start by adapting Beam’s Apache 2.0 weights; gate any from-scratch build on traction.</a:t>
            </a:r>
            <a:endParaRPr lang="en-US" sz="15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Beam 1.0: what Reflection AI shipped</a:t>
            </a:r>
            <a:endParaRPr lang="en-US" sz="2800" dirty="0"/>
          </a:p>
        </p:txBody>
      </p:sp>
      <p:sp>
        <p:nvSpPr>
          <p:cNvPr id="3" name="spec card 1"/>
          <p:cNvSpPr/>
          <p:nvPr/>
        </p:nvSpPr>
        <p:spPr>
          <a:xfrm>
            <a:off x="457200" y="1051560"/>
            <a:ext cx="1645920" cy="1234440"/>
          </a:xfrm>
          <a:prstGeom prst="roundRect">
            <a:avLst>
              <a:gd name="adj" fmla="val 5926"/>
            </a:avLst>
          </a:prstGeom>
          <a:solidFill>
            <a:schemeClr val="bg2"/>
          </a:solidFill>
          <a:ln w="12700">
            <a:solidFill>
              <a:schemeClr val="bg2"/>
            </a:solidFill>
            <a:prstDash val="solid"/>
          </a:ln>
        </p:spPr>
      </p:sp>
      <p:sp>
        <p:nvSpPr>
          <p:cNvPr id="4" name="Text 2"/>
          <p:cNvSpPr txBox="1"/>
          <p:nvPr/>
        </p:nvSpPr>
        <p:spPr>
          <a:xfrm>
            <a:off x="566928" y="1216152"/>
            <a:ext cx="1463040" cy="54864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501B</a:t>
            </a:r>
            <a:endParaRPr lang="en-US" sz="2400" dirty="0"/>
          </a:p>
        </p:txBody>
      </p:sp>
      <p:sp>
        <p:nvSpPr>
          <p:cNvPr id="5" name="Text 3"/>
          <p:cNvSpPr txBox="1"/>
          <p:nvPr/>
        </p:nvSpPr>
        <p:spPr>
          <a:xfrm>
            <a:off x="566928" y="1801368"/>
            <a:ext cx="1463040" cy="365760"/>
          </a:xfrm>
          <a:prstGeom prst="rect">
            <a:avLst/>
          </a:prstGeom>
          <a:noFill/>
          <a:ln/>
        </p:spPr>
        <p:txBody>
          <a:bodyPr wrap="square" lIns="0" tIns="0" rIns="0" bIns="0" rtlCol="0" anchor="t"/>
          <a:lstStyle/>
          <a:p>
            <a:pPr indent="0" marL="0">
              <a:buNone/>
            </a:pPr>
            <a:r>
              <a:rPr lang="en-US" sz="1200" dirty="0">
                <a:solidFill>
                  <a:schemeClr val="tx1"/>
                </a:solidFill>
              </a:rPr>
              <a:t>total parameters</a:t>
            </a:r>
            <a:endParaRPr lang="en-US" sz="1200" dirty="0"/>
          </a:p>
        </p:txBody>
      </p:sp>
      <p:sp>
        <p:nvSpPr>
          <p:cNvPr id="6" name="spec card 2"/>
          <p:cNvSpPr/>
          <p:nvPr/>
        </p:nvSpPr>
        <p:spPr>
          <a:xfrm>
            <a:off x="2240280" y="1051560"/>
            <a:ext cx="1645920" cy="1234440"/>
          </a:xfrm>
          <a:prstGeom prst="roundRect">
            <a:avLst>
              <a:gd name="adj" fmla="val 5926"/>
            </a:avLst>
          </a:prstGeom>
          <a:solidFill>
            <a:schemeClr val="bg2"/>
          </a:solidFill>
          <a:ln w="12700">
            <a:solidFill>
              <a:schemeClr val="bg2"/>
            </a:solidFill>
            <a:prstDash val="solid"/>
          </a:ln>
        </p:spPr>
      </p:sp>
      <p:sp>
        <p:nvSpPr>
          <p:cNvPr id="7" name="Text 5"/>
          <p:cNvSpPr txBox="1"/>
          <p:nvPr/>
        </p:nvSpPr>
        <p:spPr>
          <a:xfrm>
            <a:off x="2350008" y="1216152"/>
            <a:ext cx="1463040" cy="54864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23.4B</a:t>
            </a:r>
            <a:endParaRPr lang="en-US" sz="2400" dirty="0"/>
          </a:p>
        </p:txBody>
      </p:sp>
      <p:sp>
        <p:nvSpPr>
          <p:cNvPr id="8" name="Text 6"/>
          <p:cNvSpPr txBox="1"/>
          <p:nvPr/>
        </p:nvSpPr>
        <p:spPr>
          <a:xfrm>
            <a:off x="2350008" y="1801368"/>
            <a:ext cx="1463040" cy="365760"/>
          </a:xfrm>
          <a:prstGeom prst="rect">
            <a:avLst/>
          </a:prstGeom>
          <a:noFill/>
          <a:ln/>
        </p:spPr>
        <p:txBody>
          <a:bodyPr wrap="square" lIns="0" tIns="0" rIns="0" bIns="0" rtlCol="0" anchor="t"/>
          <a:lstStyle/>
          <a:p>
            <a:pPr indent="0" marL="0">
              <a:buNone/>
            </a:pPr>
            <a:r>
              <a:rPr lang="en-US" sz="1200" dirty="0">
                <a:solidFill>
                  <a:schemeClr val="tx1"/>
                </a:solidFill>
              </a:rPr>
              <a:t>active per token</a:t>
            </a:r>
            <a:endParaRPr lang="en-US" sz="1200" dirty="0"/>
          </a:p>
        </p:txBody>
      </p:sp>
      <p:sp>
        <p:nvSpPr>
          <p:cNvPr id="9" name="spec card 3"/>
          <p:cNvSpPr/>
          <p:nvPr/>
        </p:nvSpPr>
        <p:spPr>
          <a:xfrm>
            <a:off x="4023360" y="1051560"/>
            <a:ext cx="1645920" cy="1234440"/>
          </a:xfrm>
          <a:prstGeom prst="roundRect">
            <a:avLst>
              <a:gd name="adj" fmla="val 5926"/>
            </a:avLst>
          </a:prstGeom>
          <a:solidFill>
            <a:schemeClr val="bg2"/>
          </a:solidFill>
          <a:ln w="12700">
            <a:solidFill>
              <a:schemeClr val="bg2"/>
            </a:solidFill>
            <a:prstDash val="solid"/>
          </a:ln>
        </p:spPr>
      </p:sp>
      <p:sp>
        <p:nvSpPr>
          <p:cNvPr id="10" name="Text 8"/>
          <p:cNvSpPr txBox="1"/>
          <p:nvPr/>
        </p:nvSpPr>
        <p:spPr>
          <a:xfrm>
            <a:off x="4133088" y="1216152"/>
            <a:ext cx="1463040" cy="54864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256 / 8</a:t>
            </a:r>
            <a:endParaRPr lang="en-US" sz="2000" dirty="0"/>
          </a:p>
        </p:txBody>
      </p:sp>
      <p:sp>
        <p:nvSpPr>
          <p:cNvPr id="11" name="Text 9"/>
          <p:cNvSpPr txBox="1"/>
          <p:nvPr/>
        </p:nvSpPr>
        <p:spPr>
          <a:xfrm>
            <a:off x="4133088" y="1801368"/>
            <a:ext cx="1463040" cy="365760"/>
          </a:xfrm>
          <a:prstGeom prst="rect">
            <a:avLst/>
          </a:prstGeom>
          <a:noFill/>
          <a:ln/>
        </p:spPr>
        <p:txBody>
          <a:bodyPr wrap="square" lIns="0" tIns="0" rIns="0" bIns="0" rtlCol="0" anchor="t"/>
          <a:lstStyle/>
          <a:p>
            <a:pPr indent="0" marL="0">
              <a:buNone/>
            </a:pPr>
            <a:r>
              <a:rPr lang="en-US" sz="1200" dirty="0">
                <a:solidFill>
                  <a:schemeClr val="tx1"/>
                </a:solidFill>
              </a:rPr>
              <a:t>experts / active</a:t>
            </a:r>
            <a:endParaRPr lang="en-US" sz="1200" dirty="0"/>
          </a:p>
        </p:txBody>
      </p:sp>
      <p:sp>
        <p:nvSpPr>
          <p:cNvPr id="12" name="spec card 4"/>
          <p:cNvSpPr/>
          <p:nvPr/>
        </p:nvSpPr>
        <p:spPr>
          <a:xfrm>
            <a:off x="457200" y="2468880"/>
            <a:ext cx="1645920" cy="1234440"/>
          </a:xfrm>
          <a:prstGeom prst="roundRect">
            <a:avLst>
              <a:gd name="adj" fmla="val 5926"/>
            </a:avLst>
          </a:prstGeom>
          <a:solidFill>
            <a:schemeClr val="bg2"/>
          </a:solidFill>
          <a:ln w="12700">
            <a:solidFill>
              <a:schemeClr val="bg2"/>
            </a:solidFill>
            <a:prstDash val="solid"/>
          </a:ln>
        </p:spPr>
      </p:sp>
      <p:sp>
        <p:nvSpPr>
          <p:cNvPr id="13" name="Text 11"/>
          <p:cNvSpPr txBox="1"/>
          <p:nvPr/>
        </p:nvSpPr>
        <p:spPr>
          <a:xfrm>
            <a:off x="566928" y="2633472"/>
            <a:ext cx="1463040" cy="54864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1M</a:t>
            </a:r>
            <a:endParaRPr lang="en-US" sz="2400" dirty="0"/>
          </a:p>
        </p:txBody>
      </p:sp>
      <p:sp>
        <p:nvSpPr>
          <p:cNvPr id="14" name="Text 12"/>
          <p:cNvSpPr txBox="1"/>
          <p:nvPr/>
        </p:nvSpPr>
        <p:spPr>
          <a:xfrm>
            <a:off x="566928" y="3218688"/>
            <a:ext cx="1463040" cy="365760"/>
          </a:xfrm>
          <a:prstGeom prst="rect">
            <a:avLst/>
          </a:prstGeom>
          <a:noFill/>
          <a:ln/>
        </p:spPr>
        <p:txBody>
          <a:bodyPr wrap="square" lIns="0" tIns="0" rIns="0" bIns="0" rtlCol="0" anchor="t"/>
          <a:lstStyle/>
          <a:p>
            <a:pPr indent="0" marL="0">
              <a:buNone/>
            </a:pPr>
            <a:r>
              <a:rPr lang="en-US" sz="1200" dirty="0">
                <a:solidFill>
                  <a:schemeClr val="tx1"/>
                </a:solidFill>
              </a:rPr>
              <a:t>token context</a:t>
            </a:r>
            <a:endParaRPr lang="en-US" sz="1200" dirty="0"/>
          </a:p>
        </p:txBody>
      </p:sp>
      <p:sp>
        <p:nvSpPr>
          <p:cNvPr id="15" name="spec card 5"/>
          <p:cNvSpPr/>
          <p:nvPr/>
        </p:nvSpPr>
        <p:spPr>
          <a:xfrm>
            <a:off x="2240280" y="2468880"/>
            <a:ext cx="1645920" cy="1234440"/>
          </a:xfrm>
          <a:prstGeom prst="roundRect">
            <a:avLst>
              <a:gd name="adj" fmla="val 5926"/>
            </a:avLst>
          </a:prstGeom>
          <a:solidFill>
            <a:schemeClr val="bg2"/>
          </a:solidFill>
          <a:ln w="12700">
            <a:solidFill>
              <a:schemeClr val="bg2"/>
            </a:solidFill>
            <a:prstDash val="solid"/>
          </a:ln>
        </p:spPr>
      </p:sp>
      <p:sp>
        <p:nvSpPr>
          <p:cNvPr id="16" name="Text 14"/>
          <p:cNvSpPr txBox="1"/>
          <p:nvPr/>
        </p:nvSpPr>
        <p:spPr>
          <a:xfrm>
            <a:off x="2350008" y="2633472"/>
            <a:ext cx="1463040" cy="548640"/>
          </a:xfrm>
          <a:prstGeom prst="rect">
            <a:avLst/>
          </a:prstGeom>
          <a:noFill/>
          <a:ln/>
        </p:spPr>
        <p:txBody>
          <a:bodyPr wrap="square" lIns="0" tIns="0" rIns="0" bIns="0" rtlCol="0" anchor="ctr"/>
          <a:lstStyle/>
          <a:p>
            <a:pPr indent="0" marL="0">
              <a:buNone/>
            </a:pPr>
            <a:r>
              <a:rPr lang="en-US" sz="2400" b="1" dirty="0">
                <a:solidFill>
                  <a:schemeClr val="accent2"/>
                </a:solidFill>
                <a:latin typeface="Arial" pitchFamily="34" charset="0"/>
                <a:ea typeface="Arial" pitchFamily="34" charset="-122"/>
                <a:cs typeface="Arial" pitchFamily="34" charset="-120"/>
              </a:rPr>
              <a:t>23.8T</a:t>
            </a:r>
            <a:endParaRPr lang="en-US" sz="2400" dirty="0"/>
          </a:p>
        </p:txBody>
      </p:sp>
      <p:sp>
        <p:nvSpPr>
          <p:cNvPr id="17" name="Text 15"/>
          <p:cNvSpPr txBox="1"/>
          <p:nvPr/>
        </p:nvSpPr>
        <p:spPr>
          <a:xfrm>
            <a:off x="2350008" y="3218688"/>
            <a:ext cx="1463040" cy="365760"/>
          </a:xfrm>
          <a:prstGeom prst="rect">
            <a:avLst/>
          </a:prstGeom>
          <a:noFill/>
          <a:ln/>
        </p:spPr>
        <p:txBody>
          <a:bodyPr wrap="square" lIns="0" tIns="0" rIns="0" bIns="0" rtlCol="0" anchor="t"/>
          <a:lstStyle/>
          <a:p>
            <a:pPr indent="0" marL="0">
              <a:buNone/>
            </a:pPr>
            <a:r>
              <a:rPr lang="en-US" sz="1200" dirty="0">
                <a:solidFill>
                  <a:schemeClr val="tx1"/>
                </a:solidFill>
              </a:rPr>
              <a:t>pre-training tokens</a:t>
            </a:r>
            <a:endParaRPr lang="en-US" sz="1200" dirty="0"/>
          </a:p>
        </p:txBody>
      </p:sp>
      <p:sp>
        <p:nvSpPr>
          <p:cNvPr id="18" name="spec card 6"/>
          <p:cNvSpPr/>
          <p:nvPr/>
        </p:nvSpPr>
        <p:spPr>
          <a:xfrm>
            <a:off x="4023360" y="2468880"/>
            <a:ext cx="1645920" cy="1234440"/>
          </a:xfrm>
          <a:prstGeom prst="roundRect">
            <a:avLst>
              <a:gd name="adj" fmla="val 5926"/>
            </a:avLst>
          </a:prstGeom>
          <a:solidFill>
            <a:schemeClr val="bg2"/>
          </a:solidFill>
          <a:ln w="12700">
            <a:solidFill>
              <a:schemeClr val="bg2"/>
            </a:solidFill>
            <a:prstDash val="solid"/>
          </a:ln>
        </p:spPr>
      </p:sp>
      <p:sp>
        <p:nvSpPr>
          <p:cNvPr id="19" name="Text 17"/>
          <p:cNvSpPr txBox="1"/>
          <p:nvPr/>
        </p:nvSpPr>
        <p:spPr>
          <a:xfrm>
            <a:off x="4133088" y="2633472"/>
            <a:ext cx="1463040" cy="548640"/>
          </a:xfrm>
          <a:prstGeom prst="rect">
            <a:avLst/>
          </a:prstGeom>
          <a:noFill/>
          <a:ln/>
        </p:spPr>
        <p:txBody>
          <a:bodyPr wrap="square" lIns="0" tIns="0" rIns="0" bIns="0" rtlCol="0" anchor="ctr"/>
          <a:lstStyle/>
          <a:p>
            <a:pPr indent="0" marL="0">
              <a:buNone/>
            </a:pPr>
            <a:r>
              <a:rPr lang="en-US" sz="2000" b="1" dirty="0">
                <a:solidFill>
                  <a:schemeClr val="accent2"/>
                </a:solidFill>
                <a:latin typeface="Arial" pitchFamily="34" charset="0"/>
                <a:ea typeface="Arial" pitchFamily="34" charset="-122"/>
                <a:cs typeface="Arial" pitchFamily="34" charset="-120"/>
              </a:rPr>
              <a:t>Apache 2.0</a:t>
            </a:r>
            <a:endParaRPr lang="en-US" sz="2000" dirty="0"/>
          </a:p>
        </p:txBody>
      </p:sp>
      <p:sp>
        <p:nvSpPr>
          <p:cNvPr id="20" name="Text 18"/>
          <p:cNvSpPr txBox="1"/>
          <p:nvPr/>
        </p:nvSpPr>
        <p:spPr>
          <a:xfrm>
            <a:off x="4133088" y="3218688"/>
            <a:ext cx="1463040" cy="365760"/>
          </a:xfrm>
          <a:prstGeom prst="rect">
            <a:avLst/>
          </a:prstGeom>
          <a:noFill/>
          <a:ln/>
        </p:spPr>
        <p:txBody>
          <a:bodyPr wrap="square" lIns="0" tIns="0" rIns="0" bIns="0" rtlCol="0" anchor="t"/>
          <a:lstStyle/>
          <a:p>
            <a:pPr indent="0" marL="0">
              <a:buNone/>
            </a:pPr>
            <a:r>
              <a:rPr lang="en-US" sz="1200" dirty="0">
                <a:solidFill>
                  <a:schemeClr val="tx1"/>
                </a:solidFill>
              </a:rPr>
              <a:t>open weights, 16 Oct</a:t>
            </a:r>
            <a:endParaRPr lang="en-US" sz="1200" dirty="0"/>
          </a:p>
        </p:txBody>
      </p:sp>
      <p:sp>
        <p:nvSpPr>
          <p:cNvPr id="21" name="Text 19"/>
          <p:cNvSpPr txBox="1"/>
          <p:nvPr/>
        </p:nvSpPr>
        <p:spPr>
          <a:xfrm>
            <a:off x="5943600" y="1051560"/>
            <a:ext cx="2743200" cy="320040"/>
          </a:xfrm>
          <a:prstGeom prst="rect">
            <a:avLst/>
          </a:prstGeom>
          <a:noFill/>
          <a:ln/>
        </p:spPr>
        <p:txBody>
          <a:bodyPr wrap="square" lIns="0" tIns="0" rIns="0" bIns="0" rtlCol="0" anchor="t"/>
          <a:lstStyle/>
          <a:p>
            <a:pPr indent="0" marL="0">
              <a:buNone/>
            </a:pPr>
            <a:r>
              <a:rPr lang="en-US" sz="1600" b="1" dirty="0">
                <a:solidFill>
                  <a:schemeClr val="tx2"/>
                </a:solidFill>
              </a:rPr>
              <a:t>Timeline</a:t>
            </a:r>
            <a:endParaRPr lang="en-US" sz="1600" dirty="0"/>
          </a:p>
        </p:txBody>
      </p:sp>
      <p:sp>
        <p:nvSpPr>
          <p:cNvPr id="22" name="Text 20"/>
          <p:cNvSpPr txBox="1"/>
          <p:nvPr/>
        </p:nvSpPr>
        <p:spPr>
          <a:xfrm>
            <a:off x="5943600" y="1417320"/>
            <a:ext cx="2743200" cy="30175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2024 · founded by ex-DeepMind team (Laskin, Antonoglou)</a:t>
            </a:r>
            <a:endParaRPr lang="en-US" sz="1300" dirty="0"/>
          </a:p>
          <a:p>
            <a:pPr marL="342900" indent="-342900">
              <a:spcAft>
                <a:spcPts val="600"/>
              </a:spcAft>
              <a:buSzPct val="100000"/>
              <a:buChar char="•"/>
            </a:pPr>
            <a:r>
              <a:rPr lang="en-US" sz="1300" dirty="0">
                <a:solidFill>
                  <a:schemeClr val="tx1"/>
                </a:solidFill>
              </a:rPr>
              <a:t>Oct 2025 · $2B raise led by NVIDIA</a:t>
            </a:r>
            <a:endParaRPr lang="en-US" sz="1300" dirty="0"/>
          </a:p>
          <a:p>
            <a:pPr marL="342900" indent="-342900">
              <a:spcAft>
                <a:spcPts val="600"/>
              </a:spcAft>
              <a:buSzPct val="100000"/>
              <a:buChar char="•"/>
            </a:pPr>
            <a:r>
              <a:rPr lang="en-US" sz="1300" dirty="0">
                <a:solidFill>
                  <a:schemeClr val="tx1"/>
                </a:solidFill>
              </a:rPr>
              <a:t>5 Oct 2026 · Beam announced</a:t>
            </a:r>
            <a:endParaRPr lang="en-US" sz="1300" dirty="0"/>
          </a:p>
          <a:p>
            <a:pPr marL="342900" indent="-342900">
              <a:spcAft>
                <a:spcPts val="600"/>
              </a:spcAft>
              <a:buSzPct val="100000"/>
              <a:buChar char="•"/>
            </a:pPr>
            <a:r>
              <a:rPr lang="en-US" sz="1300" dirty="0">
                <a:solidFill>
                  <a:schemeClr val="tx1"/>
                </a:solidFill>
              </a:rPr>
              <a:t>16 Oct 2026 · weights, Mirror CLI harness and DFlash2 drafter released; 40+ partners</a:t>
            </a:r>
            <a:endParaRPr lang="en-US" sz="1300" dirty="0"/>
          </a:p>
          <a:p>
            <a:pPr marL="342900" indent="-342900">
              <a:spcAft>
                <a:spcPts val="600"/>
              </a:spcAft>
              <a:buSzPct val="100000"/>
              <a:buChar char="•"/>
            </a:pPr>
            <a:r>
              <a:rPr lang="en-US" sz="1300" dirty="0">
                <a:solidFill>
                  <a:schemeClr val="tx1"/>
                </a:solidFill>
              </a:rPr>
              <a:t>Independent score: 30 (19th of 120)</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Architecture built for cheap tokens</a:t>
            </a:r>
            <a:endParaRPr lang="en-US" sz="2800" dirty="0"/>
          </a:p>
        </p:txBody>
      </p:sp>
      <p:sp>
        <p:nvSpPr>
          <p:cNvPr id="3" name="anim token"/>
          <p:cNvSpPr/>
          <p:nvPr/>
        </p:nvSpPr>
        <p:spPr>
          <a:xfrm>
            <a:off x="457200" y="2103120"/>
            <a:ext cx="914400" cy="548640"/>
          </a:xfrm>
          <a:prstGeom prst="roundRect">
            <a:avLst>
              <a:gd name="adj" fmla="val 16667"/>
            </a:avLst>
          </a:prstGeom>
          <a:solidFill>
            <a:schemeClr val="accent1"/>
          </a:solidFill>
          <a:ln w="12700">
            <a:solidFill>
              <a:schemeClr val="accent1"/>
            </a:solidFill>
            <a:prstDash val="solid"/>
          </a:ln>
        </p:spPr>
      </p:sp>
      <p:sp>
        <p:nvSpPr>
          <p:cNvPr id="4" name="anim token label"/>
          <p:cNvSpPr txBox="1"/>
          <p:nvPr/>
        </p:nvSpPr>
        <p:spPr>
          <a:xfrm>
            <a:off x="457200" y="2103120"/>
            <a:ext cx="914400" cy="548640"/>
          </a:xfrm>
          <a:prstGeom prst="rect">
            <a:avLst/>
          </a:prstGeom>
          <a:noFill/>
          <a:ln/>
        </p:spPr>
        <p:txBody>
          <a:bodyPr wrap="square" lIns="0" tIns="0" rIns="0" bIns="0" rtlCol="0" anchor="ctr"/>
          <a:lstStyle/>
          <a:p>
            <a:pPr algn="ctr" indent="0" marL="0">
              <a:buNone/>
            </a:pPr>
            <a:r>
              <a:rPr lang="en-US" sz="1300" b="1" dirty="0">
                <a:solidFill>
                  <a:schemeClr val="tx2"/>
                </a:solidFill>
              </a:rPr>
              <a:t>Next token</a:t>
            </a:r>
            <a:endParaRPr lang="en-US" sz="1300" dirty="0"/>
          </a:p>
        </p:txBody>
      </p:sp>
      <p:sp>
        <p:nvSpPr>
          <p:cNvPr id="5" name="anim arrow 1"/>
          <p:cNvSpPr/>
          <p:nvPr/>
        </p:nvSpPr>
        <p:spPr>
          <a:xfrm>
            <a:off x="1444752" y="2258568"/>
            <a:ext cx="365760" cy="237744"/>
          </a:xfrm>
          <a:prstGeom prst="rightArrow">
            <a:avLst/>
          </a:prstGeom>
          <a:solidFill>
            <a:schemeClr val="accent4"/>
          </a:solidFill>
          <a:ln w="12700">
            <a:solidFill>
              <a:schemeClr val="accent4"/>
            </a:solidFill>
            <a:prstDash val="solid"/>
          </a:ln>
        </p:spPr>
      </p:sp>
      <p:sp>
        <p:nvSpPr>
          <p:cNvPr id="6" name="anim router"/>
          <p:cNvSpPr/>
          <p:nvPr/>
        </p:nvSpPr>
        <p:spPr>
          <a:xfrm>
            <a:off x="1874520" y="1965960"/>
            <a:ext cx="960120" cy="822960"/>
          </a:xfrm>
          <a:prstGeom prst="roundRect">
            <a:avLst>
              <a:gd name="adj" fmla="val 11111"/>
            </a:avLst>
          </a:prstGeom>
          <a:solidFill>
            <a:schemeClr val="tx2"/>
          </a:solidFill>
          <a:ln w="12700">
            <a:solidFill>
              <a:schemeClr val="tx2"/>
            </a:solidFill>
            <a:prstDash val="solid"/>
          </a:ln>
        </p:spPr>
      </p:sp>
      <p:sp>
        <p:nvSpPr>
          <p:cNvPr id="7" name="anim router label"/>
          <p:cNvSpPr txBox="1"/>
          <p:nvPr/>
        </p:nvSpPr>
        <p:spPr>
          <a:xfrm>
            <a:off x="1874520" y="1965960"/>
            <a:ext cx="960120" cy="822960"/>
          </a:xfrm>
          <a:prstGeom prst="rect">
            <a:avLst/>
          </a:prstGeom>
          <a:noFill/>
          <a:ln/>
        </p:spPr>
        <p:txBody>
          <a:bodyPr wrap="square" lIns="0" tIns="0" rIns="0" bIns="0" rtlCol="0" anchor="ctr"/>
          <a:lstStyle/>
          <a:p>
            <a:pPr algn="ctr" indent="0" marL="0">
              <a:buNone/>
            </a:pPr>
            <a:r>
              <a:rPr lang="en-US" sz="1400" b="1" dirty="0">
                <a:solidFill>
                  <a:schemeClr val="bg1"/>
                </a:solidFill>
              </a:rPr>
              <a:t>Router</a:t>
            </a:r>
            <a:endParaRPr lang="en-US" sz="1400" dirty="0"/>
          </a:p>
        </p:txBody>
      </p:sp>
      <p:sp>
        <p:nvSpPr>
          <p:cNvPr id="8" name="anim arrow 2"/>
          <p:cNvSpPr/>
          <p:nvPr/>
        </p:nvSpPr>
        <p:spPr>
          <a:xfrm>
            <a:off x="2898648" y="2258568"/>
            <a:ext cx="365760" cy="237744"/>
          </a:xfrm>
          <a:prstGeom prst="rightArrow">
            <a:avLst/>
          </a:prstGeom>
          <a:solidFill>
            <a:schemeClr val="accent4"/>
          </a:solidFill>
          <a:ln w="12700">
            <a:solidFill>
              <a:schemeClr val="accent4"/>
            </a:solidFill>
            <a:prstDash val="solid"/>
          </a:ln>
        </p:spPr>
      </p:sp>
      <p:sp>
        <p:nvSpPr>
          <p:cNvPr id="9" name="anim expert 0-0"/>
          <p:cNvSpPr/>
          <p:nvPr/>
        </p:nvSpPr>
        <p:spPr>
          <a:xfrm>
            <a:off x="3383280" y="1024128"/>
            <a:ext cx="137160" cy="137160"/>
          </a:xfrm>
          <a:prstGeom prst="rect">
            <a:avLst/>
          </a:prstGeom>
          <a:solidFill>
            <a:srgbClr val="D5DAE3"/>
          </a:solidFill>
          <a:ln w="12700">
            <a:solidFill>
              <a:srgbClr val="D5DAE3"/>
            </a:solidFill>
            <a:prstDash val="solid"/>
          </a:ln>
        </p:spPr>
      </p:sp>
      <p:sp>
        <p:nvSpPr>
          <p:cNvPr id="10" name="anim expert 0-1"/>
          <p:cNvSpPr/>
          <p:nvPr/>
        </p:nvSpPr>
        <p:spPr>
          <a:xfrm>
            <a:off x="3557016" y="1024128"/>
            <a:ext cx="137160" cy="137160"/>
          </a:xfrm>
          <a:prstGeom prst="rect">
            <a:avLst/>
          </a:prstGeom>
          <a:solidFill>
            <a:srgbClr val="D5DAE3"/>
          </a:solidFill>
          <a:ln w="12700">
            <a:solidFill>
              <a:srgbClr val="D5DAE3"/>
            </a:solidFill>
            <a:prstDash val="solid"/>
          </a:ln>
        </p:spPr>
      </p:sp>
      <p:sp>
        <p:nvSpPr>
          <p:cNvPr id="11" name="anim expert 0-2"/>
          <p:cNvSpPr/>
          <p:nvPr/>
        </p:nvSpPr>
        <p:spPr>
          <a:xfrm>
            <a:off x="3730752" y="1024128"/>
            <a:ext cx="137160" cy="137160"/>
          </a:xfrm>
          <a:prstGeom prst="rect">
            <a:avLst/>
          </a:prstGeom>
          <a:solidFill>
            <a:srgbClr val="D5DAE3"/>
          </a:solidFill>
          <a:ln w="12700">
            <a:solidFill>
              <a:srgbClr val="D5DAE3"/>
            </a:solidFill>
            <a:prstDash val="solid"/>
          </a:ln>
        </p:spPr>
      </p:sp>
      <p:sp>
        <p:nvSpPr>
          <p:cNvPr id="12" name="anim expert 0-3"/>
          <p:cNvSpPr/>
          <p:nvPr/>
        </p:nvSpPr>
        <p:spPr>
          <a:xfrm>
            <a:off x="3904488" y="1024128"/>
            <a:ext cx="137160" cy="137160"/>
          </a:xfrm>
          <a:prstGeom prst="rect">
            <a:avLst/>
          </a:prstGeom>
          <a:solidFill>
            <a:srgbClr val="D5DAE3"/>
          </a:solidFill>
          <a:ln w="12700">
            <a:solidFill>
              <a:srgbClr val="D5DAE3"/>
            </a:solidFill>
            <a:prstDash val="solid"/>
          </a:ln>
        </p:spPr>
      </p:sp>
      <p:sp>
        <p:nvSpPr>
          <p:cNvPr id="13" name="anim expert 0-4"/>
          <p:cNvSpPr/>
          <p:nvPr/>
        </p:nvSpPr>
        <p:spPr>
          <a:xfrm>
            <a:off x="4078224" y="1024128"/>
            <a:ext cx="137160" cy="137160"/>
          </a:xfrm>
          <a:prstGeom prst="rect">
            <a:avLst/>
          </a:prstGeom>
          <a:solidFill>
            <a:srgbClr val="D5DAE3"/>
          </a:solidFill>
          <a:ln w="12700">
            <a:solidFill>
              <a:srgbClr val="D5DAE3"/>
            </a:solidFill>
            <a:prstDash val="solid"/>
          </a:ln>
        </p:spPr>
      </p:sp>
      <p:sp>
        <p:nvSpPr>
          <p:cNvPr id="14" name="anim expert 0-5"/>
          <p:cNvSpPr/>
          <p:nvPr/>
        </p:nvSpPr>
        <p:spPr>
          <a:xfrm>
            <a:off x="4251960" y="1024128"/>
            <a:ext cx="137160" cy="137160"/>
          </a:xfrm>
          <a:prstGeom prst="rect">
            <a:avLst/>
          </a:prstGeom>
          <a:solidFill>
            <a:srgbClr val="D5DAE3"/>
          </a:solidFill>
          <a:ln w="12700">
            <a:solidFill>
              <a:srgbClr val="D5DAE3"/>
            </a:solidFill>
            <a:prstDash val="solid"/>
          </a:ln>
        </p:spPr>
      </p:sp>
      <p:sp>
        <p:nvSpPr>
          <p:cNvPr id="15" name="anim expert 0-6"/>
          <p:cNvSpPr/>
          <p:nvPr/>
        </p:nvSpPr>
        <p:spPr>
          <a:xfrm>
            <a:off x="4425696" y="1024128"/>
            <a:ext cx="137160" cy="137160"/>
          </a:xfrm>
          <a:prstGeom prst="rect">
            <a:avLst/>
          </a:prstGeom>
          <a:solidFill>
            <a:srgbClr val="D5DAE3"/>
          </a:solidFill>
          <a:ln w="12700">
            <a:solidFill>
              <a:srgbClr val="D5DAE3"/>
            </a:solidFill>
            <a:prstDash val="solid"/>
          </a:ln>
        </p:spPr>
      </p:sp>
      <p:sp>
        <p:nvSpPr>
          <p:cNvPr id="16" name="anim expert 0-7"/>
          <p:cNvSpPr/>
          <p:nvPr/>
        </p:nvSpPr>
        <p:spPr>
          <a:xfrm>
            <a:off x="4599432" y="1024128"/>
            <a:ext cx="137160" cy="137160"/>
          </a:xfrm>
          <a:prstGeom prst="rect">
            <a:avLst/>
          </a:prstGeom>
          <a:solidFill>
            <a:srgbClr val="D5DAE3"/>
          </a:solidFill>
          <a:ln w="12700">
            <a:solidFill>
              <a:srgbClr val="D5DAE3"/>
            </a:solidFill>
            <a:prstDash val="solid"/>
          </a:ln>
        </p:spPr>
      </p:sp>
      <p:sp>
        <p:nvSpPr>
          <p:cNvPr id="17" name="anim expert 0-8"/>
          <p:cNvSpPr/>
          <p:nvPr/>
        </p:nvSpPr>
        <p:spPr>
          <a:xfrm>
            <a:off x="4773168" y="1024128"/>
            <a:ext cx="137160" cy="137160"/>
          </a:xfrm>
          <a:prstGeom prst="rect">
            <a:avLst/>
          </a:prstGeom>
          <a:solidFill>
            <a:srgbClr val="D5DAE3"/>
          </a:solidFill>
          <a:ln w="12700">
            <a:solidFill>
              <a:srgbClr val="D5DAE3"/>
            </a:solidFill>
            <a:prstDash val="solid"/>
          </a:ln>
        </p:spPr>
      </p:sp>
      <p:sp>
        <p:nvSpPr>
          <p:cNvPr id="18" name="anim expert 0-9"/>
          <p:cNvSpPr/>
          <p:nvPr/>
        </p:nvSpPr>
        <p:spPr>
          <a:xfrm>
            <a:off x="4946904" y="1024128"/>
            <a:ext cx="137160" cy="137160"/>
          </a:xfrm>
          <a:prstGeom prst="rect">
            <a:avLst/>
          </a:prstGeom>
          <a:solidFill>
            <a:srgbClr val="D5DAE3"/>
          </a:solidFill>
          <a:ln w="12700">
            <a:solidFill>
              <a:srgbClr val="D5DAE3"/>
            </a:solidFill>
            <a:prstDash val="solid"/>
          </a:ln>
        </p:spPr>
      </p:sp>
      <p:sp>
        <p:nvSpPr>
          <p:cNvPr id="19" name="anim expert 0-10"/>
          <p:cNvSpPr/>
          <p:nvPr/>
        </p:nvSpPr>
        <p:spPr>
          <a:xfrm>
            <a:off x="5120640" y="1024128"/>
            <a:ext cx="137160" cy="137160"/>
          </a:xfrm>
          <a:prstGeom prst="rect">
            <a:avLst/>
          </a:prstGeom>
          <a:solidFill>
            <a:srgbClr val="D5DAE3"/>
          </a:solidFill>
          <a:ln w="12700">
            <a:solidFill>
              <a:srgbClr val="D5DAE3"/>
            </a:solidFill>
            <a:prstDash val="solid"/>
          </a:ln>
        </p:spPr>
      </p:sp>
      <p:sp>
        <p:nvSpPr>
          <p:cNvPr id="20" name="anim expert 0-11"/>
          <p:cNvSpPr/>
          <p:nvPr/>
        </p:nvSpPr>
        <p:spPr>
          <a:xfrm>
            <a:off x="5294376" y="1024128"/>
            <a:ext cx="137160" cy="137160"/>
          </a:xfrm>
          <a:prstGeom prst="rect">
            <a:avLst/>
          </a:prstGeom>
          <a:solidFill>
            <a:srgbClr val="D5DAE3"/>
          </a:solidFill>
          <a:ln w="12700">
            <a:solidFill>
              <a:srgbClr val="D5DAE3"/>
            </a:solidFill>
            <a:prstDash val="solid"/>
          </a:ln>
        </p:spPr>
      </p:sp>
      <p:sp>
        <p:nvSpPr>
          <p:cNvPr id="21" name="anim expert 0-12"/>
          <p:cNvSpPr/>
          <p:nvPr/>
        </p:nvSpPr>
        <p:spPr>
          <a:xfrm>
            <a:off x="5468112" y="1024128"/>
            <a:ext cx="137160" cy="137160"/>
          </a:xfrm>
          <a:prstGeom prst="rect">
            <a:avLst/>
          </a:prstGeom>
          <a:solidFill>
            <a:srgbClr val="D5DAE3"/>
          </a:solidFill>
          <a:ln w="12700">
            <a:solidFill>
              <a:srgbClr val="D5DAE3"/>
            </a:solidFill>
            <a:prstDash val="solid"/>
          </a:ln>
        </p:spPr>
      </p:sp>
      <p:sp>
        <p:nvSpPr>
          <p:cNvPr id="22" name="anim expert 0-13"/>
          <p:cNvSpPr/>
          <p:nvPr/>
        </p:nvSpPr>
        <p:spPr>
          <a:xfrm>
            <a:off x="5641848" y="1024128"/>
            <a:ext cx="137160" cy="137160"/>
          </a:xfrm>
          <a:prstGeom prst="rect">
            <a:avLst/>
          </a:prstGeom>
          <a:solidFill>
            <a:srgbClr val="D5DAE3"/>
          </a:solidFill>
          <a:ln w="12700">
            <a:solidFill>
              <a:srgbClr val="D5DAE3"/>
            </a:solidFill>
            <a:prstDash val="solid"/>
          </a:ln>
        </p:spPr>
      </p:sp>
      <p:sp>
        <p:nvSpPr>
          <p:cNvPr id="23" name="anim expert 0-14"/>
          <p:cNvSpPr/>
          <p:nvPr/>
        </p:nvSpPr>
        <p:spPr>
          <a:xfrm>
            <a:off x="5815584" y="1024128"/>
            <a:ext cx="137160" cy="137160"/>
          </a:xfrm>
          <a:prstGeom prst="rect">
            <a:avLst/>
          </a:prstGeom>
          <a:solidFill>
            <a:srgbClr val="D5DAE3"/>
          </a:solidFill>
          <a:ln w="12700">
            <a:solidFill>
              <a:srgbClr val="D5DAE3"/>
            </a:solidFill>
            <a:prstDash val="solid"/>
          </a:ln>
        </p:spPr>
      </p:sp>
      <p:sp>
        <p:nvSpPr>
          <p:cNvPr id="24" name="anim expert 0-15"/>
          <p:cNvSpPr/>
          <p:nvPr/>
        </p:nvSpPr>
        <p:spPr>
          <a:xfrm>
            <a:off x="5989320" y="1024128"/>
            <a:ext cx="137160" cy="137160"/>
          </a:xfrm>
          <a:prstGeom prst="rect">
            <a:avLst/>
          </a:prstGeom>
          <a:solidFill>
            <a:srgbClr val="D5DAE3"/>
          </a:solidFill>
          <a:ln w="12700">
            <a:solidFill>
              <a:srgbClr val="D5DAE3"/>
            </a:solidFill>
            <a:prstDash val="solid"/>
          </a:ln>
        </p:spPr>
      </p:sp>
      <p:sp>
        <p:nvSpPr>
          <p:cNvPr id="25" name="anim expert 1-0"/>
          <p:cNvSpPr/>
          <p:nvPr/>
        </p:nvSpPr>
        <p:spPr>
          <a:xfrm>
            <a:off x="3383280" y="1197864"/>
            <a:ext cx="137160" cy="137160"/>
          </a:xfrm>
          <a:prstGeom prst="rect">
            <a:avLst/>
          </a:prstGeom>
          <a:solidFill>
            <a:srgbClr val="D5DAE3"/>
          </a:solidFill>
          <a:ln w="12700">
            <a:solidFill>
              <a:srgbClr val="D5DAE3"/>
            </a:solidFill>
            <a:prstDash val="solid"/>
          </a:ln>
        </p:spPr>
      </p:sp>
      <p:sp>
        <p:nvSpPr>
          <p:cNvPr id="26" name="anim expert 1-1"/>
          <p:cNvSpPr/>
          <p:nvPr/>
        </p:nvSpPr>
        <p:spPr>
          <a:xfrm>
            <a:off x="3557016" y="1197864"/>
            <a:ext cx="137160" cy="137160"/>
          </a:xfrm>
          <a:prstGeom prst="rect">
            <a:avLst/>
          </a:prstGeom>
          <a:solidFill>
            <a:srgbClr val="D5DAE3"/>
          </a:solidFill>
          <a:ln w="12700">
            <a:solidFill>
              <a:srgbClr val="D5DAE3"/>
            </a:solidFill>
            <a:prstDash val="solid"/>
          </a:ln>
        </p:spPr>
      </p:sp>
      <p:sp>
        <p:nvSpPr>
          <p:cNvPr id="27" name="anim expert 1-2"/>
          <p:cNvSpPr/>
          <p:nvPr/>
        </p:nvSpPr>
        <p:spPr>
          <a:xfrm>
            <a:off x="3730752" y="1197864"/>
            <a:ext cx="137160" cy="137160"/>
          </a:xfrm>
          <a:prstGeom prst="rect">
            <a:avLst/>
          </a:prstGeom>
          <a:solidFill>
            <a:srgbClr val="D5DAE3"/>
          </a:solidFill>
          <a:ln w="12700">
            <a:solidFill>
              <a:srgbClr val="D5DAE3"/>
            </a:solidFill>
            <a:prstDash val="solid"/>
          </a:ln>
        </p:spPr>
      </p:sp>
      <p:sp>
        <p:nvSpPr>
          <p:cNvPr id="28" name="anim expert 1-3"/>
          <p:cNvSpPr/>
          <p:nvPr/>
        </p:nvSpPr>
        <p:spPr>
          <a:xfrm>
            <a:off x="3904488" y="1197864"/>
            <a:ext cx="137160" cy="137160"/>
          </a:xfrm>
          <a:prstGeom prst="rect">
            <a:avLst/>
          </a:prstGeom>
          <a:solidFill>
            <a:srgbClr val="D5DAE3"/>
          </a:solidFill>
          <a:ln w="12700">
            <a:solidFill>
              <a:srgbClr val="D5DAE3"/>
            </a:solidFill>
            <a:prstDash val="solid"/>
          </a:ln>
        </p:spPr>
      </p:sp>
      <p:sp>
        <p:nvSpPr>
          <p:cNvPr id="29" name="anim expert 1-4"/>
          <p:cNvSpPr/>
          <p:nvPr/>
        </p:nvSpPr>
        <p:spPr>
          <a:xfrm>
            <a:off x="4078224" y="1197864"/>
            <a:ext cx="137160" cy="137160"/>
          </a:xfrm>
          <a:prstGeom prst="rect">
            <a:avLst/>
          </a:prstGeom>
          <a:solidFill>
            <a:srgbClr val="D5DAE3"/>
          </a:solidFill>
          <a:ln w="12700">
            <a:solidFill>
              <a:srgbClr val="D5DAE3"/>
            </a:solidFill>
            <a:prstDash val="solid"/>
          </a:ln>
        </p:spPr>
      </p:sp>
      <p:sp>
        <p:nvSpPr>
          <p:cNvPr id="30" name="anim expert 1-5"/>
          <p:cNvSpPr/>
          <p:nvPr/>
        </p:nvSpPr>
        <p:spPr>
          <a:xfrm>
            <a:off x="4251960" y="1197864"/>
            <a:ext cx="137160" cy="137160"/>
          </a:xfrm>
          <a:prstGeom prst="rect">
            <a:avLst/>
          </a:prstGeom>
          <a:solidFill>
            <a:srgbClr val="D5DAE3"/>
          </a:solidFill>
          <a:ln w="12700">
            <a:solidFill>
              <a:srgbClr val="D5DAE3"/>
            </a:solidFill>
            <a:prstDash val="solid"/>
          </a:ln>
        </p:spPr>
      </p:sp>
      <p:sp>
        <p:nvSpPr>
          <p:cNvPr id="31" name="anim expert 1-6"/>
          <p:cNvSpPr/>
          <p:nvPr/>
        </p:nvSpPr>
        <p:spPr>
          <a:xfrm>
            <a:off x="4425696" y="1197864"/>
            <a:ext cx="137160" cy="137160"/>
          </a:xfrm>
          <a:prstGeom prst="rect">
            <a:avLst/>
          </a:prstGeom>
          <a:solidFill>
            <a:srgbClr val="D5DAE3"/>
          </a:solidFill>
          <a:ln w="12700">
            <a:solidFill>
              <a:srgbClr val="D5DAE3"/>
            </a:solidFill>
            <a:prstDash val="solid"/>
          </a:ln>
        </p:spPr>
      </p:sp>
      <p:sp>
        <p:nvSpPr>
          <p:cNvPr id="32" name="anim expert 1-7"/>
          <p:cNvSpPr/>
          <p:nvPr/>
        </p:nvSpPr>
        <p:spPr>
          <a:xfrm>
            <a:off x="4599432" y="1197864"/>
            <a:ext cx="137160" cy="137160"/>
          </a:xfrm>
          <a:prstGeom prst="rect">
            <a:avLst/>
          </a:prstGeom>
          <a:solidFill>
            <a:srgbClr val="D5DAE3"/>
          </a:solidFill>
          <a:ln w="12700">
            <a:solidFill>
              <a:srgbClr val="D5DAE3"/>
            </a:solidFill>
            <a:prstDash val="solid"/>
          </a:ln>
        </p:spPr>
      </p:sp>
      <p:sp>
        <p:nvSpPr>
          <p:cNvPr id="33" name="anim expert 1-8"/>
          <p:cNvSpPr/>
          <p:nvPr/>
        </p:nvSpPr>
        <p:spPr>
          <a:xfrm>
            <a:off x="4773168" y="1197864"/>
            <a:ext cx="137160" cy="137160"/>
          </a:xfrm>
          <a:prstGeom prst="rect">
            <a:avLst/>
          </a:prstGeom>
          <a:solidFill>
            <a:srgbClr val="D5DAE3"/>
          </a:solidFill>
          <a:ln w="12700">
            <a:solidFill>
              <a:srgbClr val="D5DAE3"/>
            </a:solidFill>
            <a:prstDash val="solid"/>
          </a:ln>
        </p:spPr>
      </p:sp>
      <p:sp>
        <p:nvSpPr>
          <p:cNvPr id="34" name="anim expert 1-9"/>
          <p:cNvSpPr/>
          <p:nvPr/>
        </p:nvSpPr>
        <p:spPr>
          <a:xfrm>
            <a:off x="4946904" y="1197864"/>
            <a:ext cx="137160" cy="137160"/>
          </a:xfrm>
          <a:prstGeom prst="rect">
            <a:avLst/>
          </a:prstGeom>
          <a:solidFill>
            <a:srgbClr val="D5DAE3"/>
          </a:solidFill>
          <a:ln w="12700">
            <a:solidFill>
              <a:srgbClr val="D5DAE3"/>
            </a:solidFill>
            <a:prstDash val="solid"/>
          </a:ln>
        </p:spPr>
      </p:sp>
      <p:sp>
        <p:nvSpPr>
          <p:cNvPr id="35" name="anim expert 1-10"/>
          <p:cNvSpPr/>
          <p:nvPr/>
        </p:nvSpPr>
        <p:spPr>
          <a:xfrm>
            <a:off x="5120640" y="1197864"/>
            <a:ext cx="137160" cy="137160"/>
          </a:xfrm>
          <a:prstGeom prst="rect">
            <a:avLst/>
          </a:prstGeom>
          <a:solidFill>
            <a:srgbClr val="D5DAE3"/>
          </a:solidFill>
          <a:ln w="12700">
            <a:solidFill>
              <a:srgbClr val="D5DAE3"/>
            </a:solidFill>
            <a:prstDash val="solid"/>
          </a:ln>
        </p:spPr>
      </p:sp>
      <p:sp>
        <p:nvSpPr>
          <p:cNvPr id="36" name="anim expert 1-11"/>
          <p:cNvSpPr/>
          <p:nvPr/>
        </p:nvSpPr>
        <p:spPr>
          <a:xfrm>
            <a:off x="5294376" y="1197864"/>
            <a:ext cx="137160" cy="137160"/>
          </a:xfrm>
          <a:prstGeom prst="rect">
            <a:avLst/>
          </a:prstGeom>
          <a:solidFill>
            <a:srgbClr val="D5DAE3"/>
          </a:solidFill>
          <a:ln w="12700">
            <a:solidFill>
              <a:srgbClr val="D5DAE3"/>
            </a:solidFill>
            <a:prstDash val="solid"/>
          </a:ln>
        </p:spPr>
      </p:sp>
      <p:sp>
        <p:nvSpPr>
          <p:cNvPr id="37" name="anim expert 1-12"/>
          <p:cNvSpPr/>
          <p:nvPr/>
        </p:nvSpPr>
        <p:spPr>
          <a:xfrm>
            <a:off x="5468112" y="1197864"/>
            <a:ext cx="137160" cy="137160"/>
          </a:xfrm>
          <a:prstGeom prst="rect">
            <a:avLst/>
          </a:prstGeom>
          <a:solidFill>
            <a:srgbClr val="D5DAE3"/>
          </a:solidFill>
          <a:ln w="12700">
            <a:solidFill>
              <a:srgbClr val="D5DAE3"/>
            </a:solidFill>
            <a:prstDash val="solid"/>
          </a:ln>
        </p:spPr>
      </p:sp>
      <p:sp>
        <p:nvSpPr>
          <p:cNvPr id="38" name="anim expert 1-13"/>
          <p:cNvSpPr/>
          <p:nvPr/>
        </p:nvSpPr>
        <p:spPr>
          <a:xfrm>
            <a:off x="5641848" y="1197864"/>
            <a:ext cx="137160" cy="137160"/>
          </a:xfrm>
          <a:prstGeom prst="rect">
            <a:avLst/>
          </a:prstGeom>
          <a:solidFill>
            <a:srgbClr val="D5DAE3"/>
          </a:solidFill>
          <a:ln w="12700">
            <a:solidFill>
              <a:srgbClr val="D5DAE3"/>
            </a:solidFill>
            <a:prstDash val="solid"/>
          </a:ln>
        </p:spPr>
      </p:sp>
      <p:sp>
        <p:nvSpPr>
          <p:cNvPr id="39" name="anim expert 1-14"/>
          <p:cNvSpPr/>
          <p:nvPr/>
        </p:nvSpPr>
        <p:spPr>
          <a:xfrm>
            <a:off x="5815584" y="1197864"/>
            <a:ext cx="137160" cy="137160"/>
          </a:xfrm>
          <a:prstGeom prst="rect">
            <a:avLst/>
          </a:prstGeom>
          <a:solidFill>
            <a:srgbClr val="D5DAE3"/>
          </a:solidFill>
          <a:ln w="12700">
            <a:solidFill>
              <a:srgbClr val="D5DAE3"/>
            </a:solidFill>
            <a:prstDash val="solid"/>
          </a:ln>
        </p:spPr>
      </p:sp>
      <p:sp>
        <p:nvSpPr>
          <p:cNvPr id="40" name="anim expert 1-15"/>
          <p:cNvSpPr/>
          <p:nvPr/>
        </p:nvSpPr>
        <p:spPr>
          <a:xfrm>
            <a:off x="5989320" y="1197864"/>
            <a:ext cx="137160" cy="137160"/>
          </a:xfrm>
          <a:prstGeom prst="rect">
            <a:avLst/>
          </a:prstGeom>
          <a:solidFill>
            <a:srgbClr val="D5DAE3"/>
          </a:solidFill>
          <a:ln w="12700">
            <a:solidFill>
              <a:srgbClr val="D5DAE3"/>
            </a:solidFill>
            <a:prstDash val="solid"/>
          </a:ln>
        </p:spPr>
      </p:sp>
      <p:sp>
        <p:nvSpPr>
          <p:cNvPr id="41" name="anim expert 2-0"/>
          <p:cNvSpPr/>
          <p:nvPr/>
        </p:nvSpPr>
        <p:spPr>
          <a:xfrm>
            <a:off x="3383280" y="1371600"/>
            <a:ext cx="137160" cy="137160"/>
          </a:xfrm>
          <a:prstGeom prst="rect">
            <a:avLst/>
          </a:prstGeom>
          <a:solidFill>
            <a:srgbClr val="D5DAE3"/>
          </a:solidFill>
          <a:ln w="12700">
            <a:solidFill>
              <a:srgbClr val="D5DAE3"/>
            </a:solidFill>
            <a:prstDash val="solid"/>
          </a:ln>
        </p:spPr>
      </p:sp>
      <p:sp>
        <p:nvSpPr>
          <p:cNvPr id="42" name="anim expert 2-1"/>
          <p:cNvSpPr/>
          <p:nvPr/>
        </p:nvSpPr>
        <p:spPr>
          <a:xfrm>
            <a:off x="3557016" y="1371600"/>
            <a:ext cx="137160" cy="137160"/>
          </a:xfrm>
          <a:prstGeom prst="rect">
            <a:avLst/>
          </a:prstGeom>
          <a:solidFill>
            <a:srgbClr val="D5DAE3"/>
          </a:solidFill>
          <a:ln w="12700">
            <a:solidFill>
              <a:srgbClr val="D5DAE3"/>
            </a:solidFill>
            <a:prstDash val="solid"/>
          </a:ln>
        </p:spPr>
      </p:sp>
      <p:sp>
        <p:nvSpPr>
          <p:cNvPr id="43" name="anim expert 2-2"/>
          <p:cNvSpPr/>
          <p:nvPr/>
        </p:nvSpPr>
        <p:spPr>
          <a:xfrm>
            <a:off x="3730752" y="1371600"/>
            <a:ext cx="137160" cy="137160"/>
          </a:xfrm>
          <a:prstGeom prst="rect">
            <a:avLst/>
          </a:prstGeom>
          <a:solidFill>
            <a:srgbClr val="D5DAE3"/>
          </a:solidFill>
          <a:ln w="12700">
            <a:solidFill>
              <a:srgbClr val="D5DAE3"/>
            </a:solidFill>
            <a:prstDash val="solid"/>
          </a:ln>
        </p:spPr>
      </p:sp>
      <p:sp>
        <p:nvSpPr>
          <p:cNvPr id="44" name="anim expert 2-3"/>
          <p:cNvSpPr/>
          <p:nvPr/>
        </p:nvSpPr>
        <p:spPr>
          <a:xfrm>
            <a:off x="3904488" y="1371600"/>
            <a:ext cx="137160" cy="137160"/>
          </a:xfrm>
          <a:prstGeom prst="rect">
            <a:avLst/>
          </a:prstGeom>
          <a:solidFill>
            <a:srgbClr val="D5DAE3"/>
          </a:solidFill>
          <a:ln w="12700">
            <a:solidFill>
              <a:srgbClr val="D5DAE3"/>
            </a:solidFill>
            <a:prstDash val="solid"/>
          </a:ln>
        </p:spPr>
      </p:sp>
      <p:sp>
        <p:nvSpPr>
          <p:cNvPr id="45" name="anim expert 2-4"/>
          <p:cNvSpPr/>
          <p:nvPr/>
        </p:nvSpPr>
        <p:spPr>
          <a:xfrm>
            <a:off x="4078224" y="1371600"/>
            <a:ext cx="137160" cy="137160"/>
          </a:xfrm>
          <a:prstGeom prst="rect">
            <a:avLst/>
          </a:prstGeom>
          <a:solidFill>
            <a:srgbClr val="D5DAE3"/>
          </a:solidFill>
          <a:ln w="12700">
            <a:solidFill>
              <a:srgbClr val="D5DAE3"/>
            </a:solidFill>
            <a:prstDash val="solid"/>
          </a:ln>
        </p:spPr>
      </p:sp>
      <p:sp>
        <p:nvSpPr>
          <p:cNvPr id="46" name="anim expert 2-5"/>
          <p:cNvSpPr/>
          <p:nvPr/>
        </p:nvSpPr>
        <p:spPr>
          <a:xfrm>
            <a:off x="4251960" y="1371600"/>
            <a:ext cx="137160" cy="137160"/>
          </a:xfrm>
          <a:prstGeom prst="rect">
            <a:avLst/>
          </a:prstGeom>
          <a:solidFill>
            <a:srgbClr val="D5DAE3"/>
          </a:solidFill>
          <a:ln w="12700">
            <a:solidFill>
              <a:srgbClr val="D5DAE3"/>
            </a:solidFill>
            <a:prstDash val="solid"/>
          </a:ln>
        </p:spPr>
      </p:sp>
      <p:sp>
        <p:nvSpPr>
          <p:cNvPr id="47" name="anim expert 2-6"/>
          <p:cNvSpPr/>
          <p:nvPr/>
        </p:nvSpPr>
        <p:spPr>
          <a:xfrm>
            <a:off x="4425696" y="1371600"/>
            <a:ext cx="137160" cy="137160"/>
          </a:xfrm>
          <a:prstGeom prst="rect">
            <a:avLst/>
          </a:prstGeom>
          <a:solidFill>
            <a:srgbClr val="D5DAE3"/>
          </a:solidFill>
          <a:ln w="12700">
            <a:solidFill>
              <a:srgbClr val="D5DAE3"/>
            </a:solidFill>
            <a:prstDash val="solid"/>
          </a:ln>
        </p:spPr>
      </p:sp>
      <p:sp>
        <p:nvSpPr>
          <p:cNvPr id="48" name="anim expert 2-7"/>
          <p:cNvSpPr/>
          <p:nvPr/>
        </p:nvSpPr>
        <p:spPr>
          <a:xfrm>
            <a:off x="4599432" y="1371600"/>
            <a:ext cx="137160" cy="137160"/>
          </a:xfrm>
          <a:prstGeom prst="rect">
            <a:avLst/>
          </a:prstGeom>
          <a:solidFill>
            <a:srgbClr val="D5DAE3"/>
          </a:solidFill>
          <a:ln w="12700">
            <a:solidFill>
              <a:srgbClr val="D5DAE3"/>
            </a:solidFill>
            <a:prstDash val="solid"/>
          </a:ln>
        </p:spPr>
      </p:sp>
      <p:sp>
        <p:nvSpPr>
          <p:cNvPr id="49" name="anim expert 2-8"/>
          <p:cNvSpPr/>
          <p:nvPr/>
        </p:nvSpPr>
        <p:spPr>
          <a:xfrm>
            <a:off x="4773168" y="1371600"/>
            <a:ext cx="137160" cy="137160"/>
          </a:xfrm>
          <a:prstGeom prst="rect">
            <a:avLst/>
          </a:prstGeom>
          <a:solidFill>
            <a:srgbClr val="D5DAE3"/>
          </a:solidFill>
          <a:ln w="12700">
            <a:solidFill>
              <a:srgbClr val="D5DAE3"/>
            </a:solidFill>
            <a:prstDash val="solid"/>
          </a:ln>
        </p:spPr>
      </p:sp>
      <p:sp>
        <p:nvSpPr>
          <p:cNvPr id="50" name="anim expert 2-9"/>
          <p:cNvSpPr/>
          <p:nvPr/>
        </p:nvSpPr>
        <p:spPr>
          <a:xfrm>
            <a:off x="4946904" y="1371600"/>
            <a:ext cx="137160" cy="137160"/>
          </a:xfrm>
          <a:prstGeom prst="rect">
            <a:avLst/>
          </a:prstGeom>
          <a:solidFill>
            <a:srgbClr val="D5DAE3"/>
          </a:solidFill>
          <a:ln w="12700">
            <a:solidFill>
              <a:srgbClr val="D5DAE3"/>
            </a:solidFill>
            <a:prstDash val="solid"/>
          </a:ln>
        </p:spPr>
      </p:sp>
      <p:sp>
        <p:nvSpPr>
          <p:cNvPr id="51" name="anim expert 2-10"/>
          <p:cNvSpPr/>
          <p:nvPr/>
        </p:nvSpPr>
        <p:spPr>
          <a:xfrm>
            <a:off x="5120640" y="1371600"/>
            <a:ext cx="137160" cy="137160"/>
          </a:xfrm>
          <a:prstGeom prst="rect">
            <a:avLst/>
          </a:prstGeom>
          <a:solidFill>
            <a:srgbClr val="D5DAE3"/>
          </a:solidFill>
          <a:ln w="12700">
            <a:solidFill>
              <a:srgbClr val="D5DAE3"/>
            </a:solidFill>
            <a:prstDash val="solid"/>
          </a:ln>
        </p:spPr>
      </p:sp>
      <p:sp>
        <p:nvSpPr>
          <p:cNvPr id="52" name="anim expert 2-11"/>
          <p:cNvSpPr/>
          <p:nvPr/>
        </p:nvSpPr>
        <p:spPr>
          <a:xfrm>
            <a:off x="5294376" y="1371600"/>
            <a:ext cx="137160" cy="137160"/>
          </a:xfrm>
          <a:prstGeom prst="rect">
            <a:avLst/>
          </a:prstGeom>
          <a:solidFill>
            <a:srgbClr val="D5DAE3"/>
          </a:solidFill>
          <a:ln w="12700">
            <a:solidFill>
              <a:srgbClr val="D5DAE3"/>
            </a:solidFill>
            <a:prstDash val="solid"/>
          </a:ln>
        </p:spPr>
      </p:sp>
      <p:sp>
        <p:nvSpPr>
          <p:cNvPr id="53" name="anim expert 2-12"/>
          <p:cNvSpPr/>
          <p:nvPr/>
        </p:nvSpPr>
        <p:spPr>
          <a:xfrm>
            <a:off x="5468112" y="1371600"/>
            <a:ext cx="137160" cy="137160"/>
          </a:xfrm>
          <a:prstGeom prst="rect">
            <a:avLst/>
          </a:prstGeom>
          <a:solidFill>
            <a:srgbClr val="D5DAE3"/>
          </a:solidFill>
          <a:ln w="12700">
            <a:solidFill>
              <a:srgbClr val="D5DAE3"/>
            </a:solidFill>
            <a:prstDash val="solid"/>
          </a:ln>
        </p:spPr>
      </p:sp>
      <p:sp>
        <p:nvSpPr>
          <p:cNvPr id="54" name="anim expert 2-13"/>
          <p:cNvSpPr/>
          <p:nvPr/>
        </p:nvSpPr>
        <p:spPr>
          <a:xfrm>
            <a:off x="5641848" y="1371600"/>
            <a:ext cx="137160" cy="137160"/>
          </a:xfrm>
          <a:prstGeom prst="rect">
            <a:avLst/>
          </a:prstGeom>
          <a:solidFill>
            <a:srgbClr val="D5DAE3"/>
          </a:solidFill>
          <a:ln w="12700">
            <a:solidFill>
              <a:srgbClr val="D5DAE3"/>
            </a:solidFill>
            <a:prstDash val="solid"/>
          </a:ln>
        </p:spPr>
      </p:sp>
      <p:sp>
        <p:nvSpPr>
          <p:cNvPr id="55" name="anim expert 2-14"/>
          <p:cNvSpPr/>
          <p:nvPr/>
        </p:nvSpPr>
        <p:spPr>
          <a:xfrm>
            <a:off x="5815584" y="1371600"/>
            <a:ext cx="137160" cy="137160"/>
          </a:xfrm>
          <a:prstGeom prst="rect">
            <a:avLst/>
          </a:prstGeom>
          <a:solidFill>
            <a:srgbClr val="D5DAE3"/>
          </a:solidFill>
          <a:ln w="12700">
            <a:solidFill>
              <a:srgbClr val="D5DAE3"/>
            </a:solidFill>
            <a:prstDash val="solid"/>
          </a:ln>
        </p:spPr>
      </p:sp>
      <p:sp>
        <p:nvSpPr>
          <p:cNvPr id="56" name="anim expert 2-15"/>
          <p:cNvSpPr/>
          <p:nvPr/>
        </p:nvSpPr>
        <p:spPr>
          <a:xfrm>
            <a:off x="5989320" y="1371600"/>
            <a:ext cx="137160" cy="137160"/>
          </a:xfrm>
          <a:prstGeom prst="rect">
            <a:avLst/>
          </a:prstGeom>
          <a:solidFill>
            <a:srgbClr val="D5DAE3"/>
          </a:solidFill>
          <a:ln w="12700">
            <a:solidFill>
              <a:srgbClr val="D5DAE3"/>
            </a:solidFill>
            <a:prstDash val="solid"/>
          </a:ln>
        </p:spPr>
      </p:sp>
      <p:sp>
        <p:nvSpPr>
          <p:cNvPr id="57" name="anim expert 3-0"/>
          <p:cNvSpPr/>
          <p:nvPr/>
        </p:nvSpPr>
        <p:spPr>
          <a:xfrm>
            <a:off x="3383280" y="1545336"/>
            <a:ext cx="137160" cy="137160"/>
          </a:xfrm>
          <a:prstGeom prst="rect">
            <a:avLst/>
          </a:prstGeom>
          <a:solidFill>
            <a:srgbClr val="D5DAE3"/>
          </a:solidFill>
          <a:ln w="12700">
            <a:solidFill>
              <a:srgbClr val="D5DAE3"/>
            </a:solidFill>
            <a:prstDash val="solid"/>
          </a:ln>
        </p:spPr>
      </p:sp>
      <p:sp>
        <p:nvSpPr>
          <p:cNvPr id="58" name="anim expert 3-1"/>
          <p:cNvSpPr/>
          <p:nvPr/>
        </p:nvSpPr>
        <p:spPr>
          <a:xfrm>
            <a:off x="3557016" y="1545336"/>
            <a:ext cx="137160" cy="137160"/>
          </a:xfrm>
          <a:prstGeom prst="rect">
            <a:avLst/>
          </a:prstGeom>
          <a:solidFill>
            <a:srgbClr val="D5DAE3"/>
          </a:solidFill>
          <a:ln w="12700">
            <a:solidFill>
              <a:srgbClr val="D5DAE3"/>
            </a:solidFill>
            <a:prstDash val="solid"/>
          </a:ln>
        </p:spPr>
      </p:sp>
      <p:sp>
        <p:nvSpPr>
          <p:cNvPr id="59" name="anim expert 3-2"/>
          <p:cNvSpPr/>
          <p:nvPr/>
        </p:nvSpPr>
        <p:spPr>
          <a:xfrm>
            <a:off x="3730752" y="1545336"/>
            <a:ext cx="137160" cy="137160"/>
          </a:xfrm>
          <a:prstGeom prst="rect">
            <a:avLst/>
          </a:prstGeom>
          <a:solidFill>
            <a:srgbClr val="D5DAE3"/>
          </a:solidFill>
          <a:ln w="12700">
            <a:solidFill>
              <a:srgbClr val="D5DAE3"/>
            </a:solidFill>
            <a:prstDash val="solid"/>
          </a:ln>
        </p:spPr>
      </p:sp>
      <p:sp>
        <p:nvSpPr>
          <p:cNvPr id="60" name="anim expert 3-3"/>
          <p:cNvSpPr/>
          <p:nvPr/>
        </p:nvSpPr>
        <p:spPr>
          <a:xfrm>
            <a:off x="3904488" y="1545336"/>
            <a:ext cx="137160" cy="137160"/>
          </a:xfrm>
          <a:prstGeom prst="rect">
            <a:avLst/>
          </a:prstGeom>
          <a:solidFill>
            <a:srgbClr val="D5DAE3"/>
          </a:solidFill>
          <a:ln w="12700">
            <a:solidFill>
              <a:srgbClr val="D5DAE3"/>
            </a:solidFill>
            <a:prstDash val="solid"/>
          </a:ln>
        </p:spPr>
      </p:sp>
      <p:sp>
        <p:nvSpPr>
          <p:cNvPr id="61" name="anim expert 3-4"/>
          <p:cNvSpPr/>
          <p:nvPr/>
        </p:nvSpPr>
        <p:spPr>
          <a:xfrm>
            <a:off x="4078224" y="1545336"/>
            <a:ext cx="137160" cy="137160"/>
          </a:xfrm>
          <a:prstGeom prst="rect">
            <a:avLst/>
          </a:prstGeom>
          <a:solidFill>
            <a:srgbClr val="D5DAE3"/>
          </a:solidFill>
          <a:ln w="12700">
            <a:solidFill>
              <a:srgbClr val="D5DAE3"/>
            </a:solidFill>
            <a:prstDash val="solid"/>
          </a:ln>
        </p:spPr>
      </p:sp>
      <p:sp>
        <p:nvSpPr>
          <p:cNvPr id="62" name="anim expert 3-5"/>
          <p:cNvSpPr/>
          <p:nvPr/>
        </p:nvSpPr>
        <p:spPr>
          <a:xfrm>
            <a:off x="4251960" y="1545336"/>
            <a:ext cx="137160" cy="137160"/>
          </a:xfrm>
          <a:prstGeom prst="rect">
            <a:avLst/>
          </a:prstGeom>
          <a:solidFill>
            <a:srgbClr val="D5DAE3"/>
          </a:solidFill>
          <a:ln w="12700">
            <a:solidFill>
              <a:srgbClr val="D5DAE3"/>
            </a:solidFill>
            <a:prstDash val="solid"/>
          </a:ln>
        </p:spPr>
      </p:sp>
      <p:sp>
        <p:nvSpPr>
          <p:cNvPr id="63" name="anim expert 3-6"/>
          <p:cNvSpPr/>
          <p:nvPr/>
        </p:nvSpPr>
        <p:spPr>
          <a:xfrm>
            <a:off x="4425696" y="1545336"/>
            <a:ext cx="137160" cy="137160"/>
          </a:xfrm>
          <a:prstGeom prst="rect">
            <a:avLst/>
          </a:prstGeom>
          <a:solidFill>
            <a:srgbClr val="D5DAE3"/>
          </a:solidFill>
          <a:ln w="12700">
            <a:solidFill>
              <a:srgbClr val="D5DAE3"/>
            </a:solidFill>
            <a:prstDash val="solid"/>
          </a:ln>
        </p:spPr>
      </p:sp>
      <p:sp>
        <p:nvSpPr>
          <p:cNvPr id="64" name="anim expert 3-7"/>
          <p:cNvSpPr/>
          <p:nvPr/>
        </p:nvSpPr>
        <p:spPr>
          <a:xfrm>
            <a:off x="4599432" y="1545336"/>
            <a:ext cx="137160" cy="137160"/>
          </a:xfrm>
          <a:prstGeom prst="rect">
            <a:avLst/>
          </a:prstGeom>
          <a:solidFill>
            <a:srgbClr val="D5DAE3"/>
          </a:solidFill>
          <a:ln w="12700">
            <a:solidFill>
              <a:srgbClr val="D5DAE3"/>
            </a:solidFill>
            <a:prstDash val="solid"/>
          </a:ln>
        </p:spPr>
      </p:sp>
      <p:sp>
        <p:nvSpPr>
          <p:cNvPr id="65" name="anim expert 3-8"/>
          <p:cNvSpPr/>
          <p:nvPr/>
        </p:nvSpPr>
        <p:spPr>
          <a:xfrm>
            <a:off x="4773168" y="1545336"/>
            <a:ext cx="137160" cy="137160"/>
          </a:xfrm>
          <a:prstGeom prst="rect">
            <a:avLst/>
          </a:prstGeom>
          <a:solidFill>
            <a:srgbClr val="D5DAE3"/>
          </a:solidFill>
          <a:ln w="12700">
            <a:solidFill>
              <a:srgbClr val="D5DAE3"/>
            </a:solidFill>
            <a:prstDash val="solid"/>
          </a:ln>
        </p:spPr>
      </p:sp>
      <p:sp>
        <p:nvSpPr>
          <p:cNvPr id="66" name="anim expert 3-9"/>
          <p:cNvSpPr/>
          <p:nvPr/>
        </p:nvSpPr>
        <p:spPr>
          <a:xfrm>
            <a:off x="4946904" y="1545336"/>
            <a:ext cx="137160" cy="137160"/>
          </a:xfrm>
          <a:prstGeom prst="rect">
            <a:avLst/>
          </a:prstGeom>
          <a:solidFill>
            <a:srgbClr val="D5DAE3"/>
          </a:solidFill>
          <a:ln w="12700">
            <a:solidFill>
              <a:srgbClr val="D5DAE3"/>
            </a:solidFill>
            <a:prstDash val="solid"/>
          </a:ln>
        </p:spPr>
      </p:sp>
      <p:sp>
        <p:nvSpPr>
          <p:cNvPr id="67" name="anim expert 3-10"/>
          <p:cNvSpPr/>
          <p:nvPr/>
        </p:nvSpPr>
        <p:spPr>
          <a:xfrm>
            <a:off x="5120640" y="1545336"/>
            <a:ext cx="137160" cy="137160"/>
          </a:xfrm>
          <a:prstGeom prst="rect">
            <a:avLst/>
          </a:prstGeom>
          <a:solidFill>
            <a:srgbClr val="D5DAE3"/>
          </a:solidFill>
          <a:ln w="12700">
            <a:solidFill>
              <a:srgbClr val="D5DAE3"/>
            </a:solidFill>
            <a:prstDash val="solid"/>
          </a:ln>
        </p:spPr>
      </p:sp>
      <p:sp>
        <p:nvSpPr>
          <p:cNvPr id="68" name="anim expert 3-11"/>
          <p:cNvSpPr/>
          <p:nvPr/>
        </p:nvSpPr>
        <p:spPr>
          <a:xfrm>
            <a:off x="5294376" y="1545336"/>
            <a:ext cx="137160" cy="137160"/>
          </a:xfrm>
          <a:prstGeom prst="rect">
            <a:avLst/>
          </a:prstGeom>
          <a:solidFill>
            <a:srgbClr val="D5DAE3"/>
          </a:solidFill>
          <a:ln w="12700">
            <a:solidFill>
              <a:srgbClr val="D5DAE3"/>
            </a:solidFill>
            <a:prstDash val="solid"/>
          </a:ln>
        </p:spPr>
      </p:sp>
      <p:sp>
        <p:nvSpPr>
          <p:cNvPr id="69" name="anim expert 3-12"/>
          <p:cNvSpPr/>
          <p:nvPr/>
        </p:nvSpPr>
        <p:spPr>
          <a:xfrm>
            <a:off x="5468112" y="1545336"/>
            <a:ext cx="137160" cy="137160"/>
          </a:xfrm>
          <a:prstGeom prst="rect">
            <a:avLst/>
          </a:prstGeom>
          <a:solidFill>
            <a:srgbClr val="D5DAE3"/>
          </a:solidFill>
          <a:ln w="12700">
            <a:solidFill>
              <a:srgbClr val="D5DAE3"/>
            </a:solidFill>
            <a:prstDash val="solid"/>
          </a:ln>
        </p:spPr>
      </p:sp>
      <p:sp>
        <p:nvSpPr>
          <p:cNvPr id="70" name="anim expert 3-13"/>
          <p:cNvSpPr/>
          <p:nvPr/>
        </p:nvSpPr>
        <p:spPr>
          <a:xfrm>
            <a:off x="5641848" y="1545336"/>
            <a:ext cx="137160" cy="137160"/>
          </a:xfrm>
          <a:prstGeom prst="rect">
            <a:avLst/>
          </a:prstGeom>
          <a:solidFill>
            <a:srgbClr val="D5DAE3"/>
          </a:solidFill>
          <a:ln w="12700">
            <a:solidFill>
              <a:srgbClr val="D5DAE3"/>
            </a:solidFill>
            <a:prstDash val="solid"/>
          </a:ln>
        </p:spPr>
      </p:sp>
      <p:sp>
        <p:nvSpPr>
          <p:cNvPr id="71" name="anim expert 3-14"/>
          <p:cNvSpPr/>
          <p:nvPr/>
        </p:nvSpPr>
        <p:spPr>
          <a:xfrm>
            <a:off x="5815584" y="1545336"/>
            <a:ext cx="137160" cy="137160"/>
          </a:xfrm>
          <a:prstGeom prst="rect">
            <a:avLst/>
          </a:prstGeom>
          <a:solidFill>
            <a:srgbClr val="D5DAE3"/>
          </a:solidFill>
          <a:ln w="12700">
            <a:solidFill>
              <a:srgbClr val="D5DAE3"/>
            </a:solidFill>
            <a:prstDash val="solid"/>
          </a:ln>
        </p:spPr>
      </p:sp>
      <p:sp>
        <p:nvSpPr>
          <p:cNvPr id="72" name="anim expert 3-15"/>
          <p:cNvSpPr/>
          <p:nvPr/>
        </p:nvSpPr>
        <p:spPr>
          <a:xfrm>
            <a:off x="5989320" y="1545336"/>
            <a:ext cx="137160" cy="137160"/>
          </a:xfrm>
          <a:prstGeom prst="rect">
            <a:avLst/>
          </a:prstGeom>
          <a:solidFill>
            <a:srgbClr val="D5DAE3"/>
          </a:solidFill>
          <a:ln w="12700">
            <a:solidFill>
              <a:srgbClr val="D5DAE3"/>
            </a:solidFill>
            <a:prstDash val="solid"/>
          </a:ln>
        </p:spPr>
      </p:sp>
      <p:sp>
        <p:nvSpPr>
          <p:cNvPr id="73" name="anim expert 4-0"/>
          <p:cNvSpPr/>
          <p:nvPr/>
        </p:nvSpPr>
        <p:spPr>
          <a:xfrm>
            <a:off x="3383280" y="1719072"/>
            <a:ext cx="137160" cy="137160"/>
          </a:xfrm>
          <a:prstGeom prst="rect">
            <a:avLst/>
          </a:prstGeom>
          <a:solidFill>
            <a:srgbClr val="D5DAE3"/>
          </a:solidFill>
          <a:ln w="12700">
            <a:solidFill>
              <a:srgbClr val="D5DAE3"/>
            </a:solidFill>
            <a:prstDash val="solid"/>
          </a:ln>
        </p:spPr>
      </p:sp>
      <p:sp>
        <p:nvSpPr>
          <p:cNvPr id="74" name="anim expert 4-1"/>
          <p:cNvSpPr/>
          <p:nvPr/>
        </p:nvSpPr>
        <p:spPr>
          <a:xfrm>
            <a:off x="3557016" y="1719072"/>
            <a:ext cx="137160" cy="137160"/>
          </a:xfrm>
          <a:prstGeom prst="rect">
            <a:avLst/>
          </a:prstGeom>
          <a:solidFill>
            <a:srgbClr val="D5DAE3"/>
          </a:solidFill>
          <a:ln w="12700">
            <a:solidFill>
              <a:srgbClr val="D5DAE3"/>
            </a:solidFill>
            <a:prstDash val="solid"/>
          </a:ln>
        </p:spPr>
      </p:sp>
      <p:sp>
        <p:nvSpPr>
          <p:cNvPr id="75" name="anim expert 4-2"/>
          <p:cNvSpPr/>
          <p:nvPr/>
        </p:nvSpPr>
        <p:spPr>
          <a:xfrm>
            <a:off x="3730752" y="1719072"/>
            <a:ext cx="137160" cy="137160"/>
          </a:xfrm>
          <a:prstGeom prst="rect">
            <a:avLst/>
          </a:prstGeom>
          <a:solidFill>
            <a:srgbClr val="D5DAE3"/>
          </a:solidFill>
          <a:ln w="12700">
            <a:solidFill>
              <a:srgbClr val="D5DAE3"/>
            </a:solidFill>
            <a:prstDash val="solid"/>
          </a:ln>
        </p:spPr>
      </p:sp>
      <p:sp>
        <p:nvSpPr>
          <p:cNvPr id="76" name="anim expert 4-3"/>
          <p:cNvSpPr/>
          <p:nvPr/>
        </p:nvSpPr>
        <p:spPr>
          <a:xfrm>
            <a:off x="3904488" y="1719072"/>
            <a:ext cx="137160" cy="137160"/>
          </a:xfrm>
          <a:prstGeom prst="rect">
            <a:avLst/>
          </a:prstGeom>
          <a:solidFill>
            <a:srgbClr val="D5DAE3"/>
          </a:solidFill>
          <a:ln w="12700">
            <a:solidFill>
              <a:srgbClr val="D5DAE3"/>
            </a:solidFill>
            <a:prstDash val="solid"/>
          </a:ln>
        </p:spPr>
      </p:sp>
      <p:sp>
        <p:nvSpPr>
          <p:cNvPr id="77" name="anim expert 4-4"/>
          <p:cNvSpPr/>
          <p:nvPr/>
        </p:nvSpPr>
        <p:spPr>
          <a:xfrm>
            <a:off x="4078224" y="1719072"/>
            <a:ext cx="137160" cy="137160"/>
          </a:xfrm>
          <a:prstGeom prst="rect">
            <a:avLst/>
          </a:prstGeom>
          <a:solidFill>
            <a:srgbClr val="D5DAE3"/>
          </a:solidFill>
          <a:ln w="12700">
            <a:solidFill>
              <a:srgbClr val="D5DAE3"/>
            </a:solidFill>
            <a:prstDash val="solid"/>
          </a:ln>
        </p:spPr>
      </p:sp>
      <p:sp>
        <p:nvSpPr>
          <p:cNvPr id="78" name="anim expert 4-5"/>
          <p:cNvSpPr/>
          <p:nvPr/>
        </p:nvSpPr>
        <p:spPr>
          <a:xfrm>
            <a:off x="4251960" y="1719072"/>
            <a:ext cx="137160" cy="137160"/>
          </a:xfrm>
          <a:prstGeom prst="rect">
            <a:avLst/>
          </a:prstGeom>
          <a:solidFill>
            <a:srgbClr val="D5DAE3"/>
          </a:solidFill>
          <a:ln w="12700">
            <a:solidFill>
              <a:srgbClr val="D5DAE3"/>
            </a:solidFill>
            <a:prstDash val="solid"/>
          </a:ln>
        </p:spPr>
      </p:sp>
      <p:sp>
        <p:nvSpPr>
          <p:cNvPr id="79" name="anim expert 4-6"/>
          <p:cNvSpPr/>
          <p:nvPr/>
        </p:nvSpPr>
        <p:spPr>
          <a:xfrm>
            <a:off x="4425696" y="1719072"/>
            <a:ext cx="137160" cy="137160"/>
          </a:xfrm>
          <a:prstGeom prst="rect">
            <a:avLst/>
          </a:prstGeom>
          <a:solidFill>
            <a:srgbClr val="D5DAE3"/>
          </a:solidFill>
          <a:ln w="12700">
            <a:solidFill>
              <a:srgbClr val="D5DAE3"/>
            </a:solidFill>
            <a:prstDash val="solid"/>
          </a:ln>
        </p:spPr>
      </p:sp>
      <p:sp>
        <p:nvSpPr>
          <p:cNvPr id="80" name="anim expert 4-7"/>
          <p:cNvSpPr/>
          <p:nvPr/>
        </p:nvSpPr>
        <p:spPr>
          <a:xfrm>
            <a:off x="4599432" y="1719072"/>
            <a:ext cx="137160" cy="137160"/>
          </a:xfrm>
          <a:prstGeom prst="rect">
            <a:avLst/>
          </a:prstGeom>
          <a:solidFill>
            <a:srgbClr val="D5DAE3"/>
          </a:solidFill>
          <a:ln w="12700">
            <a:solidFill>
              <a:srgbClr val="D5DAE3"/>
            </a:solidFill>
            <a:prstDash val="solid"/>
          </a:ln>
        </p:spPr>
      </p:sp>
      <p:sp>
        <p:nvSpPr>
          <p:cNvPr id="81" name="anim expert 4-8"/>
          <p:cNvSpPr/>
          <p:nvPr/>
        </p:nvSpPr>
        <p:spPr>
          <a:xfrm>
            <a:off x="4773168" y="1719072"/>
            <a:ext cx="137160" cy="137160"/>
          </a:xfrm>
          <a:prstGeom prst="rect">
            <a:avLst/>
          </a:prstGeom>
          <a:solidFill>
            <a:srgbClr val="D5DAE3"/>
          </a:solidFill>
          <a:ln w="12700">
            <a:solidFill>
              <a:srgbClr val="D5DAE3"/>
            </a:solidFill>
            <a:prstDash val="solid"/>
          </a:ln>
        </p:spPr>
      </p:sp>
      <p:sp>
        <p:nvSpPr>
          <p:cNvPr id="82" name="anim expert 4-9"/>
          <p:cNvSpPr/>
          <p:nvPr/>
        </p:nvSpPr>
        <p:spPr>
          <a:xfrm>
            <a:off x="4946904" y="1719072"/>
            <a:ext cx="137160" cy="137160"/>
          </a:xfrm>
          <a:prstGeom prst="rect">
            <a:avLst/>
          </a:prstGeom>
          <a:solidFill>
            <a:srgbClr val="D5DAE3"/>
          </a:solidFill>
          <a:ln w="12700">
            <a:solidFill>
              <a:srgbClr val="D5DAE3"/>
            </a:solidFill>
            <a:prstDash val="solid"/>
          </a:ln>
        </p:spPr>
      </p:sp>
      <p:sp>
        <p:nvSpPr>
          <p:cNvPr id="83" name="anim expert 4-10"/>
          <p:cNvSpPr/>
          <p:nvPr/>
        </p:nvSpPr>
        <p:spPr>
          <a:xfrm>
            <a:off x="5120640" y="1719072"/>
            <a:ext cx="137160" cy="137160"/>
          </a:xfrm>
          <a:prstGeom prst="rect">
            <a:avLst/>
          </a:prstGeom>
          <a:solidFill>
            <a:srgbClr val="D5DAE3"/>
          </a:solidFill>
          <a:ln w="12700">
            <a:solidFill>
              <a:srgbClr val="D5DAE3"/>
            </a:solidFill>
            <a:prstDash val="solid"/>
          </a:ln>
        </p:spPr>
      </p:sp>
      <p:sp>
        <p:nvSpPr>
          <p:cNvPr id="84" name="anim expert 4-11"/>
          <p:cNvSpPr/>
          <p:nvPr/>
        </p:nvSpPr>
        <p:spPr>
          <a:xfrm>
            <a:off x="5294376" y="1719072"/>
            <a:ext cx="137160" cy="137160"/>
          </a:xfrm>
          <a:prstGeom prst="rect">
            <a:avLst/>
          </a:prstGeom>
          <a:solidFill>
            <a:srgbClr val="D5DAE3"/>
          </a:solidFill>
          <a:ln w="12700">
            <a:solidFill>
              <a:srgbClr val="D5DAE3"/>
            </a:solidFill>
            <a:prstDash val="solid"/>
          </a:ln>
        </p:spPr>
      </p:sp>
      <p:sp>
        <p:nvSpPr>
          <p:cNvPr id="85" name="anim expert 4-12"/>
          <p:cNvSpPr/>
          <p:nvPr/>
        </p:nvSpPr>
        <p:spPr>
          <a:xfrm>
            <a:off x="5468112" y="1719072"/>
            <a:ext cx="137160" cy="137160"/>
          </a:xfrm>
          <a:prstGeom prst="rect">
            <a:avLst/>
          </a:prstGeom>
          <a:solidFill>
            <a:srgbClr val="D5DAE3"/>
          </a:solidFill>
          <a:ln w="12700">
            <a:solidFill>
              <a:srgbClr val="D5DAE3"/>
            </a:solidFill>
            <a:prstDash val="solid"/>
          </a:ln>
        </p:spPr>
      </p:sp>
      <p:sp>
        <p:nvSpPr>
          <p:cNvPr id="86" name="anim expert 4-13"/>
          <p:cNvSpPr/>
          <p:nvPr/>
        </p:nvSpPr>
        <p:spPr>
          <a:xfrm>
            <a:off x="5641848" y="1719072"/>
            <a:ext cx="137160" cy="137160"/>
          </a:xfrm>
          <a:prstGeom prst="rect">
            <a:avLst/>
          </a:prstGeom>
          <a:solidFill>
            <a:srgbClr val="D5DAE3"/>
          </a:solidFill>
          <a:ln w="12700">
            <a:solidFill>
              <a:srgbClr val="D5DAE3"/>
            </a:solidFill>
            <a:prstDash val="solid"/>
          </a:ln>
        </p:spPr>
      </p:sp>
      <p:sp>
        <p:nvSpPr>
          <p:cNvPr id="87" name="anim expert 4-14"/>
          <p:cNvSpPr/>
          <p:nvPr/>
        </p:nvSpPr>
        <p:spPr>
          <a:xfrm>
            <a:off x="5815584" y="1719072"/>
            <a:ext cx="137160" cy="137160"/>
          </a:xfrm>
          <a:prstGeom prst="rect">
            <a:avLst/>
          </a:prstGeom>
          <a:solidFill>
            <a:srgbClr val="D5DAE3"/>
          </a:solidFill>
          <a:ln w="12700">
            <a:solidFill>
              <a:srgbClr val="D5DAE3"/>
            </a:solidFill>
            <a:prstDash val="solid"/>
          </a:ln>
        </p:spPr>
      </p:sp>
      <p:sp>
        <p:nvSpPr>
          <p:cNvPr id="88" name="anim expert 4-15"/>
          <p:cNvSpPr/>
          <p:nvPr/>
        </p:nvSpPr>
        <p:spPr>
          <a:xfrm>
            <a:off x="5989320" y="1719072"/>
            <a:ext cx="137160" cy="137160"/>
          </a:xfrm>
          <a:prstGeom prst="rect">
            <a:avLst/>
          </a:prstGeom>
          <a:solidFill>
            <a:srgbClr val="D5DAE3"/>
          </a:solidFill>
          <a:ln w="12700">
            <a:solidFill>
              <a:srgbClr val="D5DAE3"/>
            </a:solidFill>
            <a:prstDash val="solid"/>
          </a:ln>
        </p:spPr>
      </p:sp>
      <p:sp>
        <p:nvSpPr>
          <p:cNvPr id="89" name="anim expert 5-0"/>
          <p:cNvSpPr/>
          <p:nvPr/>
        </p:nvSpPr>
        <p:spPr>
          <a:xfrm>
            <a:off x="3383280" y="1892808"/>
            <a:ext cx="137160" cy="137160"/>
          </a:xfrm>
          <a:prstGeom prst="rect">
            <a:avLst/>
          </a:prstGeom>
          <a:solidFill>
            <a:srgbClr val="D5DAE3"/>
          </a:solidFill>
          <a:ln w="12700">
            <a:solidFill>
              <a:srgbClr val="D5DAE3"/>
            </a:solidFill>
            <a:prstDash val="solid"/>
          </a:ln>
        </p:spPr>
      </p:sp>
      <p:sp>
        <p:nvSpPr>
          <p:cNvPr id="90" name="anim expert 5-1"/>
          <p:cNvSpPr/>
          <p:nvPr/>
        </p:nvSpPr>
        <p:spPr>
          <a:xfrm>
            <a:off x="3557016" y="1892808"/>
            <a:ext cx="137160" cy="137160"/>
          </a:xfrm>
          <a:prstGeom prst="rect">
            <a:avLst/>
          </a:prstGeom>
          <a:solidFill>
            <a:srgbClr val="D5DAE3"/>
          </a:solidFill>
          <a:ln w="12700">
            <a:solidFill>
              <a:srgbClr val="D5DAE3"/>
            </a:solidFill>
            <a:prstDash val="solid"/>
          </a:ln>
        </p:spPr>
      </p:sp>
      <p:sp>
        <p:nvSpPr>
          <p:cNvPr id="91" name="anim expert 5-2"/>
          <p:cNvSpPr/>
          <p:nvPr/>
        </p:nvSpPr>
        <p:spPr>
          <a:xfrm>
            <a:off x="3730752" y="1892808"/>
            <a:ext cx="137160" cy="137160"/>
          </a:xfrm>
          <a:prstGeom prst="rect">
            <a:avLst/>
          </a:prstGeom>
          <a:solidFill>
            <a:srgbClr val="D5DAE3"/>
          </a:solidFill>
          <a:ln w="12700">
            <a:solidFill>
              <a:srgbClr val="D5DAE3"/>
            </a:solidFill>
            <a:prstDash val="solid"/>
          </a:ln>
        </p:spPr>
      </p:sp>
      <p:sp>
        <p:nvSpPr>
          <p:cNvPr id="92" name="anim expert 5-3"/>
          <p:cNvSpPr/>
          <p:nvPr/>
        </p:nvSpPr>
        <p:spPr>
          <a:xfrm>
            <a:off x="3904488" y="1892808"/>
            <a:ext cx="137160" cy="137160"/>
          </a:xfrm>
          <a:prstGeom prst="rect">
            <a:avLst/>
          </a:prstGeom>
          <a:solidFill>
            <a:srgbClr val="D5DAE3"/>
          </a:solidFill>
          <a:ln w="12700">
            <a:solidFill>
              <a:srgbClr val="D5DAE3"/>
            </a:solidFill>
            <a:prstDash val="solid"/>
          </a:ln>
        </p:spPr>
      </p:sp>
      <p:sp>
        <p:nvSpPr>
          <p:cNvPr id="93" name="anim expert 5-4"/>
          <p:cNvSpPr/>
          <p:nvPr/>
        </p:nvSpPr>
        <p:spPr>
          <a:xfrm>
            <a:off x="4078224" y="1892808"/>
            <a:ext cx="137160" cy="137160"/>
          </a:xfrm>
          <a:prstGeom prst="rect">
            <a:avLst/>
          </a:prstGeom>
          <a:solidFill>
            <a:srgbClr val="D5DAE3"/>
          </a:solidFill>
          <a:ln w="12700">
            <a:solidFill>
              <a:srgbClr val="D5DAE3"/>
            </a:solidFill>
            <a:prstDash val="solid"/>
          </a:ln>
        </p:spPr>
      </p:sp>
      <p:sp>
        <p:nvSpPr>
          <p:cNvPr id="94" name="anim expert 5-5"/>
          <p:cNvSpPr/>
          <p:nvPr/>
        </p:nvSpPr>
        <p:spPr>
          <a:xfrm>
            <a:off x="4251960" y="1892808"/>
            <a:ext cx="137160" cy="137160"/>
          </a:xfrm>
          <a:prstGeom prst="rect">
            <a:avLst/>
          </a:prstGeom>
          <a:solidFill>
            <a:srgbClr val="D5DAE3"/>
          </a:solidFill>
          <a:ln w="12700">
            <a:solidFill>
              <a:srgbClr val="D5DAE3"/>
            </a:solidFill>
            <a:prstDash val="solid"/>
          </a:ln>
        </p:spPr>
      </p:sp>
      <p:sp>
        <p:nvSpPr>
          <p:cNvPr id="95" name="anim expert 5-6"/>
          <p:cNvSpPr/>
          <p:nvPr/>
        </p:nvSpPr>
        <p:spPr>
          <a:xfrm>
            <a:off x="4425696" y="1892808"/>
            <a:ext cx="137160" cy="137160"/>
          </a:xfrm>
          <a:prstGeom prst="rect">
            <a:avLst/>
          </a:prstGeom>
          <a:solidFill>
            <a:srgbClr val="D5DAE3"/>
          </a:solidFill>
          <a:ln w="12700">
            <a:solidFill>
              <a:srgbClr val="D5DAE3"/>
            </a:solidFill>
            <a:prstDash val="solid"/>
          </a:ln>
        </p:spPr>
      </p:sp>
      <p:sp>
        <p:nvSpPr>
          <p:cNvPr id="96" name="anim expert 5-7"/>
          <p:cNvSpPr/>
          <p:nvPr/>
        </p:nvSpPr>
        <p:spPr>
          <a:xfrm>
            <a:off x="4599432" y="1892808"/>
            <a:ext cx="137160" cy="137160"/>
          </a:xfrm>
          <a:prstGeom prst="rect">
            <a:avLst/>
          </a:prstGeom>
          <a:solidFill>
            <a:srgbClr val="D5DAE3"/>
          </a:solidFill>
          <a:ln w="12700">
            <a:solidFill>
              <a:srgbClr val="D5DAE3"/>
            </a:solidFill>
            <a:prstDash val="solid"/>
          </a:ln>
        </p:spPr>
      </p:sp>
      <p:sp>
        <p:nvSpPr>
          <p:cNvPr id="97" name="anim expert 5-8"/>
          <p:cNvSpPr/>
          <p:nvPr/>
        </p:nvSpPr>
        <p:spPr>
          <a:xfrm>
            <a:off x="4773168" y="1892808"/>
            <a:ext cx="137160" cy="137160"/>
          </a:xfrm>
          <a:prstGeom prst="rect">
            <a:avLst/>
          </a:prstGeom>
          <a:solidFill>
            <a:srgbClr val="D5DAE3"/>
          </a:solidFill>
          <a:ln w="12700">
            <a:solidFill>
              <a:srgbClr val="D5DAE3"/>
            </a:solidFill>
            <a:prstDash val="solid"/>
          </a:ln>
        </p:spPr>
      </p:sp>
      <p:sp>
        <p:nvSpPr>
          <p:cNvPr id="98" name="anim expert 5-9"/>
          <p:cNvSpPr/>
          <p:nvPr/>
        </p:nvSpPr>
        <p:spPr>
          <a:xfrm>
            <a:off x="4946904" y="1892808"/>
            <a:ext cx="137160" cy="137160"/>
          </a:xfrm>
          <a:prstGeom prst="rect">
            <a:avLst/>
          </a:prstGeom>
          <a:solidFill>
            <a:srgbClr val="D5DAE3"/>
          </a:solidFill>
          <a:ln w="12700">
            <a:solidFill>
              <a:srgbClr val="D5DAE3"/>
            </a:solidFill>
            <a:prstDash val="solid"/>
          </a:ln>
        </p:spPr>
      </p:sp>
      <p:sp>
        <p:nvSpPr>
          <p:cNvPr id="99" name="anim expert 5-10"/>
          <p:cNvSpPr/>
          <p:nvPr/>
        </p:nvSpPr>
        <p:spPr>
          <a:xfrm>
            <a:off x="5120640" y="1892808"/>
            <a:ext cx="137160" cy="137160"/>
          </a:xfrm>
          <a:prstGeom prst="rect">
            <a:avLst/>
          </a:prstGeom>
          <a:solidFill>
            <a:srgbClr val="D5DAE3"/>
          </a:solidFill>
          <a:ln w="12700">
            <a:solidFill>
              <a:srgbClr val="D5DAE3"/>
            </a:solidFill>
            <a:prstDash val="solid"/>
          </a:ln>
        </p:spPr>
      </p:sp>
      <p:sp>
        <p:nvSpPr>
          <p:cNvPr id="100" name="anim expert 5-11"/>
          <p:cNvSpPr/>
          <p:nvPr/>
        </p:nvSpPr>
        <p:spPr>
          <a:xfrm>
            <a:off x="5294376" y="1892808"/>
            <a:ext cx="137160" cy="137160"/>
          </a:xfrm>
          <a:prstGeom prst="rect">
            <a:avLst/>
          </a:prstGeom>
          <a:solidFill>
            <a:srgbClr val="D5DAE3"/>
          </a:solidFill>
          <a:ln w="12700">
            <a:solidFill>
              <a:srgbClr val="D5DAE3"/>
            </a:solidFill>
            <a:prstDash val="solid"/>
          </a:ln>
        </p:spPr>
      </p:sp>
      <p:sp>
        <p:nvSpPr>
          <p:cNvPr id="101" name="anim expert 5-12"/>
          <p:cNvSpPr/>
          <p:nvPr/>
        </p:nvSpPr>
        <p:spPr>
          <a:xfrm>
            <a:off x="5468112" y="1892808"/>
            <a:ext cx="137160" cy="137160"/>
          </a:xfrm>
          <a:prstGeom prst="rect">
            <a:avLst/>
          </a:prstGeom>
          <a:solidFill>
            <a:srgbClr val="D5DAE3"/>
          </a:solidFill>
          <a:ln w="12700">
            <a:solidFill>
              <a:srgbClr val="D5DAE3"/>
            </a:solidFill>
            <a:prstDash val="solid"/>
          </a:ln>
        </p:spPr>
      </p:sp>
      <p:sp>
        <p:nvSpPr>
          <p:cNvPr id="102" name="anim expert 5-13"/>
          <p:cNvSpPr/>
          <p:nvPr/>
        </p:nvSpPr>
        <p:spPr>
          <a:xfrm>
            <a:off x="5641848" y="1892808"/>
            <a:ext cx="137160" cy="137160"/>
          </a:xfrm>
          <a:prstGeom prst="rect">
            <a:avLst/>
          </a:prstGeom>
          <a:solidFill>
            <a:srgbClr val="D5DAE3"/>
          </a:solidFill>
          <a:ln w="12700">
            <a:solidFill>
              <a:srgbClr val="D5DAE3"/>
            </a:solidFill>
            <a:prstDash val="solid"/>
          </a:ln>
        </p:spPr>
      </p:sp>
      <p:sp>
        <p:nvSpPr>
          <p:cNvPr id="103" name="anim expert 5-14"/>
          <p:cNvSpPr/>
          <p:nvPr/>
        </p:nvSpPr>
        <p:spPr>
          <a:xfrm>
            <a:off x="5815584" y="1892808"/>
            <a:ext cx="137160" cy="137160"/>
          </a:xfrm>
          <a:prstGeom prst="rect">
            <a:avLst/>
          </a:prstGeom>
          <a:solidFill>
            <a:srgbClr val="D5DAE3"/>
          </a:solidFill>
          <a:ln w="12700">
            <a:solidFill>
              <a:srgbClr val="D5DAE3"/>
            </a:solidFill>
            <a:prstDash val="solid"/>
          </a:ln>
        </p:spPr>
      </p:sp>
      <p:sp>
        <p:nvSpPr>
          <p:cNvPr id="104" name="anim expert 5-15"/>
          <p:cNvSpPr/>
          <p:nvPr/>
        </p:nvSpPr>
        <p:spPr>
          <a:xfrm>
            <a:off x="5989320" y="1892808"/>
            <a:ext cx="137160" cy="137160"/>
          </a:xfrm>
          <a:prstGeom prst="rect">
            <a:avLst/>
          </a:prstGeom>
          <a:solidFill>
            <a:srgbClr val="D5DAE3"/>
          </a:solidFill>
          <a:ln w="12700">
            <a:solidFill>
              <a:srgbClr val="D5DAE3"/>
            </a:solidFill>
            <a:prstDash val="solid"/>
          </a:ln>
        </p:spPr>
      </p:sp>
      <p:sp>
        <p:nvSpPr>
          <p:cNvPr id="105" name="anim expert 6-0"/>
          <p:cNvSpPr/>
          <p:nvPr/>
        </p:nvSpPr>
        <p:spPr>
          <a:xfrm>
            <a:off x="3383280" y="2066544"/>
            <a:ext cx="137160" cy="137160"/>
          </a:xfrm>
          <a:prstGeom prst="rect">
            <a:avLst/>
          </a:prstGeom>
          <a:solidFill>
            <a:srgbClr val="D5DAE3"/>
          </a:solidFill>
          <a:ln w="12700">
            <a:solidFill>
              <a:srgbClr val="D5DAE3"/>
            </a:solidFill>
            <a:prstDash val="solid"/>
          </a:ln>
        </p:spPr>
      </p:sp>
      <p:sp>
        <p:nvSpPr>
          <p:cNvPr id="106" name="anim expert 6-1"/>
          <p:cNvSpPr/>
          <p:nvPr/>
        </p:nvSpPr>
        <p:spPr>
          <a:xfrm>
            <a:off x="3557016" y="2066544"/>
            <a:ext cx="137160" cy="137160"/>
          </a:xfrm>
          <a:prstGeom prst="rect">
            <a:avLst/>
          </a:prstGeom>
          <a:solidFill>
            <a:srgbClr val="D5DAE3"/>
          </a:solidFill>
          <a:ln w="12700">
            <a:solidFill>
              <a:srgbClr val="D5DAE3"/>
            </a:solidFill>
            <a:prstDash val="solid"/>
          </a:ln>
        </p:spPr>
      </p:sp>
      <p:sp>
        <p:nvSpPr>
          <p:cNvPr id="107" name="anim expert 6-2"/>
          <p:cNvSpPr/>
          <p:nvPr/>
        </p:nvSpPr>
        <p:spPr>
          <a:xfrm>
            <a:off x="3730752" y="2066544"/>
            <a:ext cx="137160" cy="137160"/>
          </a:xfrm>
          <a:prstGeom prst="rect">
            <a:avLst/>
          </a:prstGeom>
          <a:solidFill>
            <a:srgbClr val="D5DAE3"/>
          </a:solidFill>
          <a:ln w="12700">
            <a:solidFill>
              <a:srgbClr val="D5DAE3"/>
            </a:solidFill>
            <a:prstDash val="solid"/>
          </a:ln>
        </p:spPr>
      </p:sp>
      <p:sp>
        <p:nvSpPr>
          <p:cNvPr id="108" name="anim expert 6-3"/>
          <p:cNvSpPr/>
          <p:nvPr/>
        </p:nvSpPr>
        <p:spPr>
          <a:xfrm>
            <a:off x="3904488" y="2066544"/>
            <a:ext cx="137160" cy="137160"/>
          </a:xfrm>
          <a:prstGeom prst="rect">
            <a:avLst/>
          </a:prstGeom>
          <a:solidFill>
            <a:srgbClr val="D5DAE3"/>
          </a:solidFill>
          <a:ln w="12700">
            <a:solidFill>
              <a:srgbClr val="D5DAE3"/>
            </a:solidFill>
            <a:prstDash val="solid"/>
          </a:ln>
        </p:spPr>
      </p:sp>
      <p:sp>
        <p:nvSpPr>
          <p:cNvPr id="109" name="anim expert 6-4"/>
          <p:cNvSpPr/>
          <p:nvPr/>
        </p:nvSpPr>
        <p:spPr>
          <a:xfrm>
            <a:off x="4078224" y="2066544"/>
            <a:ext cx="137160" cy="137160"/>
          </a:xfrm>
          <a:prstGeom prst="rect">
            <a:avLst/>
          </a:prstGeom>
          <a:solidFill>
            <a:srgbClr val="D5DAE3"/>
          </a:solidFill>
          <a:ln w="12700">
            <a:solidFill>
              <a:srgbClr val="D5DAE3"/>
            </a:solidFill>
            <a:prstDash val="solid"/>
          </a:ln>
        </p:spPr>
      </p:sp>
      <p:sp>
        <p:nvSpPr>
          <p:cNvPr id="110" name="anim expert 6-5"/>
          <p:cNvSpPr/>
          <p:nvPr/>
        </p:nvSpPr>
        <p:spPr>
          <a:xfrm>
            <a:off x="4251960" y="2066544"/>
            <a:ext cx="137160" cy="137160"/>
          </a:xfrm>
          <a:prstGeom prst="rect">
            <a:avLst/>
          </a:prstGeom>
          <a:solidFill>
            <a:srgbClr val="D5DAE3"/>
          </a:solidFill>
          <a:ln w="12700">
            <a:solidFill>
              <a:srgbClr val="D5DAE3"/>
            </a:solidFill>
            <a:prstDash val="solid"/>
          </a:ln>
        </p:spPr>
      </p:sp>
      <p:sp>
        <p:nvSpPr>
          <p:cNvPr id="111" name="anim expert 6-6"/>
          <p:cNvSpPr/>
          <p:nvPr/>
        </p:nvSpPr>
        <p:spPr>
          <a:xfrm>
            <a:off x="4425696" y="2066544"/>
            <a:ext cx="137160" cy="137160"/>
          </a:xfrm>
          <a:prstGeom prst="rect">
            <a:avLst/>
          </a:prstGeom>
          <a:solidFill>
            <a:srgbClr val="D5DAE3"/>
          </a:solidFill>
          <a:ln w="12700">
            <a:solidFill>
              <a:srgbClr val="D5DAE3"/>
            </a:solidFill>
            <a:prstDash val="solid"/>
          </a:ln>
        </p:spPr>
      </p:sp>
      <p:sp>
        <p:nvSpPr>
          <p:cNvPr id="112" name="anim expert 6-7"/>
          <p:cNvSpPr/>
          <p:nvPr/>
        </p:nvSpPr>
        <p:spPr>
          <a:xfrm>
            <a:off x="4599432" y="2066544"/>
            <a:ext cx="137160" cy="137160"/>
          </a:xfrm>
          <a:prstGeom prst="rect">
            <a:avLst/>
          </a:prstGeom>
          <a:solidFill>
            <a:srgbClr val="D5DAE3"/>
          </a:solidFill>
          <a:ln w="12700">
            <a:solidFill>
              <a:srgbClr val="D5DAE3"/>
            </a:solidFill>
            <a:prstDash val="solid"/>
          </a:ln>
        </p:spPr>
      </p:sp>
      <p:sp>
        <p:nvSpPr>
          <p:cNvPr id="113" name="anim expert 6-8"/>
          <p:cNvSpPr/>
          <p:nvPr/>
        </p:nvSpPr>
        <p:spPr>
          <a:xfrm>
            <a:off x="4773168" y="2066544"/>
            <a:ext cx="137160" cy="137160"/>
          </a:xfrm>
          <a:prstGeom prst="rect">
            <a:avLst/>
          </a:prstGeom>
          <a:solidFill>
            <a:srgbClr val="D5DAE3"/>
          </a:solidFill>
          <a:ln w="12700">
            <a:solidFill>
              <a:srgbClr val="D5DAE3"/>
            </a:solidFill>
            <a:prstDash val="solid"/>
          </a:ln>
        </p:spPr>
      </p:sp>
      <p:sp>
        <p:nvSpPr>
          <p:cNvPr id="114" name="anim expert 6-9"/>
          <p:cNvSpPr/>
          <p:nvPr/>
        </p:nvSpPr>
        <p:spPr>
          <a:xfrm>
            <a:off x="4946904" y="2066544"/>
            <a:ext cx="137160" cy="137160"/>
          </a:xfrm>
          <a:prstGeom prst="rect">
            <a:avLst/>
          </a:prstGeom>
          <a:solidFill>
            <a:srgbClr val="D5DAE3"/>
          </a:solidFill>
          <a:ln w="12700">
            <a:solidFill>
              <a:srgbClr val="D5DAE3"/>
            </a:solidFill>
            <a:prstDash val="solid"/>
          </a:ln>
        </p:spPr>
      </p:sp>
      <p:sp>
        <p:nvSpPr>
          <p:cNvPr id="115" name="anim expert 6-10"/>
          <p:cNvSpPr/>
          <p:nvPr/>
        </p:nvSpPr>
        <p:spPr>
          <a:xfrm>
            <a:off x="5120640" y="2066544"/>
            <a:ext cx="137160" cy="137160"/>
          </a:xfrm>
          <a:prstGeom prst="rect">
            <a:avLst/>
          </a:prstGeom>
          <a:solidFill>
            <a:srgbClr val="D5DAE3"/>
          </a:solidFill>
          <a:ln w="12700">
            <a:solidFill>
              <a:srgbClr val="D5DAE3"/>
            </a:solidFill>
            <a:prstDash val="solid"/>
          </a:ln>
        </p:spPr>
      </p:sp>
      <p:sp>
        <p:nvSpPr>
          <p:cNvPr id="116" name="anim expert 6-11"/>
          <p:cNvSpPr/>
          <p:nvPr/>
        </p:nvSpPr>
        <p:spPr>
          <a:xfrm>
            <a:off x="5294376" y="2066544"/>
            <a:ext cx="137160" cy="137160"/>
          </a:xfrm>
          <a:prstGeom prst="rect">
            <a:avLst/>
          </a:prstGeom>
          <a:solidFill>
            <a:srgbClr val="D5DAE3"/>
          </a:solidFill>
          <a:ln w="12700">
            <a:solidFill>
              <a:srgbClr val="D5DAE3"/>
            </a:solidFill>
            <a:prstDash val="solid"/>
          </a:ln>
        </p:spPr>
      </p:sp>
      <p:sp>
        <p:nvSpPr>
          <p:cNvPr id="117" name="anim expert 6-12"/>
          <p:cNvSpPr/>
          <p:nvPr/>
        </p:nvSpPr>
        <p:spPr>
          <a:xfrm>
            <a:off x="5468112" y="2066544"/>
            <a:ext cx="137160" cy="137160"/>
          </a:xfrm>
          <a:prstGeom prst="rect">
            <a:avLst/>
          </a:prstGeom>
          <a:solidFill>
            <a:srgbClr val="D5DAE3"/>
          </a:solidFill>
          <a:ln w="12700">
            <a:solidFill>
              <a:srgbClr val="D5DAE3"/>
            </a:solidFill>
            <a:prstDash val="solid"/>
          </a:ln>
        </p:spPr>
      </p:sp>
      <p:sp>
        <p:nvSpPr>
          <p:cNvPr id="118" name="anim expert 6-13"/>
          <p:cNvSpPr/>
          <p:nvPr/>
        </p:nvSpPr>
        <p:spPr>
          <a:xfrm>
            <a:off x="5641848" y="2066544"/>
            <a:ext cx="137160" cy="137160"/>
          </a:xfrm>
          <a:prstGeom prst="rect">
            <a:avLst/>
          </a:prstGeom>
          <a:solidFill>
            <a:srgbClr val="D5DAE3"/>
          </a:solidFill>
          <a:ln w="12700">
            <a:solidFill>
              <a:srgbClr val="D5DAE3"/>
            </a:solidFill>
            <a:prstDash val="solid"/>
          </a:ln>
        </p:spPr>
      </p:sp>
      <p:sp>
        <p:nvSpPr>
          <p:cNvPr id="119" name="anim expert 6-14"/>
          <p:cNvSpPr/>
          <p:nvPr/>
        </p:nvSpPr>
        <p:spPr>
          <a:xfrm>
            <a:off x="5815584" y="2066544"/>
            <a:ext cx="137160" cy="137160"/>
          </a:xfrm>
          <a:prstGeom prst="rect">
            <a:avLst/>
          </a:prstGeom>
          <a:solidFill>
            <a:srgbClr val="D5DAE3"/>
          </a:solidFill>
          <a:ln w="12700">
            <a:solidFill>
              <a:srgbClr val="D5DAE3"/>
            </a:solidFill>
            <a:prstDash val="solid"/>
          </a:ln>
        </p:spPr>
      </p:sp>
      <p:sp>
        <p:nvSpPr>
          <p:cNvPr id="120" name="anim expert 6-15"/>
          <p:cNvSpPr/>
          <p:nvPr/>
        </p:nvSpPr>
        <p:spPr>
          <a:xfrm>
            <a:off x="5989320" y="2066544"/>
            <a:ext cx="137160" cy="137160"/>
          </a:xfrm>
          <a:prstGeom prst="rect">
            <a:avLst/>
          </a:prstGeom>
          <a:solidFill>
            <a:srgbClr val="D5DAE3"/>
          </a:solidFill>
          <a:ln w="12700">
            <a:solidFill>
              <a:srgbClr val="D5DAE3"/>
            </a:solidFill>
            <a:prstDash val="solid"/>
          </a:ln>
        </p:spPr>
      </p:sp>
      <p:sp>
        <p:nvSpPr>
          <p:cNvPr id="121" name="anim expert 7-0"/>
          <p:cNvSpPr/>
          <p:nvPr/>
        </p:nvSpPr>
        <p:spPr>
          <a:xfrm>
            <a:off x="3383280" y="2240280"/>
            <a:ext cx="137160" cy="137160"/>
          </a:xfrm>
          <a:prstGeom prst="rect">
            <a:avLst/>
          </a:prstGeom>
          <a:solidFill>
            <a:srgbClr val="D5DAE3"/>
          </a:solidFill>
          <a:ln w="12700">
            <a:solidFill>
              <a:srgbClr val="D5DAE3"/>
            </a:solidFill>
            <a:prstDash val="solid"/>
          </a:ln>
        </p:spPr>
      </p:sp>
      <p:sp>
        <p:nvSpPr>
          <p:cNvPr id="122" name="anim expert 7-1"/>
          <p:cNvSpPr/>
          <p:nvPr/>
        </p:nvSpPr>
        <p:spPr>
          <a:xfrm>
            <a:off x="3557016" y="2240280"/>
            <a:ext cx="137160" cy="137160"/>
          </a:xfrm>
          <a:prstGeom prst="rect">
            <a:avLst/>
          </a:prstGeom>
          <a:solidFill>
            <a:srgbClr val="D5DAE3"/>
          </a:solidFill>
          <a:ln w="12700">
            <a:solidFill>
              <a:srgbClr val="D5DAE3"/>
            </a:solidFill>
            <a:prstDash val="solid"/>
          </a:ln>
        </p:spPr>
      </p:sp>
      <p:sp>
        <p:nvSpPr>
          <p:cNvPr id="123" name="anim expert 7-2"/>
          <p:cNvSpPr/>
          <p:nvPr/>
        </p:nvSpPr>
        <p:spPr>
          <a:xfrm>
            <a:off x="3730752" y="2240280"/>
            <a:ext cx="137160" cy="137160"/>
          </a:xfrm>
          <a:prstGeom prst="rect">
            <a:avLst/>
          </a:prstGeom>
          <a:solidFill>
            <a:srgbClr val="D5DAE3"/>
          </a:solidFill>
          <a:ln w="12700">
            <a:solidFill>
              <a:srgbClr val="D5DAE3"/>
            </a:solidFill>
            <a:prstDash val="solid"/>
          </a:ln>
        </p:spPr>
      </p:sp>
      <p:sp>
        <p:nvSpPr>
          <p:cNvPr id="124" name="anim expert 7-3"/>
          <p:cNvSpPr/>
          <p:nvPr/>
        </p:nvSpPr>
        <p:spPr>
          <a:xfrm>
            <a:off x="3904488" y="2240280"/>
            <a:ext cx="137160" cy="137160"/>
          </a:xfrm>
          <a:prstGeom prst="rect">
            <a:avLst/>
          </a:prstGeom>
          <a:solidFill>
            <a:srgbClr val="D5DAE3"/>
          </a:solidFill>
          <a:ln w="12700">
            <a:solidFill>
              <a:srgbClr val="D5DAE3"/>
            </a:solidFill>
            <a:prstDash val="solid"/>
          </a:ln>
        </p:spPr>
      </p:sp>
      <p:sp>
        <p:nvSpPr>
          <p:cNvPr id="125" name="anim expert 7-4"/>
          <p:cNvSpPr/>
          <p:nvPr/>
        </p:nvSpPr>
        <p:spPr>
          <a:xfrm>
            <a:off x="4078224" y="2240280"/>
            <a:ext cx="137160" cy="137160"/>
          </a:xfrm>
          <a:prstGeom prst="rect">
            <a:avLst/>
          </a:prstGeom>
          <a:solidFill>
            <a:srgbClr val="D5DAE3"/>
          </a:solidFill>
          <a:ln w="12700">
            <a:solidFill>
              <a:srgbClr val="D5DAE3"/>
            </a:solidFill>
            <a:prstDash val="solid"/>
          </a:ln>
        </p:spPr>
      </p:sp>
      <p:sp>
        <p:nvSpPr>
          <p:cNvPr id="126" name="anim expert 7-5"/>
          <p:cNvSpPr/>
          <p:nvPr/>
        </p:nvSpPr>
        <p:spPr>
          <a:xfrm>
            <a:off x="4251960" y="2240280"/>
            <a:ext cx="137160" cy="137160"/>
          </a:xfrm>
          <a:prstGeom prst="rect">
            <a:avLst/>
          </a:prstGeom>
          <a:solidFill>
            <a:srgbClr val="D5DAE3"/>
          </a:solidFill>
          <a:ln w="12700">
            <a:solidFill>
              <a:srgbClr val="D5DAE3"/>
            </a:solidFill>
            <a:prstDash val="solid"/>
          </a:ln>
        </p:spPr>
      </p:sp>
      <p:sp>
        <p:nvSpPr>
          <p:cNvPr id="127" name="anim expert 7-6"/>
          <p:cNvSpPr/>
          <p:nvPr/>
        </p:nvSpPr>
        <p:spPr>
          <a:xfrm>
            <a:off x="4425696" y="2240280"/>
            <a:ext cx="137160" cy="137160"/>
          </a:xfrm>
          <a:prstGeom prst="rect">
            <a:avLst/>
          </a:prstGeom>
          <a:solidFill>
            <a:srgbClr val="D5DAE3"/>
          </a:solidFill>
          <a:ln w="12700">
            <a:solidFill>
              <a:srgbClr val="D5DAE3"/>
            </a:solidFill>
            <a:prstDash val="solid"/>
          </a:ln>
        </p:spPr>
      </p:sp>
      <p:sp>
        <p:nvSpPr>
          <p:cNvPr id="128" name="anim expert 7-7"/>
          <p:cNvSpPr/>
          <p:nvPr/>
        </p:nvSpPr>
        <p:spPr>
          <a:xfrm>
            <a:off x="4599432" y="2240280"/>
            <a:ext cx="137160" cy="137160"/>
          </a:xfrm>
          <a:prstGeom prst="rect">
            <a:avLst/>
          </a:prstGeom>
          <a:solidFill>
            <a:srgbClr val="D5DAE3"/>
          </a:solidFill>
          <a:ln w="12700">
            <a:solidFill>
              <a:srgbClr val="D5DAE3"/>
            </a:solidFill>
            <a:prstDash val="solid"/>
          </a:ln>
        </p:spPr>
      </p:sp>
      <p:sp>
        <p:nvSpPr>
          <p:cNvPr id="129" name="anim expert 7-8"/>
          <p:cNvSpPr/>
          <p:nvPr/>
        </p:nvSpPr>
        <p:spPr>
          <a:xfrm>
            <a:off x="4773168" y="2240280"/>
            <a:ext cx="137160" cy="137160"/>
          </a:xfrm>
          <a:prstGeom prst="rect">
            <a:avLst/>
          </a:prstGeom>
          <a:solidFill>
            <a:srgbClr val="D5DAE3"/>
          </a:solidFill>
          <a:ln w="12700">
            <a:solidFill>
              <a:srgbClr val="D5DAE3"/>
            </a:solidFill>
            <a:prstDash val="solid"/>
          </a:ln>
        </p:spPr>
      </p:sp>
      <p:sp>
        <p:nvSpPr>
          <p:cNvPr id="130" name="anim expert 7-9"/>
          <p:cNvSpPr/>
          <p:nvPr/>
        </p:nvSpPr>
        <p:spPr>
          <a:xfrm>
            <a:off x="4946904" y="2240280"/>
            <a:ext cx="137160" cy="137160"/>
          </a:xfrm>
          <a:prstGeom prst="rect">
            <a:avLst/>
          </a:prstGeom>
          <a:solidFill>
            <a:srgbClr val="D5DAE3"/>
          </a:solidFill>
          <a:ln w="12700">
            <a:solidFill>
              <a:srgbClr val="D5DAE3"/>
            </a:solidFill>
            <a:prstDash val="solid"/>
          </a:ln>
        </p:spPr>
      </p:sp>
      <p:sp>
        <p:nvSpPr>
          <p:cNvPr id="131" name="anim expert 7-10"/>
          <p:cNvSpPr/>
          <p:nvPr/>
        </p:nvSpPr>
        <p:spPr>
          <a:xfrm>
            <a:off x="5120640" y="2240280"/>
            <a:ext cx="137160" cy="137160"/>
          </a:xfrm>
          <a:prstGeom prst="rect">
            <a:avLst/>
          </a:prstGeom>
          <a:solidFill>
            <a:srgbClr val="D5DAE3"/>
          </a:solidFill>
          <a:ln w="12700">
            <a:solidFill>
              <a:srgbClr val="D5DAE3"/>
            </a:solidFill>
            <a:prstDash val="solid"/>
          </a:ln>
        </p:spPr>
      </p:sp>
      <p:sp>
        <p:nvSpPr>
          <p:cNvPr id="132" name="anim expert 7-11"/>
          <p:cNvSpPr/>
          <p:nvPr/>
        </p:nvSpPr>
        <p:spPr>
          <a:xfrm>
            <a:off x="5294376" y="2240280"/>
            <a:ext cx="137160" cy="137160"/>
          </a:xfrm>
          <a:prstGeom prst="rect">
            <a:avLst/>
          </a:prstGeom>
          <a:solidFill>
            <a:srgbClr val="D5DAE3"/>
          </a:solidFill>
          <a:ln w="12700">
            <a:solidFill>
              <a:srgbClr val="D5DAE3"/>
            </a:solidFill>
            <a:prstDash val="solid"/>
          </a:ln>
        </p:spPr>
      </p:sp>
      <p:sp>
        <p:nvSpPr>
          <p:cNvPr id="133" name="anim expert 7-12"/>
          <p:cNvSpPr/>
          <p:nvPr/>
        </p:nvSpPr>
        <p:spPr>
          <a:xfrm>
            <a:off x="5468112" y="2240280"/>
            <a:ext cx="137160" cy="137160"/>
          </a:xfrm>
          <a:prstGeom prst="rect">
            <a:avLst/>
          </a:prstGeom>
          <a:solidFill>
            <a:srgbClr val="D5DAE3"/>
          </a:solidFill>
          <a:ln w="12700">
            <a:solidFill>
              <a:srgbClr val="D5DAE3"/>
            </a:solidFill>
            <a:prstDash val="solid"/>
          </a:ln>
        </p:spPr>
      </p:sp>
      <p:sp>
        <p:nvSpPr>
          <p:cNvPr id="134" name="anim expert 7-13"/>
          <p:cNvSpPr/>
          <p:nvPr/>
        </p:nvSpPr>
        <p:spPr>
          <a:xfrm>
            <a:off x="5641848" y="2240280"/>
            <a:ext cx="137160" cy="137160"/>
          </a:xfrm>
          <a:prstGeom prst="rect">
            <a:avLst/>
          </a:prstGeom>
          <a:solidFill>
            <a:srgbClr val="D5DAE3"/>
          </a:solidFill>
          <a:ln w="12700">
            <a:solidFill>
              <a:srgbClr val="D5DAE3"/>
            </a:solidFill>
            <a:prstDash val="solid"/>
          </a:ln>
        </p:spPr>
      </p:sp>
      <p:sp>
        <p:nvSpPr>
          <p:cNvPr id="135" name="anim expert 7-14"/>
          <p:cNvSpPr/>
          <p:nvPr/>
        </p:nvSpPr>
        <p:spPr>
          <a:xfrm>
            <a:off x="5815584" y="2240280"/>
            <a:ext cx="137160" cy="137160"/>
          </a:xfrm>
          <a:prstGeom prst="rect">
            <a:avLst/>
          </a:prstGeom>
          <a:solidFill>
            <a:srgbClr val="D5DAE3"/>
          </a:solidFill>
          <a:ln w="12700">
            <a:solidFill>
              <a:srgbClr val="D5DAE3"/>
            </a:solidFill>
            <a:prstDash val="solid"/>
          </a:ln>
        </p:spPr>
      </p:sp>
      <p:sp>
        <p:nvSpPr>
          <p:cNvPr id="136" name="anim expert 7-15"/>
          <p:cNvSpPr/>
          <p:nvPr/>
        </p:nvSpPr>
        <p:spPr>
          <a:xfrm>
            <a:off x="5989320" y="2240280"/>
            <a:ext cx="137160" cy="137160"/>
          </a:xfrm>
          <a:prstGeom prst="rect">
            <a:avLst/>
          </a:prstGeom>
          <a:solidFill>
            <a:srgbClr val="D5DAE3"/>
          </a:solidFill>
          <a:ln w="12700">
            <a:solidFill>
              <a:srgbClr val="D5DAE3"/>
            </a:solidFill>
            <a:prstDash val="solid"/>
          </a:ln>
        </p:spPr>
      </p:sp>
      <p:sp>
        <p:nvSpPr>
          <p:cNvPr id="137" name="anim expert 8-0"/>
          <p:cNvSpPr/>
          <p:nvPr/>
        </p:nvSpPr>
        <p:spPr>
          <a:xfrm>
            <a:off x="3383280" y="2414016"/>
            <a:ext cx="137160" cy="137160"/>
          </a:xfrm>
          <a:prstGeom prst="rect">
            <a:avLst/>
          </a:prstGeom>
          <a:solidFill>
            <a:srgbClr val="D5DAE3"/>
          </a:solidFill>
          <a:ln w="12700">
            <a:solidFill>
              <a:srgbClr val="D5DAE3"/>
            </a:solidFill>
            <a:prstDash val="solid"/>
          </a:ln>
        </p:spPr>
      </p:sp>
      <p:sp>
        <p:nvSpPr>
          <p:cNvPr id="138" name="anim expert 8-1"/>
          <p:cNvSpPr/>
          <p:nvPr/>
        </p:nvSpPr>
        <p:spPr>
          <a:xfrm>
            <a:off x="3557016" y="2414016"/>
            <a:ext cx="137160" cy="137160"/>
          </a:xfrm>
          <a:prstGeom prst="rect">
            <a:avLst/>
          </a:prstGeom>
          <a:solidFill>
            <a:srgbClr val="D5DAE3"/>
          </a:solidFill>
          <a:ln w="12700">
            <a:solidFill>
              <a:srgbClr val="D5DAE3"/>
            </a:solidFill>
            <a:prstDash val="solid"/>
          </a:ln>
        </p:spPr>
      </p:sp>
      <p:sp>
        <p:nvSpPr>
          <p:cNvPr id="139" name="anim expert 8-2"/>
          <p:cNvSpPr/>
          <p:nvPr/>
        </p:nvSpPr>
        <p:spPr>
          <a:xfrm>
            <a:off x="3730752" y="2414016"/>
            <a:ext cx="137160" cy="137160"/>
          </a:xfrm>
          <a:prstGeom prst="rect">
            <a:avLst/>
          </a:prstGeom>
          <a:solidFill>
            <a:srgbClr val="D5DAE3"/>
          </a:solidFill>
          <a:ln w="12700">
            <a:solidFill>
              <a:srgbClr val="D5DAE3"/>
            </a:solidFill>
            <a:prstDash val="solid"/>
          </a:ln>
        </p:spPr>
      </p:sp>
      <p:sp>
        <p:nvSpPr>
          <p:cNvPr id="140" name="anim expert 8-3"/>
          <p:cNvSpPr/>
          <p:nvPr/>
        </p:nvSpPr>
        <p:spPr>
          <a:xfrm>
            <a:off x="3904488" y="2414016"/>
            <a:ext cx="137160" cy="137160"/>
          </a:xfrm>
          <a:prstGeom prst="rect">
            <a:avLst/>
          </a:prstGeom>
          <a:solidFill>
            <a:srgbClr val="D5DAE3"/>
          </a:solidFill>
          <a:ln w="12700">
            <a:solidFill>
              <a:srgbClr val="D5DAE3"/>
            </a:solidFill>
            <a:prstDash val="solid"/>
          </a:ln>
        </p:spPr>
      </p:sp>
      <p:sp>
        <p:nvSpPr>
          <p:cNvPr id="141" name="anim expert 8-4"/>
          <p:cNvSpPr/>
          <p:nvPr/>
        </p:nvSpPr>
        <p:spPr>
          <a:xfrm>
            <a:off x="4078224" y="2414016"/>
            <a:ext cx="137160" cy="137160"/>
          </a:xfrm>
          <a:prstGeom prst="rect">
            <a:avLst/>
          </a:prstGeom>
          <a:solidFill>
            <a:srgbClr val="D5DAE3"/>
          </a:solidFill>
          <a:ln w="12700">
            <a:solidFill>
              <a:srgbClr val="D5DAE3"/>
            </a:solidFill>
            <a:prstDash val="solid"/>
          </a:ln>
        </p:spPr>
      </p:sp>
      <p:sp>
        <p:nvSpPr>
          <p:cNvPr id="142" name="anim expert 8-5"/>
          <p:cNvSpPr/>
          <p:nvPr/>
        </p:nvSpPr>
        <p:spPr>
          <a:xfrm>
            <a:off x="4251960" y="2414016"/>
            <a:ext cx="137160" cy="137160"/>
          </a:xfrm>
          <a:prstGeom prst="rect">
            <a:avLst/>
          </a:prstGeom>
          <a:solidFill>
            <a:srgbClr val="D5DAE3"/>
          </a:solidFill>
          <a:ln w="12700">
            <a:solidFill>
              <a:srgbClr val="D5DAE3"/>
            </a:solidFill>
            <a:prstDash val="solid"/>
          </a:ln>
        </p:spPr>
      </p:sp>
      <p:sp>
        <p:nvSpPr>
          <p:cNvPr id="143" name="anim expert 8-6"/>
          <p:cNvSpPr/>
          <p:nvPr/>
        </p:nvSpPr>
        <p:spPr>
          <a:xfrm>
            <a:off x="4425696" y="2414016"/>
            <a:ext cx="137160" cy="137160"/>
          </a:xfrm>
          <a:prstGeom prst="rect">
            <a:avLst/>
          </a:prstGeom>
          <a:solidFill>
            <a:srgbClr val="D5DAE3"/>
          </a:solidFill>
          <a:ln w="12700">
            <a:solidFill>
              <a:srgbClr val="D5DAE3"/>
            </a:solidFill>
            <a:prstDash val="solid"/>
          </a:ln>
        </p:spPr>
      </p:sp>
      <p:sp>
        <p:nvSpPr>
          <p:cNvPr id="144" name="anim expert 8-7"/>
          <p:cNvSpPr/>
          <p:nvPr/>
        </p:nvSpPr>
        <p:spPr>
          <a:xfrm>
            <a:off x="4599432" y="2414016"/>
            <a:ext cx="137160" cy="137160"/>
          </a:xfrm>
          <a:prstGeom prst="rect">
            <a:avLst/>
          </a:prstGeom>
          <a:solidFill>
            <a:srgbClr val="D5DAE3"/>
          </a:solidFill>
          <a:ln w="12700">
            <a:solidFill>
              <a:srgbClr val="D5DAE3"/>
            </a:solidFill>
            <a:prstDash val="solid"/>
          </a:ln>
        </p:spPr>
      </p:sp>
      <p:sp>
        <p:nvSpPr>
          <p:cNvPr id="145" name="anim expert 8-8"/>
          <p:cNvSpPr/>
          <p:nvPr/>
        </p:nvSpPr>
        <p:spPr>
          <a:xfrm>
            <a:off x="4773168" y="2414016"/>
            <a:ext cx="137160" cy="137160"/>
          </a:xfrm>
          <a:prstGeom prst="rect">
            <a:avLst/>
          </a:prstGeom>
          <a:solidFill>
            <a:srgbClr val="D5DAE3"/>
          </a:solidFill>
          <a:ln w="12700">
            <a:solidFill>
              <a:srgbClr val="D5DAE3"/>
            </a:solidFill>
            <a:prstDash val="solid"/>
          </a:ln>
        </p:spPr>
      </p:sp>
      <p:sp>
        <p:nvSpPr>
          <p:cNvPr id="146" name="anim expert 8-9"/>
          <p:cNvSpPr/>
          <p:nvPr/>
        </p:nvSpPr>
        <p:spPr>
          <a:xfrm>
            <a:off x="4946904" y="2414016"/>
            <a:ext cx="137160" cy="137160"/>
          </a:xfrm>
          <a:prstGeom prst="rect">
            <a:avLst/>
          </a:prstGeom>
          <a:solidFill>
            <a:srgbClr val="D5DAE3"/>
          </a:solidFill>
          <a:ln w="12700">
            <a:solidFill>
              <a:srgbClr val="D5DAE3"/>
            </a:solidFill>
            <a:prstDash val="solid"/>
          </a:ln>
        </p:spPr>
      </p:sp>
      <p:sp>
        <p:nvSpPr>
          <p:cNvPr id="147" name="anim expert 8-10"/>
          <p:cNvSpPr/>
          <p:nvPr/>
        </p:nvSpPr>
        <p:spPr>
          <a:xfrm>
            <a:off x="5120640" y="2414016"/>
            <a:ext cx="137160" cy="137160"/>
          </a:xfrm>
          <a:prstGeom prst="rect">
            <a:avLst/>
          </a:prstGeom>
          <a:solidFill>
            <a:srgbClr val="D5DAE3"/>
          </a:solidFill>
          <a:ln w="12700">
            <a:solidFill>
              <a:srgbClr val="D5DAE3"/>
            </a:solidFill>
            <a:prstDash val="solid"/>
          </a:ln>
        </p:spPr>
      </p:sp>
      <p:sp>
        <p:nvSpPr>
          <p:cNvPr id="148" name="anim expert 8-11"/>
          <p:cNvSpPr/>
          <p:nvPr/>
        </p:nvSpPr>
        <p:spPr>
          <a:xfrm>
            <a:off x="5294376" y="2414016"/>
            <a:ext cx="137160" cy="137160"/>
          </a:xfrm>
          <a:prstGeom prst="rect">
            <a:avLst/>
          </a:prstGeom>
          <a:solidFill>
            <a:srgbClr val="D5DAE3"/>
          </a:solidFill>
          <a:ln w="12700">
            <a:solidFill>
              <a:srgbClr val="D5DAE3"/>
            </a:solidFill>
            <a:prstDash val="solid"/>
          </a:ln>
        </p:spPr>
      </p:sp>
      <p:sp>
        <p:nvSpPr>
          <p:cNvPr id="149" name="anim expert 8-12"/>
          <p:cNvSpPr/>
          <p:nvPr/>
        </p:nvSpPr>
        <p:spPr>
          <a:xfrm>
            <a:off x="5468112" y="2414016"/>
            <a:ext cx="137160" cy="137160"/>
          </a:xfrm>
          <a:prstGeom prst="rect">
            <a:avLst/>
          </a:prstGeom>
          <a:solidFill>
            <a:srgbClr val="D5DAE3"/>
          </a:solidFill>
          <a:ln w="12700">
            <a:solidFill>
              <a:srgbClr val="D5DAE3"/>
            </a:solidFill>
            <a:prstDash val="solid"/>
          </a:ln>
        </p:spPr>
      </p:sp>
      <p:sp>
        <p:nvSpPr>
          <p:cNvPr id="150" name="anim expert 8-13"/>
          <p:cNvSpPr/>
          <p:nvPr/>
        </p:nvSpPr>
        <p:spPr>
          <a:xfrm>
            <a:off x="5641848" y="2414016"/>
            <a:ext cx="137160" cy="137160"/>
          </a:xfrm>
          <a:prstGeom prst="rect">
            <a:avLst/>
          </a:prstGeom>
          <a:solidFill>
            <a:srgbClr val="D5DAE3"/>
          </a:solidFill>
          <a:ln w="12700">
            <a:solidFill>
              <a:srgbClr val="D5DAE3"/>
            </a:solidFill>
            <a:prstDash val="solid"/>
          </a:ln>
        </p:spPr>
      </p:sp>
      <p:sp>
        <p:nvSpPr>
          <p:cNvPr id="151" name="anim expert 8-14"/>
          <p:cNvSpPr/>
          <p:nvPr/>
        </p:nvSpPr>
        <p:spPr>
          <a:xfrm>
            <a:off x="5815584" y="2414016"/>
            <a:ext cx="137160" cy="137160"/>
          </a:xfrm>
          <a:prstGeom prst="rect">
            <a:avLst/>
          </a:prstGeom>
          <a:solidFill>
            <a:srgbClr val="D5DAE3"/>
          </a:solidFill>
          <a:ln w="12700">
            <a:solidFill>
              <a:srgbClr val="D5DAE3"/>
            </a:solidFill>
            <a:prstDash val="solid"/>
          </a:ln>
        </p:spPr>
      </p:sp>
      <p:sp>
        <p:nvSpPr>
          <p:cNvPr id="152" name="anim expert 8-15"/>
          <p:cNvSpPr/>
          <p:nvPr/>
        </p:nvSpPr>
        <p:spPr>
          <a:xfrm>
            <a:off x="5989320" y="2414016"/>
            <a:ext cx="137160" cy="137160"/>
          </a:xfrm>
          <a:prstGeom prst="rect">
            <a:avLst/>
          </a:prstGeom>
          <a:solidFill>
            <a:srgbClr val="D5DAE3"/>
          </a:solidFill>
          <a:ln w="12700">
            <a:solidFill>
              <a:srgbClr val="D5DAE3"/>
            </a:solidFill>
            <a:prstDash val="solid"/>
          </a:ln>
        </p:spPr>
      </p:sp>
      <p:sp>
        <p:nvSpPr>
          <p:cNvPr id="153" name="anim expert 9-0"/>
          <p:cNvSpPr/>
          <p:nvPr/>
        </p:nvSpPr>
        <p:spPr>
          <a:xfrm>
            <a:off x="3383280" y="2587752"/>
            <a:ext cx="137160" cy="137160"/>
          </a:xfrm>
          <a:prstGeom prst="rect">
            <a:avLst/>
          </a:prstGeom>
          <a:solidFill>
            <a:srgbClr val="D5DAE3"/>
          </a:solidFill>
          <a:ln w="12700">
            <a:solidFill>
              <a:srgbClr val="D5DAE3"/>
            </a:solidFill>
            <a:prstDash val="solid"/>
          </a:ln>
        </p:spPr>
      </p:sp>
      <p:sp>
        <p:nvSpPr>
          <p:cNvPr id="154" name="anim expert 9-1"/>
          <p:cNvSpPr/>
          <p:nvPr/>
        </p:nvSpPr>
        <p:spPr>
          <a:xfrm>
            <a:off x="3557016" y="2587752"/>
            <a:ext cx="137160" cy="137160"/>
          </a:xfrm>
          <a:prstGeom prst="rect">
            <a:avLst/>
          </a:prstGeom>
          <a:solidFill>
            <a:srgbClr val="D5DAE3"/>
          </a:solidFill>
          <a:ln w="12700">
            <a:solidFill>
              <a:srgbClr val="D5DAE3"/>
            </a:solidFill>
            <a:prstDash val="solid"/>
          </a:ln>
        </p:spPr>
      </p:sp>
      <p:sp>
        <p:nvSpPr>
          <p:cNvPr id="155" name="anim expert 9-2"/>
          <p:cNvSpPr/>
          <p:nvPr/>
        </p:nvSpPr>
        <p:spPr>
          <a:xfrm>
            <a:off x="3730752" y="2587752"/>
            <a:ext cx="137160" cy="137160"/>
          </a:xfrm>
          <a:prstGeom prst="rect">
            <a:avLst/>
          </a:prstGeom>
          <a:solidFill>
            <a:srgbClr val="D5DAE3"/>
          </a:solidFill>
          <a:ln w="12700">
            <a:solidFill>
              <a:srgbClr val="D5DAE3"/>
            </a:solidFill>
            <a:prstDash val="solid"/>
          </a:ln>
        </p:spPr>
      </p:sp>
      <p:sp>
        <p:nvSpPr>
          <p:cNvPr id="156" name="anim expert 9-3"/>
          <p:cNvSpPr/>
          <p:nvPr/>
        </p:nvSpPr>
        <p:spPr>
          <a:xfrm>
            <a:off x="3904488" y="2587752"/>
            <a:ext cx="137160" cy="137160"/>
          </a:xfrm>
          <a:prstGeom prst="rect">
            <a:avLst/>
          </a:prstGeom>
          <a:solidFill>
            <a:srgbClr val="D5DAE3"/>
          </a:solidFill>
          <a:ln w="12700">
            <a:solidFill>
              <a:srgbClr val="D5DAE3"/>
            </a:solidFill>
            <a:prstDash val="solid"/>
          </a:ln>
        </p:spPr>
      </p:sp>
      <p:sp>
        <p:nvSpPr>
          <p:cNvPr id="157" name="anim expert 9-4"/>
          <p:cNvSpPr/>
          <p:nvPr/>
        </p:nvSpPr>
        <p:spPr>
          <a:xfrm>
            <a:off x="4078224" y="2587752"/>
            <a:ext cx="137160" cy="137160"/>
          </a:xfrm>
          <a:prstGeom prst="rect">
            <a:avLst/>
          </a:prstGeom>
          <a:solidFill>
            <a:srgbClr val="D5DAE3"/>
          </a:solidFill>
          <a:ln w="12700">
            <a:solidFill>
              <a:srgbClr val="D5DAE3"/>
            </a:solidFill>
            <a:prstDash val="solid"/>
          </a:ln>
        </p:spPr>
      </p:sp>
      <p:sp>
        <p:nvSpPr>
          <p:cNvPr id="158" name="anim expert 9-5"/>
          <p:cNvSpPr/>
          <p:nvPr/>
        </p:nvSpPr>
        <p:spPr>
          <a:xfrm>
            <a:off x="4251960" y="2587752"/>
            <a:ext cx="137160" cy="137160"/>
          </a:xfrm>
          <a:prstGeom prst="rect">
            <a:avLst/>
          </a:prstGeom>
          <a:solidFill>
            <a:srgbClr val="D5DAE3"/>
          </a:solidFill>
          <a:ln w="12700">
            <a:solidFill>
              <a:srgbClr val="D5DAE3"/>
            </a:solidFill>
            <a:prstDash val="solid"/>
          </a:ln>
        </p:spPr>
      </p:sp>
      <p:sp>
        <p:nvSpPr>
          <p:cNvPr id="159" name="anim expert 9-6"/>
          <p:cNvSpPr/>
          <p:nvPr/>
        </p:nvSpPr>
        <p:spPr>
          <a:xfrm>
            <a:off x="4425696" y="2587752"/>
            <a:ext cx="137160" cy="137160"/>
          </a:xfrm>
          <a:prstGeom prst="rect">
            <a:avLst/>
          </a:prstGeom>
          <a:solidFill>
            <a:srgbClr val="D5DAE3"/>
          </a:solidFill>
          <a:ln w="12700">
            <a:solidFill>
              <a:srgbClr val="D5DAE3"/>
            </a:solidFill>
            <a:prstDash val="solid"/>
          </a:ln>
        </p:spPr>
      </p:sp>
      <p:sp>
        <p:nvSpPr>
          <p:cNvPr id="160" name="anim expert 9-7"/>
          <p:cNvSpPr/>
          <p:nvPr/>
        </p:nvSpPr>
        <p:spPr>
          <a:xfrm>
            <a:off x="4599432" y="2587752"/>
            <a:ext cx="137160" cy="137160"/>
          </a:xfrm>
          <a:prstGeom prst="rect">
            <a:avLst/>
          </a:prstGeom>
          <a:solidFill>
            <a:srgbClr val="D5DAE3"/>
          </a:solidFill>
          <a:ln w="12700">
            <a:solidFill>
              <a:srgbClr val="D5DAE3"/>
            </a:solidFill>
            <a:prstDash val="solid"/>
          </a:ln>
        </p:spPr>
      </p:sp>
      <p:sp>
        <p:nvSpPr>
          <p:cNvPr id="161" name="anim expert 9-8"/>
          <p:cNvSpPr/>
          <p:nvPr/>
        </p:nvSpPr>
        <p:spPr>
          <a:xfrm>
            <a:off x="4773168" y="2587752"/>
            <a:ext cx="137160" cy="137160"/>
          </a:xfrm>
          <a:prstGeom prst="rect">
            <a:avLst/>
          </a:prstGeom>
          <a:solidFill>
            <a:srgbClr val="D5DAE3"/>
          </a:solidFill>
          <a:ln w="12700">
            <a:solidFill>
              <a:srgbClr val="D5DAE3"/>
            </a:solidFill>
            <a:prstDash val="solid"/>
          </a:ln>
        </p:spPr>
      </p:sp>
      <p:sp>
        <p:nvSpPr>
          <p:cNvPr id="162" name="anim expert 9-9"/>
          <p:cNvSpPr/>
          <p:nvPr/>
        </p:nvSpPr>
        <p:spPr>
          <a:xfrm>
            <a:off x="4946904" y="2587752"/>
            <a:ext cx="137160" cy="137160"/>
          </a:xfrm>
          <a:prstGeom prst="rect">
            <a:avLst/>
          </a:prstGeom>
          <a:solidFill>
            <a:srgbClr val="D5DAE3"/>
          </a:solidFill>
          <a:ln w="12700">
            <a:solidFill>
              <a:srgbClr val="D5DAE3"/>
            </a:solidFill>
            <a:prstDash val="solid"/>
          </a:ln>
        </p:spPr>
      </p:sp>
      <p:sp>
        <p:nvSpPr>
          <p:cNvPr id="163" name="anim expert 9-10"/>
          <p:cNvSpPr/>
          <p:nvPr/>
        </p:nvSpPr>
        <p:spPr>
          <a:xfrm>
            <a:off x="5120640" y="2587752"/>
            <a:ext cx="137160" cy="137160"/>
          </a:xfrm>
          <a:prstGeom prst="rect">
            <a:avLst/>
          </a:prstGeom>
          <a:solidFill>
            <a:srgbClr val="D5DAE3"/>
          </a:solidFill>
          <a:ln w="12700">
            <a:solidFill>
              <a:srgbClr val="D5DAE3"/>
            </a:solidFill>
            <a:prstDash val="solid"/>
          </a:ln>
        </p:spPr>
      </p:sp>
      <p:sp>
        <p:nvSpPr>
          <p:cNvPr id="164" name="anim expert 9-11"/>
          <p:cNvSpPr/>
          <p:nvPr/>
        </p:nvSpPr>
        <p:spPr>
          <a:xfrm>
            <a:off x="5294376" y="2587752"/>
            <a:ext cx="137160" cy="137160"/>
          </a:xfrm>
          <a:prstGeom prst="rect">
            <a:avLst/>
          </a:prstGeom>
          <a:solidFill>
            <a:srgbClr val="D5DAE3"/>
          </a:solidFill>
          <a:ln w="12700">
            <a:solidFill>
              <a:srgbClr val="D5DAE3"/>
            </a:solidFill>
            <a:prstDash val="solid"/>
          </a:ln>
        </p:spPr>
      </p:sp>
      <p:sp>
        <p:nvSpPr>
          <p:cNvPr id="165" name="anim expert 9-12"/>
          <p:cNvSpPr/>
          <p:nvPr/>
        </p:nvSpPr>
        <p:spPr>
          <a:xfrm>
            <a:off x="5468112" y="2587752"/>
            <a:ext cx="137160" cy="137160"/>
          </a:xfrm>
          <a:prstGeom prst="rect">
            <a:avLst/>
          </a:prstGeom>
          <a:solidFill>
            <a:srgbClr val="D5DAE3"/>
          </a:solidFill>
          <a:ln w="12700">
            <a:solidFill>
              <a:srgbClr val="D5DAE3"/>
            </a:solidFill>
            <a:prstDash val="solid"/>
          </a:ln>
        </p:spPr>
      </p:sp>
      <p:sp>
        <p:nvSpPr>
          <p:cNvPr id="166" name="anim expert 9-13"/>
          <p:cNvSpPr/>
          <p:nvPr/>
        </p:nvSpPr>
        <p:spPr>
          <a:xfrm>
            <a:off x="5641848" y="2587752"/>
            <a:ext cx="137160" cy="137160"/>
          </a:xfrm>
          <a:prstGeom prst="rect">
            <a:avLst/>
          </a:prstGeom>
          <a:solidFill>
            <a:srgbClr val="D5DAE3"/>
          </a:solidFill>
          <a:ln w="12700">
            <a:solidFill>
              <a:srgbClr val="D5DAE3"/>
            </a:solidFill>
            <a:prstDash val="solid"/>
          </a:ln>
        </p:spPr>
      </p:sp>
      <p:sp>
        <p:nvSpPr>
          <p:cNvPr id="167" name="anim expert 9-14"/>
          <p:cNvSpPr/>
          <p:nvPr/>
        </p:nvSpPr>
        <p:spPr>
          <a:xfrm>
            <a:off x="5815584" y="2587752"/>
            <a:ext cx="137160" cy="137160"/>
          </a:xfrm>
          <a:prstGeom prst="rect">
            <a:avLst/>
          </a:prstGeom>
          <a:solidFill>
            <a:srgbClr val="D5DAE3"/>
          </a:solidFill>
          <a:ln w="12700">
            <a:solidFill>
              <a:srgbClr val="D5DAE3"/>
            </a:solidFill>
            <a:prstDash val="solid"/>
          </a:ln>
        </p:spPr>
      </p:sp>
      <p:sp>
        <p:nvSpPr>
          <p:cNvPr id="168" name="anim expert 9-15"/>
          <p:cNvSpPr/>
          <p:nvPr/>
        </p:nvSpPr>
        <p:spPr>
          <a:xfrm>
            <a:off x="5989320" y="2587752"/>
            <a:ext cx="137160" cy="137160"/>
          </a:xfrm>
          <a:prstGeom prst="rect">
            <a:avLst/>
          </a:prstGeom>
          <a:solidFill>
            <a:srgbClr val="D5DAE3"/>
          </a:solidFill>
          <a:ln w="12700">
            <a:solidFill>
              <a:srgbClr val="D5DAE3"/>
            </a:solidFill>
            <a:prstDash val="solid"/>
          </a:ln>
        </p:spPr>
      </p:sp>
      <p:sp>
        <p:nvSpPr>
          <p:cNvPr id="169" name="anim expert 10-0"/>
          <p:cNvSpPr/>
          <p:nvPr/>
        </p:nvSpPr>
        <p:spPr>
          <a:xfrm>
            <a:off x="3383280" y="2761488"/>
            <a:ext cx="137160" cy="137160"/>
          </a:xfrm>
          <a:prstGeom prst="rect">
            <a:avLst/>
          </a:prstGeom>
          <a:solidFill>
            <a:srgbClr val="D5DAE3"/>
          </a:solidFill>
          <a:ln w="12700">
            <a:solidFill>
              <a:srgbClr val="D5DAE3"/>
            </a:solidFill>
            <a:prstDash val="solid"/>
          </a:ln>
        </p:spPr>
      </p:sp>
      <p:sp>
        <p:nvSpPr>
          <p:cNvPr id="170" name="anim expert 10-1"/>
          <p:cNvSpPr/>
          <p:nvPr/>
        </p:nvSpPr>
        <p:spPr>
          <a:xfrm>
            <a:off x="3557016" y="2761488"/>
            <a:ext cx="137160" cy="137160"/>
          </a:xfrm>
          <a:prstGeom prst="rect">
            <a:avLst/>
          </a:prstGeom>
          <a:solidFill>
            <a:srgbClr val="D5DAE3"/>
          </a:solidFill>
          <a:ln w="12700">
            <a:solidFill>
              <a:srgbClr val="D5DAE3"/>
            </a:solidFill>
            <a:prstDash val="solid"/>
          </a:ln>
        </p:spPr>
      </p:sp>
      <p:sp>
        <p:nvSpPr>
          <p:cNvPr id="171" name="anim expert 10-2"/>
          <p:cNvSpPr/>
          <p:nvPr/>
        </p:nvSpPr>
        <p:spPr>
          <a:xfrm>
            <a:off x="3730752" y="2761488"/>
            <a:ext cx="137160" cy="137160"/>
          </a:xfrm>
          <a:prstGeom prst="rect">
            <a:avLst/>
          </a:prstGeom>
          <a:solidFill>
            <a:srgbClr val="D5DAE3"/>
          </a:solidFill>
          <a:ln w="12700">
            <a:solidFill>
              <a:srgbClr val="D5DAE3"/>
            </a:solidFill>
            <a:prstDash val="solid"/>
          </a:ln>
        </p:spPr>
      </p:sp>
      <p:sp>
        <p:nvSpPr>
          <p:cNvPr id="172" name="anim expert 10-3"/>
          <p:cNvSpPr/>
          <p:nvPr/>
        </p:nvSpPr>
        <p:spPr>
          <a:xfrm>
            <a:off x="3904488" y="2761488"/>
            <a:ext cx="137160" cy="137160"/>
          </a:xfrm>
          <a:prstGeom prst="rect">
            <a:avLst/>
          </a:prstGeom>
          <a:solidFill>
            <a:srgbClr val="D5DAE3"/>
          </a:solidFill>
          <a:ln w="12700">
            <a:solidFill>
              <a:srgbClr val="D5DAE3"/>
            </a:solidFill>
            <a:prstDash val="solid"/>
          </a:ln>
        </p:spPr>
      </p:sp>
      <p:sp>
        <p:nvSpPr>
          <p:cNvPr id="173" name="anim expert 10-4"/>
          <p:cNvSpPr/>
          <p:nvPr/>
        </p:nvSpPr>
        <p:spPr>
          <a:xfrm>
            <a:off x="4078224" y="2761488"/>
            <a:ext cx="137160" cy="137160"/>
          </a:xfrm>
          <a:prstGeom prst="rect">
            <a:avLst/>
          </a:prstGeom>
          <a:solidFill>
            <a:srgbClr val="D5DAE3"/>
          </a:solidFill>
          <a:ln w="12700">
            <a:solidFill>
              <a:srgbClr val="D5DAE3"/>
            </a:solidFill>
            <a:prstDash val="solid"/>
          </a:ln>
        </p:spPr>
      </p:sp>
      <p:sp>
        <p:nvSpPr>
          <p:cNvPr id="174" name="anim expert 10-5"/>
          <p:cNvSpPr/>
          <p:nvPr/>
        </p:nvSpPr>
        <p:spPr>
          <a:xfrm>
            <a:off x="4251960" y="2761488"/>
            <a:ext cx="137160" cy="137160"/>
          </a:xfrm>
          <a:prstGeom prst="rect">
            <a:avLst/>
          </a:prstGeom>
          <a:solidFill>
            <a:srgbClr val="D5DAE3"/>
          </a:solidFill>
          <a:ln w="12700">
            <a:solidFill>
              <a:srgbClr val="D5DAE3"/>
            </a:solidFill>
            <a:prstDash val="solid"/>
          </a:ln>
        </p:spPr>
      </p:sp>
      <p:sp>
        <p:nvSpPr>
          <p:cNvPr id="175" name="anim expert 10-6"/>
          <p:cNvSpPr/>
          <p:nvPr/>
        </p:nvSpPr>
        <p:spPr>
          <a:xfrm>
            <a:off x="4425696" y="2761488"/>
            <a:ext cx="137160" cy="137160"/>
          </a:xfrm>
          <a:prstGeom prst="rect">
            <a:avLst/>
          </a:prstGeom>
          <a:solidFill>
            <a:srgbClr val="D5DAE3"/>
          </a:solidFill>
          <a:ln w="12700">
            <a:solidFill>
              <a:srgbClr val="D5DAE3"/>
            </a:solidFill>
            <a:prstDash val="solid"/>
          </a:ln>
        </p:spPr>
      </p:sp>
      <p:sp>
        <p:nvSpPr>
          <p:cNvPr id="176" name="anim expert 10-7"/>
          <p:cNvSpPr/>
          <p:nvPr/>
        </p:nvSpPr>
        <p:spPr>
          <a:xfrm>
            <a:off x="4599432" y="2761488"/>
            <a:ext cx="137160" cy="137160"/>
          </a:xfrm>
          <a:prstGeom prst="rect">
            <a:avLst/>
          </a:prstGeom>
          <a:solidFill>
            <a:srgbClr val="D5DAE3"/>
          </a:solidFill>
          <a:ln w="12700">
            <a:solidFill>
              <a:srgbClr val="D5DAE3"/>
            </a:solidFill>
            <a:prstDash val="solid"/>
          </a:ln>
        </p:spPr>
      </p:sp>
      <p:sp>
        <p:nvSpPr>
          <p:cNvPr id="177" name="anim expert 10-8"/>
          <p:cNvSpPr/>
          <p:nvPr/>
        </p:nvSpPr>
        <p:spPr>
          <a:xfrm>
            <a:off x="4773168" y="2761488"/>
            <a:ext cx="137160" cy="137160"/>
          </a:xfrm>
          <a:prstGeom prst="rect">
            <a:avLst/>
          </a:prstGeom>
          <a:solidFill>
            <a:srgbClr val="D5DAE3"/>
          </a:solidFill>
          <a:ln w="12700">
            <a:solidFill>
              <a:srgbClr val="D5DAE3"/>
            </a:solidFill>
            <a:prstDash val="solid"/>
          </a:ln>
        </p:spPr>
      </p:sp>
      <p:sp>
        <p:nvSpPr>
          <p:cNvPr id="178" name="anim expert 10-9"/>
          <p:cNvSpPr/>
          <p:nvPr/>
        </p:nvSpPr>
        <p:spPr>
          <a:xfrm>
            <a:off x="4946904" y="2761488"/>
            <a:ext cx="137160" cy="137160"/>
          </a:xfrm>
          <a:prstGeom prst="rect">
            <a:avLst/>
          </a:prstGeom>
          <a:solidFill>
            <a:srgbClr val="D5DAE3"/>
          </a:solidFill>
          <a:ln w="12700">
            <a:solidFill>
              <a:srgbClr val="D5DAE3"/>
            </a:solidFill>
            <a:prstDash val="solid"/>
          </a:ln>
        </p:spPr>
      </p:sp>
      <p:sp>
        <p:nvSpPr>
          <p:cNvPr id="179" name="anim expert 10-10"/>
          <p:cNvSpPr/>
          <p:nvPr/>
        </p:nvSpPr>
        <p:spPr>
          <a:xfrm>
            <a:off x="5120640" y="2761488"/>
            <a:ext cx="137160" cy="137160"/>
          </a:xfrm>
          <a:prstGeom prst="rect">
            <a:avLst/>
          </a:prstGeom>
          <a:solidFill>
            <a:srgbClr val="D5DAE3"/>
          </a:solidFill>
          <a:ln w="12700">
            <a:solidFill>
              <a:srgbClr val="D5DAE3"/>
            </a:solidFill>
            <a:prstDash val="solid"/>
          </a:ln>
        </p:spPr>
      </p:sp>
      <p:sp>
        <p:nvSpPr>
          <p:cNvPr id="180" name="anim expert 10-11"/>
          <p:cNvSpPr/>
          <p:nvPr/>
        </p:nvSpPr>
        <p:spPr>
          <a:xfrm>
            <a:off x="5294376" y="2761488"/>
            <a:ext cx="137160" cy="137160"/>
          </a:xfrm>
          <a:prstGeom prst="rect">
            <a:avLst/>
          </a:prstGeom>
          <a:solidFill>
            <a:srgbClr val="D5DAE3"/>
          </a:solidFill>
          <a:ln w="12700">
            <a:solidFill>
              <a:srgbClr val="D5DAE3"/>
            </a:solidFill>
            <a:prstDash val="solid"/>
          </a:ln>
        </p:spPr>
      </p:sp>
      <p:sp>
        <p:nvSpPr>
          <p:cNvPr id="181" name="anim expert 10-12"/>
          <p:cNvSpPr/>
          <p:nvPr/>
        </p:nvSpPr>
        <p:spPr>
          <a:xfrm>
            <a:off x="5468112" y="2761488"/>
            <a:ext cx="137160" cy="137160"/>
          </a:xfrm>
          <a:prstGeom prst="rect">
            <a:avLst/>
          </a:prstGeom>
          <a:solidFill>
            <a:srgbClr val="D5DAE3"/>
          </a:solidFill>
          <a:ln w="12700">
            <a:solidFill>
              <a:srgbClr val="D5DAE3"/>
            </a:solidFill>
            <a:prstDash val="solid"/>
          </a:ln>
        </p:spPr>
      </p:sp>
      <p:sp>
        <p:nvSpPr>
          <p:cNvPr id="182" name="anim expert 10-13"/>
          <p:cNvSpPr/>
          <p:nvPr/>
        </p:nvSpPr>
        <p:spPr>
          <a:xfrm>
            <a:off x="5641848" y="2761488"/>
            <a:ext cx="137160" cy="137160"/>
          </a:xfrm>
          <a:prstGeom prst="rect">
            <a:avLst/>
          </a:prstGeom>
          <a:solidFill>
            <a:srgbClr val="D5DAE3"/>
          </a:solidFill>
          <a:ln w="12700">
            <a:solidFill>
              <a:srgbClr val="D5DAE3"/>
            </a:solidFill>
            <a:prstDash val="solid"/>
          </a:ln>
        </p:spPr>
      </p:sp>
      <p:sp>
        <p:nvSpPr>
          <p:cNvPr id="183" name="anim expert 10-14"/>
          <p:cNvSpPr/>
          <p:nvPr/>
        </p:nvSpPr>
        <p:spPr>
          <a:xfrm>
            <a:off x="5815584" y="2761488"/>
            <a:ext cx="137160" cy="137160"/>
          </a:xfrm>
          <a:prstGeom prst="rect">
            <a:avLst/>
          </a:prstGeom>
          <a:solidFill>
            <a:srgbClr val="D5DAE3"/>
          </a:solidFill>
          <a:ln w="12700">
            <a:solidFill>
              <a:srgbClr val="D5DAE3"/>
            </a:solidFill>
            <a:prstDash val="solid"/>
          </a:ln>
        </p:spPr>
      </p:sp>
      <p:sp>
        <p:nvSpPr>
          <p:cNvPr id="184" name="anim expert 10-15"/>
          <p:cNvSpPr/>
          <p:nvPr/>
        </p:nvSpPr>
        <p:spPr>
          <a:xfrm>
            <a:off x="5989320" y="2761488"/>
            <a:ext cx="137160" cy="137160"/>
          </a:xfrm>
          <a:prstGeom prst="rect">
            <a:avLst/>
          </a:prstGeom>
          <a:solidFill>
            <a:srgbClr val="D5DAE3"/>
          </a:solidFill>
          <a:ln w="12700">
            <a:solidFill>
              <a:srgbClr val="D5DAE3"/>
            </a:solidFill>
            <a:prstDash val="solid"/>
          </a:ln>
        </p:spPr>
      </p:sp>
      <p:sp>
        <p:nvSpPr>
          <p:cNvPr id="185" name="anim expert 11-0"/>
          <p:cNvSpPr/>
          <p:nvPr/>
        </p:nvSpPr>
        <p:spPr>
          <a:xfrm>
            <a:off x="3383280" y="2935224"/>
            <a:ext cx="137160" cy="137160"/>
          </a:xfrm>
          <a:prstGeom prst="rect">
            <a:avLst/>
          </a:prstGeom>
          <a:solidFill>
            <a:srgbClr val="D5DAE3"/>
          </a:solidFill>
          <a:ln w="12700">
            <a:solidFill>
              <a:srgbClr val="D5DAE3"/>
            </a:solidFill>
            <a:prstDash val="solid"/>
          </a:ln>
        </p:spPr>
      </p:sp>
      <p:sp>
        <p:nvSpPr>
          <p:cNvPr id="186" name="anim expert 11-1"/>
          <p:cNvSpPr/>
          <p:nvPr/>
        </p:nvSpPr>
        <p:spPr>
          <a:xfrm>
            <a:off x="3557016" y="2935224"/>
            <a:ext cx="137160" cy="137160"/>
          </a:xfrm>
          <a:prstGeom prst="rect">
            <a:avLst/>
          </a:prstGeom>
          <a:solidFill>
            <a:srgbClr val="D5DAE3"/>
          </a:solidFill>
          <a:ln w="12700">
            <a:solidFill>
              <a:srgbClr val="D5DAE3"/>
            </a:solidFill>
            <a:prstDash val="solid"/>
          </a:ln>
        </p:spPr>
      </p:sp>
      <p:sp>
        <p:nvSpPr>
          <p:cNvPr id="187" name="anim expert 11-2"/>
          <p:cNvSpPr/>
          <p:nvPr/>
        </p:nvSpPr>
        <p:spPr>
          <a:xfrm>
            <a:off x="3730752" y="2935224"/>
            <a:ext cx="137160" cy="137160"/>
          </a:xfrm>
          <a:prstGeom prst="rect">
            <a:avLst/>
          </a:prstGeom>
          <a:solidFill>
            <a:srgbClr val="D5DAE3"/>
          </a:solidFill>
          <a:ln w="12700">
            <a:solidFill>
              <a:srgbClr val="D5DAE3"/>
            </a:solidFill>
            <a:prstDash val="solid"/>
          </a:ln>
        </p:spPr>
      </p:sp>
      <p:sp>
        <p:nvSpPr>
          <p:cNvPr id="188" name="anim expert 11-3"/>
          <p:cNvSpPr/>
          <p:nvPr/>
        </p:nvSpPr>
        <p:spPr>
          <a:xfrm>
            <a:off x="3904488" y="2935224"/>
            <a:ext cx="137160" cy="137160"/>
          </a:xfrm>
          <a:prstGeom prst="rect">
            <a:avLst/>
          </a:prstGeom>
          <a:solidFill>
            <a:srgbClr val="D5DAE3"/>
          </a:solidFill>
          <a:ln w="12700">
            <a:solidFill>
              <a:srgbClr val="D5DAE3"/>
            </a:solidFill>
            <a:prstDash val="solid"/>
          </a:ln>
        </p:spPr>
      </p:sp>
      <p:sp>
        <p:nvSpPr>
          <p:cNvPr id="189" name="anim expert 11-4"/>
          <p:cNvSpPr/>
          <p:nvPr/>
        </p:nvSpPr>
        <p:spPr>
          <a:xfrm>
            <a:off x="4078224" y="2935224"/>
            <a:ext cx="137160" cy="137160"/>
          </a:xfrm>
          <a:prstGeom prst="rect">
            <a:avLst/>
          </a:prstGeom>
          <a:solidFill>
            <a:srgbClr val="D5DAE3"/>
          </a:solidFill>
          <a:ln w="12700">
            <a:solidFill>
              <a:srgbClr val="D5DAE3"/>
            </a:solidFill>
            <a:prstDash val="solid"/>
          </a:ln>
        </p:spPr>
      </p:sp>
      <p:sp>
        <p:nvSpPr>
          <p:cNvPr id="190" name="anim expert 11-5"/>
          <p:cNvSpPr/>
          <p:nvPr/>
        </p:nvSpPr>
        <p:spPr>
          <a:xfrm>
            <a:off x="4251960" y="2935224"/>
            <a:ext cx="137160" cy="137160"/>
          </a:xfrm>
          <a:prstGeom prst="rect">
            <a:avLst/>
          </a:prstGeom>
          <a:solidFill>
            <a:srgbClr val="D5DAE3"/>
          </a:solidFill>
          <a:ln w="12700">
            <a:solidFill>
              <a:srgbClr val="D5DAE3"/>
            </a:solidFill>
            <a:prstDash val="solid"/>
          </a:ln>
        </p:spPr>
      </p:sp>
      <p:sp>
        <p:nvSpPr>
          <p:cNvPr id="191" name="anim expert 11-6"/>
          <p:cNvSpPr/>
          <p:nvPr/>
        </p:nvSpPr>
        <p:spPr>
          <a:xfrm>
            <a:off x="4425696" y="2935224"/>
            <a:ext cx="137160" cy="137160"/>
          </a:xfrm>
          <a:prstGeom prst="rect">
            <a:avLst/>
          </a:prstGeom>
          <a:solidFill>
            <a:srgbClr val="D5DAE3"/>
          </a:solidFill>
          <a:ln w="12700">
            <a:solidFill>
              <a:srgbClr val="D5DAE3"/>
            </a:solidFill>
            <a:prstDash val="solid"/>
          </a:ln>
        </p:spPr>
      </p:sp>
      <p:sp>
        <p:nvSpPr>
          <p:cNvPr id="192" name="anim expert 11-7"/>
          <p:cNvSpPr/>
          <p:nvPr/>
        </p:nvSpPr>
        <p:spPr>
          <a:xfrm>
            <a:off x="4599432" y="2935224"/>
            <a:ext cx="137160" cy="137160"/>
          </a:xfrm>
          <a:prstGeom prst="rect">
            <a:avLst/>
          </a:prstGeom>
          <a:solidFill>
            <a:srgbClr val="D5DAE3"/>
          </a:solidFill>
          <a:ln w="12700">
            <a:solidFill>
              <a:srgbClr val="D5DAE3"/>
            </a:solidFill>
            <a:prstDash val="solid"/>
          </a:ln>
        </p:spPr>
      </p:sp>
      <p:sp>
        <p:nvSpPr>
          <p:cNvPr id="193" name="anim expert 11-8"/>
          <p:cNvSpPr/>
          <p:nvPr/>
        </p:nvSpPr>
        <p:spPr>
          <a:xfrm>
            <a:off x="4773168" y="2935224"/>
            <a:ext cx="137160" cy="137160"/>
          </a:xfrm>
          <a:prstGeom prst="rect">
            <a:avLst/>
          </a:prstGeom>
          <a:solidFill>
            <a:srgbClr val="D5DAE3"/>
          </a:solidFill>
          <a:ln w="12700">
            <a:solidFill>
              <a:srgbClr val="D5DAE3"/>
            </a:solidFill>
            <a:prstDash val="solid"/>
          </a:ln>
        </p:spPr>
      </p:sp>
      <p:sp>
        <p:nvSpPr>
          <p:cNvPr id="194" name="anim expert 11-9"/>
          <p:cNvSpPr/>
          <p:nvPr/>
        </p:nvSpPr>
        <p:spPr>
          <a:xfrm>
            <a:off x="4946904" y="2935224"/>
            <a:ext cx="137160" cy="137160"/>
          </a:xfrm>
          <a:prstGeom prst="rect">
            <a:avLst/>
          </a:prstGeom>
          <a:solidFill>
            <a:srgbClr val="D5DAE3"/>
          </a:solidFill>
          <a:ln w="12700">
            <a:solidFill>
              <a:srgbClr val="D5DAE3"/>
            </a:solidFill>
            <a:prstDash val="solid"/>
          </a:ln>
        </p:spPr>
      </p:sp>
      <p:sp>
        <p:nvSpPr>
          <p:cNvPr id="195" name="anim expert 11-10"/>
          <p:cNvSpPr/>
          <p:nvPr/>
        </p:nvSpPr>
        <p:spPr>
          <a:xfrm>
            <a:off x="5120640" y="2935224"/>
            <a:ext cx="137160" cy="137160"/>
          </a:xfrm>
          <a:prstGeom prst="rect">
            <a:avLst/>
          </a:prstGeom>
          <a:solidFill>
            <a:srgbClr val="D5DAE3"/>
          </a:solidFill>
          <a:ln w="12700">
            <a:solidFill>
              <a:srgbClr val="D5DAE3"/>
            </a:solidFill>
            <a:prstDash val="solid"/>
          </a:ln>
        </p:spPr>
      </p:sp>
      <p:sp>
        <p:nvSpPr>
          <p:cNvPr id="196" name="anim expert 11-11"/>
          <p:cNvSpPr/>
          <p:nvPr/>
        </p:nvSpPr>
        <p:spPr>
          <a:xfrm>
            <a:off x="5294376" y="2935224"/>
            <a:ext cx="137160" cy="137160"/>
          </a:xfrm>
          <a:prstGeom prst="rect">
            <a:avLst/>
          </a:prstGeom>
          <a:solidFill>
            <a:srgbClr val="D5DAE3"/>
          </a:solidFill>
          <a:ln w="12700">
            <a:solidFill>
              <a:srgbClr val="D5DAE3"/>
            </a:solidFill>
            <a:prstDash val="solid"/>
          </a:ln>
        </p:spPr>
      </p:sp>
      <p:sp>
        <p:nvSpPr>
          <p:cNvPr id="197" name="anim expert 11-12"/>
          <p:cNvSpPr/>
          <p:nvPr/>
        </p:nvSpPr>
        <p:spPr>
          <a:xfrm>
            <a:off x="5468112" y="2935224"/>
            <a:ext cx="137160" cy="137160"/>
          </a:xfrm>
          <a:prstGeom prst="rect">
            <a:avLst/>
          </a:prstGeom>
          <a:solidFill>
            <a:srgbClr val="D5DAE3"/>
          </a:solidFill>
          <a:ln w="12700">
            <a:solidFill>
              <a:srgbClr val="D5DAE3"/>
            </a:solidFill>
            <a:prstDash val="solid"/>
          </a:ln>
        </p:spPr>
      </p:sp>
      <p:sp>
        <p:nvSpPr>
          <p:cNvPr id="198" name="anim expert 11-13"/>
          <p:cNvSpPr/>
          <p:nvPr/>
        </p:nvSpPr>
        <p:spPr>
          <a:xfrm>
            <a:off x="5641848" y="2935224"/>
            <a:ext cx="137160" cy="137160"/>
          </a:xfrm>
          <a:prstGeom prst="rect">
            <a:avLst/>
          </a:prstGeom>
          <a:solidFill>
            <a:srgbClr val="D5DAE3"/>
          </a:solidFill>
          <a:ln w="12700">
            <a:solidFill>
              <a:srgbClr val="D5DAE3"/>
            </a:solidFill>
            <a:prstDash val="solid"/>
          </a:ln>
        </p:spPr>
      </p:sp>
      <p:sp>
        <p:nvSpPr>
          <p:cNvPr id="199" name="anim expert 11-14"/>
          <p:cNvSpPr/>
          <p:nvPr/>
        </p:nvSpPr>
        <p:spPr>
          <a:xfrm>
            <a:off x="5815584" y="2935224"/>
            <a:ext cx="137160" cy="137160"/>
          </a:xfrm>
          <a:prstGeom prst="rect">
            <a:avLst/>
          </a:prstGeom>
          <a:solidFill>
            <a:srgbClr val="D5DAE3"/>
          </a:solidFill>
          <a:ln w="12700">
            <a:solidFill>
              <a:srgbClr val="D5DAE3"/>
            </a:solidFill>
            <a:prstDash val="solid"/>
          </a:ln>
        </p:spPr>
      </p:sp>
      <p:sp>
        <p:nvSpPr>
          <p:cNvPr id="200" name="anim expert 11-15"/>
          <p:cNvSpPr/>
          <p:nvPr/>
        </p:nvSpPr>
        <p:spPr>
          <a:xfrm>
            <a:off x="5989320" y="2935224"/>
            <a:ext cx="137160" cy="137160"/>
          </a:xfrm>
          <a:prstGeom prst="rect">
            <a:avLst/>
          </a:prstGeom>
          <a:solidFill>
            <a:srgbClr val="D5DAE3"/>
          </a:solidFill>
          <a:ln w="12700">
            <a:solidFill>
              <a:srgbClr val="D5DAE3"/>
            </a:solidFill>
            <a:prstDash val="solid"/>
          </a:ln>
        </p:spPr>
      </p:sp>
      <p:sp>
        <p:nvSpPr>
          <p:cNvPr id="201" name="anim expert 12-0"/>
          <p:cNvSpPr/>
          <p:nvPr/>
        </p:nvSpPr>
        <p:spPr>
          <a:xfrm>
            <a:off x="3383280" y="3108960"/>
            <a:ext cx="137160" cy="137160"/>
          </a:xfrm>
          <a:prstGeom prst="rect">
            <a:avLst/>
          </a:prstGeom>
          <a:solidFill>
            <a:srgbClr val="D5DAE3"/>
          </a:solidFill>
          <a:ln w="12700">
            <a:solidFill>
              <a:srgbClr val="D5DAE3"/>
            </a:solidFill>
            <a:prstDash val="solid"/>
          </a:ln>
        </p:spPr>
      </p:sp>
      <p:sp>
        <p:nvSpPr>
          <p:cNvPr id="202" name="anim expert 12-1"/>
          <p:cNvSpPr/>
          <p:nvPr/>
        </p:nvSpPr>
        <p:spPr>
          <a:xfrm>
            <a:off x="3557016" y="3108960"/>
            <a:ext cx="137160" cy="137160"/>
          </a:xfrm>
          <a:prstGeom prst="rect">
            <a:avLst/>
          </a:prstGeom>
          <a:solidFill>
            <a:srgbClr val="D5DAE3"/>
          </a:solidFill>
          <a:ln w="12700">
            <a:solidFill>
              <a:srgbClr val="D5DAE3"/>
            </a:solidFill>
            <a:prstDash val="solid"/>
          </a:ln>
        </p:spPr>
      </p:sp>
      <p:sp>
        <p:nvSpPr>
          <p:cNvPr id="203" name="anim expert 12-2"/>
          <p:cNvSpPr/>
          <p:nvPr/>
        </p:nvSpPr>
        <p:spPr>
          <a:xfrm>
            <a:off x="3730752" y="3108960"/>
            <a:ext cx="137160" cy="137160"/>
          </a:xfrm>
          <a:prstGeom prst="rect">
            <a:avLst/>
          </a:prstGeom>
          <a:solidFill>
            <a:srgbClr val="D5DAE3"/>
          </a:solidFill>
          <a:ln w="12700">
            <a:solidFill>
              <a:srgbClr val="D5DAE3"/>
            </a:solidFill>
            <a:prstDash val="solid"/>
          </a:ln>
        </p:spPr>
      </p:sp>
      <p:sp>
        <p:nvSpPr>
          <p:cNvPr id="204" name="anim expert 12-3"/>
          <p:cNvSpPr/>
          <p:nvPr/>
        </p:nvSpPr>
        <p:spPr>
          <a:xfrm>
            <a:off x="3904488" y="3108960"/>
            <a:ext cx="137160" cy="137160"/>
          </a:xfrm>
          <a:prstGeom prst="rect">
            <a:avLst/>
          </a:prstGeom>
          <a:solidFill>
            <a:srgbClr val="D5DAE3"/>
          </a:solidFill>
          <a:ln w="12700">
            <a:solidFill>
              <a:srgbClr val="D5DAE3"/>
            </a:solidFill>
            <a:prstDash val="solid"/>
          </a:ln>
        </p:spPr>
      </p:sp>
      <p:sp>
        <p:nvSpPr>
          <p:cNvPr id="205" name="anim expert 12-4"/>
          <p:cNvSpPr/>
          <p:nvPr/>
        </p:nvSpPr>
        <p:spPr>
          <a:xfrm>
            <a:off x="4078224" y="3108960"/>
            <a:ext cx="137160" cy="137160"/>
          </a:xfrm>
          <a:prstGeom prst="rect">
            <a:avLst/>
          </a:prstGeom>
          <a:solidFill>
            <a:srgbClr val="D5DAE3"/>
          </a:solidFill>
          <a:ln w="12700">
            <a:solidFill>
              <a:srgbClr val="D5DAE3"/>
            </a:solidFill>
            <a:prstDash val="solid"/>
          </a:ln>
        </p:spPr>
      </p:sp>
      <p:sp>
        <p:nvSpPr>
          <p:cNvPr id="206" name="anim expert 12-5"/>
          <p:cNvSpPr/>
          <p:nvPr/>
        </p:nvSpPr>
        <p:spPr>
          <a:xfrm>
            <a:off x="4251960" y="3108960"/>
            <a:ext cx="137160" cy="137160"/>
          </a:xfrm>
          <a:prstGeom prst="rect">
            <a:avLst/>
          </a:prstGeom>
          <a:solidFill>
            <a:srgbClr val="D5DAE3"/>
          </a:solidFill>
          <a:ln w="12700">
            <a:solidFill>
              <a:srgbClr val="D5DAE3"/>
            </a:solidFill>
            <a:prstDash val="solid"/>
          </a:ln>
        </p:spPr>
      </p:sp>
      <p:sp>
        <p:nvSpPr>
          <p:cNvPr id="207" name="anim expert 12-6"/>
          <p:cNvSpPr/>
          <p:nvPr/>
        </p:nvSpPr>
        <p:spPr>
          <a:xfrm>
            <a:off x="4425696" y="3108960"/>
            <a:ext cx="137160" cy="137160"/>
          </a:xfrm>
          <a:prstGeom prst="rect">
            <a:avLst/>
          </a:prstGeom>
          <a:solidFill>
            <a:srgbClr val="D5DAE3"/>
          </a:solidFill>
          <a:ln w="12700">
            <a:solidFill>
              <a:srgbClr val="D5DAE3"/>
            </a:solidFill>
            <a:prstDash val="solid"/>
          </a:ln>
        </p:spPr>
      </p:sp>
      <p:sp>
        <p:nvSpPr>
          <p:cNvPr id="208" name="anim expert 12-7"/>
          <p:cNvSpPr/>
          <p:nvPr/>
        </p:nvSpPr>
        <p:spPr>
          <a:xfrm>
            <a:off x="4599432" y="3108960"/>
            <a:ext cx="137160" cy="137160"/>
          </a:xfrm>
          <a:prstGeom prst="rect">
            <a:avLst/>
          </a:prstGeom>
          <a:solidFill>
            <a:srgbClr val="D5DAE3"/>
          </a:solidFill>
          <a:ln w="12700">
            <a:solidFill>
              <a:srgbClr val="D5DAE3"/>
            </a:solidFill>
            <a:prstDash val="solid"/>
          </a:ln>
        </p:spPr>
      </p:sp>
      <p:sp>
        <p:nvSpPr>
          <p:cNvPr id="209" name="anim expert 12-8"/>
          <p:cNvSpPr/>
          <p:nvPr/>
        </p:nvSpPr>
        <p:spPr>
          <a:xfrm>
            <a:off x="4773168" y="3108960"/>
            <a:ext cx="137160" cy="137160"/>
          </a:xfrm>
          <a:prstGeom prst="rect">
            <a:avLst/>
          </a:prstGeom>
          <a:solidFill>
            <a:srgbClr val="D5DAE3"/>
          </a:solidFill>
          <a:ln w="12700">
            <a:solidFill>
              <a:srgbClr val="D5DAE3"/>
            </a:solidFill>
            <a:prstDash val="solid"/>
          </a:ln>
        </p:spPr>
      </p:sp>
      <p:sp>
        <p:nvSpPr>
          <p:cNvPr id="210" name="anim expert 12-9"/>
          <p:cNvSpPr/>
          <p:nvPr/>
        </p:nvSpPr>
        <p:spPr>
          <a:xfrm>
            <a:off x="4946904" y="3108960"/>
            <a:ext cx="137160" cy="137160"/>
          </a:xfrm>
          <a:prstGeom prst="rect">
            <a:avLst/>
          </a:prstGeom>
          <a:solidFill>
            <a:srgbClr val="D5DAE3"/>
          </a:solidFill>
          <a:ln w="12700">
            <a:solidFill>
              <a:srgbClr val="D5DAE3"/>
            </a:solidFill>
            <a:prstDash val="solid"/>
          </a:ln>
        </p:spPr>
      </p:sp>
      <p:sp>
        <p:nvSpPr>
          <p:cNvPr id="211" name="anim expert 12-10"/>
          <p:cNvSpPr/>
          <p:nvPr/>
        </p:nvSpPr>
        <p:spPr>
          <a:xfrm>
            <a:off x="5120640" y="3108960"/>
            <a:ext cx="137160" cy="137160"/>
          </a:xfrm>
          <a:prstGeom prst="rect">
            <a:avLst/>
          </a:prstGeom>
          <a:solidFill>
            <a:srgbClr val="D5DAE3"/>
          </a:solidFill>
          <a:ln w="12700">
            <a:solidFill>
              <a:srgbClr val="D5DAE3"/>
            </a:solidFill>
            <a:prstDash val="solid"/>
          </a:ln>
        </p:spPr>
      </p:sp>
      <p:sp>
        <p:nvSpPr>
          <p:cNvPr id="212" name="anim expert 12-11"/>
          <p:cNvSpPr/>
          <p:nvPr/>
        </p:nvSpPr>
        <p:spPr>
          <a:xfrm>
            <a:off x="5294376" y="3108960"/>
            <a:ext cx="137160" cy="137160"/>
          </a:xfrm>
          <a:prstGeom prst="rect">
            <a:avLst/>
          </a:prstGeom>
          <a:solidFill>
            <a:srgbClr val="D5DAE3"/>
          </a:solidFill>
          <a:ln w="12700">
            <a:solidFill>
              <a:srgbClr val="D5DAE3"/>
            </a:solidFill>
            <a:prstDash val="solid"/>
          </a:ln>
        </p:spPr>
      </p:sp>
      <p:sp>
        <p:nvSpPr>
          <p:cNvPr id="213" name="anim expert 12-12"/>
          <p:cNvSpPr/>
          <p:nvPr/>
        </p:nvSpPr>
        <p:spPr>
          <a:xfrm>
            <a:off x="5468112" y="3108960"/>
            <a:ext cx="137160" cy="137160"/>
          </a:xfrm>
          <a:prstGeom prst="rect">
            <a:avLst/>
          </a:prstGeom>
          <a:solidFill>
            <a:srgbClr val="D5DAE3"/>
          </a:solidFill>
          <a:ln w="12700">
            <a:solidFill>
              <a:srgbClr val="D5DAE3"/>
            </a:solidFill>
            <a:prstDash val="solid"/>
          </a:ln>
        </p:spPr>
      </p:sp>
      <p:sp>
        <p:nvSpPr>
          <p:cNvPr id="214" name="anim expert 12-13"/>
          <p:cNvSpPr/>
          <p:nvPr/>
        </p:nvSpPr>
        <p:spPr>
          <a:xfrm>
            <a:off x="5641848" y="3108960"/>
            <a:ext cx="137160" cy="137160"/>
          </a:xfrm>
          <a:prstGeom prst="rect">
            <a:avLst/>
          </a:prstGeom>
          <a:solidFill>
            <a:srgbClr val="D5DAE3"/>
          </a:solidFill>
          <a:ln w="12700">
            <a:solidFill>
              <a:srgbClr val="D5DAE3"/>
            </a:solidFill>
            <a:prstDash val="solid"/>
          </a:ln>
        </p:spPr>
      </p:sp>
      <p:sp>
        <p:nvSpPr>
          <p:cNvPr id="215" name="anim expert 12-14"/>
          <p:cNvSpPr/>
          <p:nvPr/>
        </p:nvSpPr>
        <p:spPr>
          <a:xfrm>
            <a:off x="5815584" y="3108960"/>
            <a:ext cx="137160" cy="137160"/>
          </a:xfrm>
          <a:prstGeom prst="rect">
            <a:avLst/>
          </a:prstGeom>
          <a:solidFill>
            <a:srgbClr val="D5DAE3"/>
          </a:solidFill>
          <a:ln w="12700">
            <a:solidFill>
              <a:srgbClr val="D5DAE3"/>
            </a:solidFill>
            <a:prstDash val="solid"/>
          </a:ln>
        </p:spPr>
      </p:sp>
      <p:sp>
        <p:nvSpPr>
          <p:cNvPr id="216" name="anim expert 12-15"/>
          <p:cNvSpPr/>
          <p:nvPr/>
        </p:nvSpPr>
        <p:spPr>
          <a:xfrm>
            <a:off x="5989320" y="3108960"/>
            <a:ext cx="137160" cy="137160"/>
          </a:xfrm>
          <a:prstGeom prst="rect">
            <a:avLst/>
          </a:prstGeom>
          <a:solidFill>
            <a:srgbClr val="D5DAE3"/>
          </a:solidFill>
          <a:ln w="12700">
            <a:solidFill>
              <a:srgbClr val="D5DAE3"/>
            </a:solidFill>
            <a:prstDash val="solid"/>
          </a:ln>
        </p:spPr>
      </p:sp>
      <p:sp>
        <p:nvSpPr>
          <p:cNvPr id="217" name="anim expert 13-0"/>
          <p:cNvSpPr/>
          <p:nvPr/>
        </p:nvSpPr>
        <p:spPr>
          <a:xfrm>
            <a:off x="3383280" y="3282696"/>
            <a:ext cx="137160" cy="137160"/>
          </a:xfrm>
          <a:prstGeom prst="rect">
            <a:avLst/>
          </a:prstGeom>
          <a:solidFill>
            <a:srgbClr val="D5DAE3"/>
          </a:solidFill>
          <a:ln w="12700">
            <a:solidFill>
              <a:srgbClr val="D5DAE3"/>
            </a:solidFill>
            <a:prstDash val="solid"/>
          </a:ln>
        </p:spPr>
      </p:sp>
      <p:sp>
        <p:nvSpPr>
          <p:cNvPr id="218" name="anim expert 13-1"/>
          <p:cNvSpPr/>
          <p:nvPr/>
        </p:nvSpPr>
        <p:spPr>
          <a:xfrm>
            <a:off x="3557016" y="3282696"/>
            <a:ext cx="137160" cy="137160"/>
          </a:xfrm>
          <a:prstGeom prst="rect">
            <a:avLst/>
          </a:prstGeom>
          <a:solidFill>
            <a:srgbClr val="D5DAE3"/>
          </a:solidFill>
          <a:ln w="12700">
            <a:solidFill>
              <a:srgbClr val="D5DAE3"/>
            </a:solidFill>
            <a:prstDash val="solid"/>
          </a:ln>
        </p:spPr>
      </p:sp>
      <p:sp>
        <p:nvSpPr>
          <p:cNvPr id="219" name="anim expert 13-2"/>
          <p:cNvSpPr/>
          <p:nvPr/>
        </p:nvSpPr>
        <p:spPr>
          <a:xfrm>
            <a:off x="3730752" y="3282696"/>
            <a:ext cx="137160" cy="137160"/>
          </a:xfrm>
          <a:prstGeom prst="rect">
            <a:avLst/>
          </a:prstGeom>
          <a:solidFill>
            <a:srgbClr val="D5DAE3"/>
          </a:solidFill>
          <a:ln w="12700">
            <a:solidFill>
              <a:srgbClr val="D5DAE3"/>
            </a:solidFill>
            <a:prstDash val="solid"/>
          </a:ln>
        </p:spPr>
      </p:sp>
      <p:sp>
        <p:nvSpPr>
          <p:cNvPr id="220" name="anim expert 13-3"/>
          <p:cNvSpPr/>
          <p:nvPr/>
        </p:nvSpPr>
        <p:spPr>
          <a:xfrm>
            <a:off x="3904488" y="3282696"/>
            <a:ext cx="137160" cy="137160"/>
          </a:xfrm>
          <a:prstGeom prst="rect">
            <a:avLst/>
          </a:prstGeom>
          <a:solidFill>
            <a:srgbClr val="D5DAE3"/>
          </a:solidFill>
          <a:ln w="12700">
            <a:solidFill>
              <a:srgbClr val="D5DAE3"/>
            </a:solidFill>
            <a:prstDash val="solid"/>
          </a:ln>
        </p:spPr>
      </p:sp>
      <p:sp>
        <p:nvSpPr>
          <p:cNvPr id="221" name="anim expert 13-4"/>
          <p:cNvSpPr/>
          <p:nvPr/>
        </p:nvSpPr>
        <p:spPr>
          <a:xfrm>
            <a:off x="4078224" y="3282696"/>
            <a:ext cx="137160" cy="137160"/>
          </a:xfrm>
          <a:prstGeom prst="rect">
            <a:avLst/>
          </a:prstGeom>
          <a:solidFill>
            <a:srgbClr val="D5DAE3"/>
          </a:solidFill>
          <a:ln w="12700">
            <a:solidFill>
              <a:srgbClr val="D5DAE3"/>
            </a:solidFill>
            <a:prstDash val="solid"/>
          </a:ln>
        </p:spPr>
      </p:sp>
      <p:sp>
        <p:nvSpPr>
          <p:cNvPr id="222" name="anim expert 13-5"/>
          <p:cNvSpPr/>
          <p:nvPr/>
        </p:nvSpPr>
        <p:spPr>
          <a:xfrm>
            <a:off x="4251960" y="3282696"/>
            <a:ext cx="137160" cy="137160"/>
          </a:xfrm>
          <a:prstGeom prst="rect">
            <a:avLst/>
          </a:prstGeom>
          <a:solidFill>
            <a:srgbClr val="D5DAE3"/>
          </a:solidFill>
          <a:ln w="12700">
            <a:solidFill>
              <a:srgbClr val="D5DAE3"/>
            </a:solidFill>
            <a:prstDash val="solid"/>
          </a:ln>
        </p:spPr>
      </p:sp>
      <p:sp>
        <p:nvSpPr>
          <p:cNvPr id="223" name="anim expert 13-6"/>
          <p:cNvSpPr/>
          <p:nvPr/>
        </p:nvSpPr>
        <p:spPr>
          <a:xfrm>
            <a:off x="4425696" y="3282696"/>
            <a:ext cx="137160" cy="137160"/>
          </a:xfrm>
          <a:prstGeom prst="rect">
            <a:avLst/>
          </a:prstGeom>
          <a:solidFill>
            <a:srgbClr val="D5DAE3"/>
          </a:solidFill>
          <a:ln w="12700">
            <a:solidFill>
              <a:srgbClr val="D5DAE3"/>
            </a:solidFill>
            <a:prstDash val="solid"/>
          </a:ln>
        </p:spPr>
      </p:sp>
      <p:sp>
        <p:nvSpPr>
          <p:cNvPr id="224" name="anim expert 13-7"/>
          <p:cNvSpPr/>
          <p:nvPr/>
        </p:nvSpPr>
        <p:spPr>
          <a:xfrm>
            <a:off x="4599432" y="3282696"/>
            <a:ext cx="137160" cy="137160"/>
          </a:xfrm>
          <a:prstGeom prst="rect">
            <a:avLst/>
          </a:prstGeom>
          <a:solidFill>
            <a:srgbClr val="D5DAE3"/>
          </a:solidFill>
          <a:ln w="12700">
            <a:solidFill>
              <a:srgbClr val="D5DAE3"/>
            </a:solidFill>
            <a:prstDash val="solid"/>
          </a:ln>
        </p:spPr>
      </p:sp>
      <p:sp>
        <p:nvSpPr>
          <p:cNvPr id="225" name="anim expert 13-8"/>
          <p:cNvSpPr/>
          <p:nvPr/>
        </p:nvSpPr>
        <p:spPr>
          <a:xfrm>
            <a:off x="4773168" y="3282696"/>
            <a:ext cx="137160" cy="137160"/>
          </a:xfrm>
          <a:prstGeom prst="rect">
            <a:avLst/>
          </a:prstGeom>
          <a:solidFill>
            <a:srgbClr val="D5DAE3"/>
          </a:solidFill>
          <a:ln w="12700">
            <a:solidFill>
              <a:srgbClr val="D5DAE3"/>
            </a:solidFill>
            <a:prstDash val="solid"/>
          </a:ln>
        </p:spPr>
      </p:sp>
      <p:sp>
        <p:nvSpPr>
          <p:cNvPr id="226" name="anim expert 13-9"/>
          <p:cNvSpPr/>
          <p:nvPr/>
        </p:nvSpPr>
        <p:spPr>
          <a:xfrm>
            <a:off x="4946904" y="3282696"/>
            <a:ext cx="137160" cy="137160"/>
          </a:xfrm>
          <a:prstGeom prst="rect">
            <a:avLst/>
          </a:prstGeom>
          <a:solidFill>
            <a:srgbClr val="D5DAE3"/>
          </a:solidFill>
          <a:ln w="12700">
            <a:solidFill>
              <a:srgbClr val="D5DAE3"/>
            </a:solidFill>
            <a:prstDash val="solid"/>
          </a:ln>
        </p:spPr>
      </p:sp>
      <p:sp>
        <p:nvSpPr>
          <p:cNvPr id="227" name="anim expert 13-10"/>
          <p:cNvSpPr/>
          <p:nvPr/>
        </p:nvSpPr>
        <p:spPr>
          <a:xfrm>
            <a:off x="5120640" y="3282696"/>
            <a:ext cx="137160" cy="137160"/>
          </a:xfrm>
          <a:prstGeom prst="rect">
            <a:avLst/>
          </a:prstGeom>
          <a:solidFill>
            <a:srgbClr val="D5DAE3"/>
          </a:solidFill>
          <a:ln w="12700">
            <a:solidFill>
              <a:srgbClr val="D5DAE3"/>
            </a:solidFill>
            <a:prstDash val="solid"/>
          </a:ln>
        </p:spPr>
      </p:sp>
      <p:sp>
        <p:nvSpPr>
          <p:cNvPr id="228" name="anim expert 13-11"/>
          <p:cNvSpPr/>
          <p:nvPr/>
        </p:nvSpPr>
        <p:spPr>
          <a:xfrm>
            <a:off x="5294376" y="3282696"/>
            <a:ext cx="137160" cy="137160"/>
          </a:xfrm>
          <a:prstGeom prst="rect">
            <a:avLst/>
          </a:prstGeom>
          <a:solidFill>
            <a:srgbClr val="D5DAE3"/>
          </a:solidFill>
          <a:ln w="12700">
            <a:solidFill>
              <a:srgbClr val="D5DAE3"/>
            </a:solidFill>
            <a:prstDash val="solid"/>
          </a:ln>
        </p:spPr>
      </p:sp>
      <p:sp>
        <p:nvSpPr>
          <p:cNvPr id="229" name="anim expert 13-12"/>
          <p:cNvSpPr/>
          <p:nvPr/>
        </p:nvSpPr>
        <p:spPr>
          <a:xfrm>
            <a:off x="5468112" y="3282696"/>
            <a:ext cx="137160" cy="137160"/>
          </a:xfrm>
          <a:prstGeom prst="rect">
            <a:avLst/>
          </a:prstGeom>
          <a:solidFill>
            <a:srgbClr val="D5DAE3"/>
          </a:solidFill>
          <a:ln w="12700">
            <a:solidFill>
              <a:srgbClr val="D5DAE3"/>
            </a:solidFill>
            <a:prstDash val="solid"/>
          </a:ln>
        </p:spPr>
      </p:sp>
      <p:sp>
        <p:nvSpPr>
          <p:cNvPr id="230" name="anim expert 13-13"/>
          <p:cNvSpPr/>
          <p:nvPr/>
        </p:nvSpPr>
        <p:spPr>
          <a:xfrm>
            <a:off x="5641848" y="3282696"/>
            <a:ext cx="137160" cy="137160"/>
          </a:xfrm>
          <a:prstGeom prst="rect">
            <a:avLst/>
          </a:prstGeom>
          <a:solidFill>
            <a:srgbClr val="D5DAE3"/>
          </a:solidFill>
          <a:ln w="12700">
            <a:solidFill>
              <a:srgbClr val="D5DAE3"/>
            </a:solidFill>
            <a:prstDash val="solid"/>
          </a:ln>
        </p:spPr>
      </p:sp>
      <p:sp>
        <p:nvSpPr>
          <p:cNvPr id="231" name="anim expert 13-14"/>
          <p:cNvSpPr/>
          <p:nvPr/>
        </p:nvSpPr>
        <p:spPr>
          <a:xfrm>
            <a:off x="5815584" y="3282696"/>
            <a:ext cx="137160" cy="137160"/>
          </a:xfrm>
          <a:prstGeom prst="rect">
            <a:avLst/>
          </a:prstGeom>
          <a:solidFill>
            <a:srgbClr val="D5DAE3"/>
          </a:solidFill>
          <a:ln w="12700">
            <a:solidFill>
              <a:srgbClr val="D5DAE3"/>
            </a:solidFill>
            <a:prstDash val="solid"/>
          </a:ln>
        </p:spPr>
      </p:sp>
      <p:sp>
        <p:nvSpPr>
          <p:cNvPr id="232" name="anim expert 13-15"/>
          <p:cNvSpPr/>
          <p:nvPr/>
        </p:nvSpPr>
        <p:spPr>
          <a:xfrm>
            <a:off x="5989320" y="3282696"/>
            <a:ext cx="137160" cy="137160"/>
          </a:xfrm>
          <a:prstGeom prst="rect">
            <a:avLst/>
          </a:prstGeom>
          <a:solidFill>
            <a:srgbClr val="D5DAE3"/>
          </a:solidFill>
          <a:ln w="12700">
            <a:solidFill>
              <a:srgbClr val="D5DAE3"/>
            </a:solidFill>
            <a:prstDash val="solid"/>
          </a:ln>
        </p:spPr>
      </p:sp>
      <p:sp>
        <p:nvSpPr>
          <p:cNvPr id="233" name="anim expert 14-0"/>
          <p:cNvSpPr/>
          <p:nvPr/>
        </p:nvSpPr>
        <p:spPr>
          <a:xfrm>
            <a:off x="3383280" y="3456432"/>
            <a:ext cx="137160" cy="137160"/>
          </a:xfrm>
          <a:prstGeom prst="rect">
            <a:avLst/>
          </a:prstGeom>
          <a:solidFill>
            <a:srgbClr val="D5DAE3"/>
          </a:solidFill>
          <a:ln w="12700">
            <a:solidFill>
              <a:srgbClr val="D5DAE3"/>
            </a:solidFill>
            <a:prstDash val="solid"/>
          </a:ln>
        </p:spPr>
      </p:sp>
      <p:sp>
        <p:nvSpPr>
          <p:cNvPr id="234" name="anim expert 14-1"/>
          <p:cNvSpPr/>
          <p:nvPr/>
        </p:nvSpPr>
        <p:spPr>
          <a:xfrm>
            <a:off x="3557016" y="3456432"/>
            <a:ext cx="137160" cy="137160"/>
          </a:xfrm>
          <a:prstGeom prst="rect">
            <a:avLst/>
          </a:prstGeom>
          <a:solidFill>
            <a:srgbClr val="D5DAE3"/>
          </a:solidFill>
          <a:ln w="12700">
            <a:solidFill>
              <a:srgbClr val="D5DAE3"/>
            </a:solidFill>
            <a:prstDash val="solid"/>
          </a:ln>
        </p:spPr>
      </p:sp>
      <p:sp>
        <p:nvSpPr>
          <p:cNvPr id="235" name="anim expert 14-2"/>
          <p:cNvSpPr/>
          <p:nvPr/>
        </p:nvSpPr>
        <p:spPr>
          <a:xfrm>
            <a:off x="3730752" y="3456432"/>
            <a:ext cx="137160" cy="137160"/>
          </a:xfrm>
          <a:prstGeom prst="rect">
            <a:avLst/>
          </a:prstGeom>
          <a:solidFill>
            <a:srgbClr val="D5DAE3"/>
          </a:solidFill>
          <a:ln w="12700">
            <a:solidFill>
              <a:srgbClr val="D5DAE3"/>
            </a:solidFill>
            <a:prstDash val="solid"/>
          </a:ln>
        </p:spPr>
      </p:sp>
      <p:sp>
        <p:nvSpPr>
          <p:cNvPr id="236" name="anim expert 14-3"/>
          <p:cNvSpPr/>
          <p:nvPr/>
        </p:nvSpPr>
        <p:spPr>
          <a:xfrm>
            <a:off x="3904488" y="3456432"/>
            <a:ext cx="137160" cy="137160"/>
          </a:xfrm>
          <a:prstGeom prst="rect">
            <a:avLst/>
          </a:prstGeom>
          <a:solidFill>
            <a:srgbClr val="D5DAE3"/>
          </a:solidFill>
          <a:ln w="12700">
            <a:solidFill>
              <a:srgbClr val="D5DAE3"/>
            </a:solidFill>
            <a:prstDash val="solid"/>
          </a:ln>
        </p:spPr>
      </p:sp>
      <p:sp>
        <p:nvSpPr>
          <p:cNvPr id="237" name="anim expert 14-4"/>
          <p:cNvSpPr/>
          <p:nvPr/>
        </p:nvSpPr>
        <p:spPr>
          <a:xfrm>
            <a:off x="4078224" y="3456432"/>
            <a:ext cx="137160" cy="137160"/>
          </a:xfrm>
          <a:prstGeom prst="rect">
            <a:avLst/>
          </a:prstGeom>
          <a:solidFill>
            <a:srgbClr val="D5DAE3"/>
          </a:solidFill>
          <a:ln w="12700">
            <a:solidFill>
              <a:srgbClr val="D5DAE3"/>
            </a:solidFill>
            <a:prstDash val="solid"/>
          </a:ln>
        </p:spPr>
      </p:sp>
      <p:sp>
        <p:nvSpPr>
          <p:cNvPr id="238" name="anim expert 14-5"/>
          <p:cNvSpPr/>
          <p:nvPr/>
        </p:nvSpPr>
        <p:spPr>
          <a:xfrm>
            <a:off x="4251960" y="3456432"/>
            <a:ext cx="137160" cy="137160"/>
          </a:xfrm>
          <a:prstGeom prst="rect">
            <a:avLst/>
          </a:prstGeom>
          <a:solidFill>
            <a:srgbClr val="D5DAE3"/>
          </a:solidFill>
          <a:ln w="12700">
            <a:solidFill>
              <a:srgbClr val="D5DAE3"/>
            </a:solidFill>
            <a:prstDash val="solid"/>
          </a:ln>
        </p:spPr>
      </p:sp>
      <p:sp>
        <p:nvSpPr>
          <p:cNvPr id="239" name="anim expert 14-6"/>
          <p:cNvSpPr/>
          <p:nvPr/>
        </p:nvSpPr>
        <p:spPr>
          <a:xfrm>
            <a:off x="4425696" y="3456432"/>
            <a:ext cx="137160" cy="137160"/>
          </a:xfrm>
          <a:prstGeom prst="rect">
            <a:avLst/>
          </a:prstGeom>
          <a:solidFill>
            <a:srgbClr val="D5DAE3"/>
          </a:solidFill>
          <a:ln w="12700">
            <a:solidFill>
              <a:srgbClr val="D5DAE3"/>
            </a:solidFill>
            <a:prstDash val="solid"/>
          </a:ln>
        </p:spPr>
      </p:sp>
      <p:sp>
        <p:nvSpPr>
          <p:cNvPr id="240" name="anim expert 14-7"/>
          <p:cNvSpPr/>
          <p:nvPr/>
        </p:nvSpPr>
        <p:spPr>
          <a:xfrm>
            <a:off x="4599432" y="3456432"/>
            <a:ext cx="137160" cy="137160"/>
          </a:xfrm>
          <a:prstGeom prst="rect">
            <a:avLst/>
          </a:prstGeom>
          <a:solidFill>
            <a:srgbClr val="D5DAE3"/>
          </a:solidFill>
          <a:ln w="12700">
            <a:solidFill>
              <a:srgbClr val="D5DAE3"/>
            </a:solidFill>
            <a:prstDash val="solid"/>
          </a:ln>
        </p:spPr>
      </p:sp>
      <p:sp>
        <p:nvSpPr>
          <p:cNvPr id="241" name="anim expert 14-8"/>
          <p:cNvSpPr/>
          <p:nvPr/>
        </p:nvSpPr>
        <p:spPr>
          <a:xfrm>
            <a:off x="4773168" y="3456432"/>
            <a:ext cx="137160" cy="137160"/>
          </a:xfrm>
          <a:prstGeom prst="rect">
            <a:avLst/>
          </a:prstGeom>
          <a:solidFill>
            <a:srgbClr val="D5DAE3"/>
          </a:solidFill>
          <a:ln w="12700">
            <a:solidFill>
              <a:srgbClr val="D5DAE3"/>
            </a:solidFill>
            <a:prstDash val="solid"/>
          </a:ln>
        </p:spPr>
      </p:sp>
      <p:sp>
        <p:nvSpPr>
          <p:cNvPr id="242" name="anim expert 14-9"/>
          <p:cNvSpPr/>
          <p:nvPr/>
        </p:nvSpPr>
        <p:spPr>
          <a:xfrm>
            <a:off x="4946904" y="3456432"/>
            <a:ext cx="137160" cy="137160"/>
          </a:xfrm>
          <a:prstGeom prst="rect">
            <a:avLst/>
          </a:prstGeom>
          <a:solidFill>
            <a:srgbClr val="D5DAE3"/>
          </a:solidFill>
          <a:ln w="12700">
            <a:solidFill>
              <a:srgbClr val="D5DAE3"/>
            </a:solidFill>
            <a:prstDash val="solid"/>
          </a:ln>
        </p:spPr>
      </p:sp>
      <p:sp>
        <p:nvSpPr>
          <p:cNvPr id="243" name="anim expert 14-10"/>
          <p:cNvSpPr/>
          <p:nvPr/>
        </p:nvSpPr>
        <p:spPr>
          <a:xfrm>
            <a:off x="5120640" y="3456432"/>
            <a:ext cx="137160" cy="137160"/>
          </a:xfrm>
          <a:prstGeom prst="rect">
            <a:avLst/>
          </a:prstGeom>
          <a:solidFill>
            <a:srgbClr val="D5DAE3"/>
          </a:solidFill>
          <a:ln w="12700">
            <a:solidFill>
              <a:srgbClr val="D5DAE3"/>
            </a:solidFill>
            <a:prstDash val="solid"/>
          </a:ln>
        </p:spPr>
      </p:sp>
      <p:sp>
        <p:nvSpPr>
          <p:cNvPr id="244" name="anim expert 14-11"/>
          <p:cNvSpPr/>
          <p:nvPr/>
        </p:nvSpPr>
        <p:spPr>
          <a:xfrm>
            <a:off x="5294376" y="3456432"/>
            <a:ext cx="137160" cy="137160"/>
          </a:xfrm>
          <a:prstGeom prst="rect">
            <a:avLst/>
          </a:prstGeom>
          <a:solidFill>
            <a:srgbClr val="D5DAE3"/>
          </a:solidFill>
          <a:ln w="12700">
            <a:solidFill>
              <a:srgbClr val="D5DAE3"/>
            </a:solidFill>
            <a:prstDash val="solid"/>
          </a:ln>
        </p:spPr>
      </p:sp>
      <p:sp>
        <p:nvSpPr>
          <p:cNvPr id="245" name="anim expert 14-12"/>
          <p:cNvSpPr/>
          <p:nvPr/>
        </p:nvSpPr>
        <p:spPr>
          <a:xfrm>
            <a:off x="5468112" y="3456432"/>
            <a:ext cx="137160" cy="137160"/>
          </a:xfrm>
          <a:prstGeom prst="rect">
            <a:avLst/>
          </a:prstGeom>
          <a:solidFill>
            <a:srgbClr val="D5DAE3"/>
          </a:solidFill>
          <a:ln w="12700">
            <a:solidFill>
              <a:srgbClr val="D5DAE3"/>
            </a:solidFill>
            <a:prstDash val="solid"/>
          </a:ln>
        </p:spPr>
      </p:sp>
      <p:sp>
        <p:nvSpPr>
          <p:cNvPr id="246" name="anim expert 14-13"/>
          <p:cNvSpPr/>
          <p:nvPr/>
        </p:nvSpPr>
        <p:spPr>
          <a:xfrm>
            <a:off x="5641848" y="3456432"/>
            <a:ext cx="137160" cy="137160"/>
          </a:xfrm>
          <a:prstGeom prst="rect">
            <a:avLst/>
          </a:prstGeom>
          <a:solidFill>
            <a:srgbClr val="D5DAE3"/>
          </a:solidFill>
          <a:ln w="12700">
            <a:solidFill>
              <a:srgbClr val="D5DAE3"/>
            </a:solidFill>
            <a:prstDash val="solid"/>
          </a:ln>
        </p:spPr>
      </p:sp>
      <p:sp>
        <p:nvSpPr>
          <p:cNvPr id="247" name="anim expert 14-14"/>
          <p:cNvSpPr/>
          <p:nvPr/>
        </p:nvSpPr>
        <p:spPr>
          <a:xfrm>
            <a:off x="5815584" y="3456432"/>
            <a:ext cx="137160" cy="137160"/>
          </a:xfrm>
          <a:prstGeom prst="rect">
            <a:avLst/>
          </a:prstGeom>
          <a:solidFill>
            <a:srgbClr val="D5DAE3"/>
          </a:solidFill>
          <a:ln w="12700">
            <a:solidFill>
              <a:srgbClr val="D5DAE3"/>
            </a:solidFill>
            <a:prstDash val="solid"/>
          </a:ln>
        </p:spPr>
      </p:sp>
      <p:sp>
        <p:nvSpPr>
          <p:cNvPr id="248" name="anim expert 14-15"/>
          <p:cNvSpPr/>
          <p:nvPr/>
        </p:nvSpPr>
        <p:spPr>
          <a:xfrm>
            <a:off x="5989320" y="3456432"/>
            <a:ext cx="137160" cy="137160"/>
          </a:xfrm>
          <a:prstGeom prst="rect">
            <a:avLst/>
          </a:prstGeom>
          <a:solidFill>
            <a:srgbClr val="D5DAE3"/>
          </a:solidFill>
          <a:ln w="12700">
            <a:solidFill>
              <a:srgbClr val="D5DAE3"/>
            </a:solidFill>
            <a:prstDash val="solid"/>
          </a:ln>
        </p:spPr>
      </p:sp>
      <p:sp>
        <p:nvSpPr>
          <p:cNvPr id="249" name="anim expert 15-0"/>
          <p:cNvSpPr/>
          <p:nvPr/>
        </p:nvSpPr>
        <p:spPr>
          <a:xfrm>
            <a:off x="3383280" y="3630168"/>
            <a:ext cx="137160" cy="137160"/>
          </a:xfrm>
          <a:prstGeom prst="rect">
            <a:avLst/>
          </a:prstGeom>
          <a:solidFill>
            <a:srgbClr val="D5DAE3"/>
          </a:solidFill>
          <a:ln w="12700">
            <a:solidFill>
              <a:srgbClr val="D5DAE3"/>
            </a:solidFill>
            <a:prstDash val="solid"/>
          </a:ln>
        </p:spPr>
      </p:sp>
      <p:sp>
        <p:nvSpPr>
          <p:cNvPr id="250" name="anim expert 15-1"/>
          <p:cNvSpPr/>
          <p:nvPr/>
        </p:nvSpPr>
        <p:spPr>
          <a:xfrm>
            <a:off x="3557016" y="3630168"/>
            <a:ext cx="137160" cy="137160"/>
          </a:xfrm>
          <a:prstGeom prst="rect">
            <a:avLst/>
          </a:prstGeom>
          <a:solidFill>
            <a:srgbClr val="D5DAE3"/>
          </a:solidFill>
          <a:ln w="12700">
            <a:solidFill>
              <a:srgbClr val="D5DAE3"/>
            </a:solidFill>
            <a:prstDash val="solid"/>
          </a:ln>
        </p:spPr>
      </p:sp>
      <p:sp>
        <p:nvSpPr>
          <p:cNvPr id="251" name="anim expert 15-2"/>
          <p:cNvSpPr/>
          <p:nvPr/>
        </p:nvSpPr>
        <p:spPr>
          <a:xfrm>
            <a:off x="3730752" y="3630168"/>
            <a:ext cx="137160" cy="137160"/>
          </a:xfrm>
          <a:prstGeom prst="rect">
            <a:avLst/>
          </a:prstGeom>
          <a:solidFill>
            <a:srgbClr val="D5DAE3"/>
          </a:solidFill>
          <a:ln w="12700">
            <a:solidFill>
              <a:srgbClr val="D5DAE3"/>
            </a:solidFill>
            <a:prstDash val="solid"/>
          </a:ln>
        </p:spPr>
      </p:sp>
      <p:sp>
        <p:nvSpPr>
          <p:cNvPr id="252" name="anim expert 15-3"/>
          <p:cNvSpPr/>
          <p:nvPr/>
        </p:nvSpPr>
        <p:spPr>
          <a:xfrm>
            <a:off x="3904488" y="3630168"/>
            <a:ext cx="137160" cy="137160"/>
          </a:xfrm>
          <a:prstGeom prst="rect">
            <a:avLst/>
          </a:prstGeom>
          <a:solidFill>
            <a:srgbClr val="D5DAE3"/>
          </a:solidFill>
          <a:ln w="12700">
            <a:solidFill>
              <a:srgbClr val="D5DAE3"/>
            </a:solidFill>
            <a:prstDash val="solid"/>
          </a:ln>
        </p:spPr>
      </p:sp>
      <p:sp>
        <p:nvSpPr>
          <p:cNvPr id="253" name="anim expert 15-4"/>
          <p:cNvSpPr/>
          <p:nvPr/>
        </p:nvSpPr>
        <p:spPr>
          <a:xfrm>
            <a:off x="4078224" y="3630168"/>
            <a:ext cx="137160" cy="137160"/>
          </a:xfrm>
          <a:prstGeom prst="rect">
            <a:avLst/>
          </a:prstGeom>
          <a:solidFill>
            <a:srgbClr val="D5DAE3"/>
          </a:solidFill>
          <a:ln w="12700">
            <a:solidFill>
              <a:srgbClr val="D5DAE3"/>
            </a:solidFill>
            <a:prstDash val="solid"/>
          </a:ln>
        </p:spPr>
      </p:sp>
      <p:sp>
        <p:nvSpPr>
          <p:cNvPr id="254" name="anim expert 15-5"/>
          <p:cNvSpPr/>
          <p:nvPr/>
        </p:nvSpPr>
        <p:spPr>
          <a:xfrm>
            <a:off x="4251960" y="3630168"/>
            <a:ext cx="137160" cy="137160"/>
          </a:xfrm>
          <a:prstGeom prst="rect">
            <a:avLst/>
          </a:prstGeom>
          <a:solidFill>
            <a:srgbClr val="D5DAE3"/>
          </a:solidFill>
          <a:ln w="12700">
            <a:solidFill>
              <a:srgbClr val="D5DAE3"/>
            </a:solidFill>
            <a:prstDash val="solid"/>
          </a:ln>
        </p:spPr>
      </p:sp>
      <p:sp>
        <p:nvSpPr>
          <p:cNvPr id="255" name="anim expert 15-6"/>
          <p:cNvSpPr/>
          <p:nvPr/>
        </p:nvSpPr>
        <p:spPr>
          <a:xfrm>
            <a:off x="4425696" y="3630168"/>
            <a:ext cx="137160" cy="137160"/>
          </a:xfrm>
          <a:prstGeom prst="rect">
            <a:avLst/>
          </a:prstGeom>
          <a:solidFill>
            <a:srgbClr val="D5DAE3"/>
          </a:solidFill>
          <a:ln w="12700">
            <a:solidFill>
              <a:srgbClr val="D5DAE3"/>
            </a:solidFill>
            <a:prstDash val="solid"/>
          </a:ln>
        </p:spPr>
      </p:sp>
      <p:sp>
        <p:nvSpPr>
          <p:cNvPr id="256" name="anim expert 15-7"/>
          <p:cNvSpPr/>
          <p:nvPr/>
        </p:nvSpPr>
        <p:spPr>
          <a:xfrm>
            <a:off x="4599432" y="3630168"/>
            <a:ext cx="137160" cy="137160"/>
          </a:xfrm>
          <a:prstGeom prst="rect">
            <a:avLst/>
          </a:prstGeom>
          <a:solidFill>
            <a:srgbClr val="D5DAE3"/>
          </a:solidFill>
          <a:ln w="12700">
            <a:solidFill>
              <a:srgbClr val="D5DAE3"/>
            </a:solidFill>
            <a:prstDash val="solid"/>
          </a:ln>
        </p:spPr>
      </p:sp>
      <p:sp>
        <p:nvSpPr>
          <p:cNvPr id="257" name="anim expert 15-8"/>
          <p:cNvSpPr/>
          <p:nvPr/>
        </p:nvSpPr>
        <p:spPr>
          <a:xfrm>
            <a:off x="4773168" y="3630168"/>
            <a:ext cx="137160" cy="137160"/>
          </a:xfrm>
          <a:prstGeom prst="rect">
            <a:avLst/>
          </a:prstGeom>
          <a:solidFill>
            <a:srgbClr val="D5DAE3"/>
          </a:solidFill>
          <a:ln w="12700">
            <a:solidFill>
              <a:srgbClr val="D5DAE3"/>
            </a:solidFill>
            <a:prstDash val="solid"/>
          </a:ln>
        </p:spPr>
      </p:sp>
      <p:sp>
        <p:nvSpPr>
          <p:cNvPr id="258" name="anim expert 15-9"/>
          <p:cNvSpPr/>
          <p:nvPr/>
        </p:nvSpPr>
        <p:spPr>
          <a:xfrm>
            <a:off x="4946904" y="3630168"/>
            <a:ext cx="137160" cy="137160"/>
          </a:xfrm>
          <a:prstGeom prst="rect">
            <a:avLst/>
          </a:prstGeom>
          <a:solidFill>
            <a:srgbClr val="D5DAE3"/>
          </a:solidFill>
          <a:ln w="12700">
            <a:solidFill>
              <a:srgbClr val="D5DAE3"/>
            </a:solidFill>
            <a:prstDash val="solid"/>
          </a:ln>
        </p:spPr>
      </p:sp>
      <p:sp>
        <p:nvSpPr>
          <p:cNvPr id="259" name="anim expert 15-10"/>
          <p:cNvSpPr/>
          <p:nvPr/>
        </p:nvSpPr>
        <p:spPr>
          <a:xfrm>
            <a:off x="5120640" y="3630168"/>
            <a:ext cx="137160" cy="137160"/>
          </a:xfrm>
          <a:prstGeom prst="rect">
            <a:avLst/>
          </a:prstGeom>
          <a:solidFill>
            <a:srgbClr val="D5DAE3"/>
          </a:solidFill>
          <a:ln w="12700">
            <a:solidFill>
              <a:srgbClr val="D5DAE3"/>
            </a:solidFill>
            <a:prstDash val="solid"/>
          </a:ln>
        </p:spPr>
      </p:sp>
      <p:sp>
        <p:nvSpPr>
          <p:cNvPr id="260" name="anim expert 15-11"/>
          <p:cNvSpPr/>
          <p:nvPr/>
        </p:nvSpPr>
        <p:spPr>
          <a:xfrm>
            <a:off x="5294376" y="3630168"/>
            <a:ext cx="137160" cy="137160"/>
          </a:xfrm>
          <a:prstGeom prst="rect">
            <a:avLst/>
          </a:prstGeom>
          <a:solidFill>
            <a:srgbClr val="D5DAE3"/>
          </a:solidFill>
          <a:ln w="12700">
            <a:solidFill>
              <a:srgbClr val="D5DAE3"/>
            </a:solidFill>
            <a:prstDash val="solid"/>
          </a:ln>
        </p:spPr>
      </p:sp>
      <p:sp>
        <p:nvSpPr>
          <p:cNvPr id="261" name="anim expert 15-12"/>
          <p:cNvSpPr/>
          <p:nvPr/>
        </p:nvSpPr>
        <p:spPr>
          <a:xfrm>
            <a:off x="5468112" y="3630168"/>
            <a:ext cx="137160" cy="137160"/>
          </a:xfrm>
          <a:prstGeom prst="rect">
            <a:avLst/>
          </a:prstGeom>
          <a:solidFill>
            <a:srgbClr val="D5DAE3"/>
          </a:solidFill>
          <a:ln w="12700">
            <a:solidFill>
              <a:srgbClr val="D5DAE3"/>
            </a:solidFill>
            <a:prstDash val="solid"/>
          </a:ln>
        </p:spPr>
      </p:sp>
      <p:sp>
        <p:nvSpPr>
          <p:cNvPr id="262" name="anim expert 15-13"/>
          <p:cNvSpPr/>
          <p:nvPr/>
        </p:nvSpPr>
        <p:spPr>
          <a:xfrm>
            <a:off x="5641848" y="3630168"/>
            <a:ext cx="137160" cy="137160"/>
          </a:xfrm>
          <a:prstGeom prst="rect">
            <a:avLst/>
          </a:prstGeom>
          <a:solidFill>
            <a:srgbClr val="D5DAE3"/>
          </a:solidFill>
          <a:ln w="12700">
            <a:solidFill>
              <a:srgbClr val="D5DAE3"/>
            </a:solidFill>
            <a:prstDash val="solid"/>
          </a:ln>
        </p:spPr>
      </p:sp>
      <p:sp>
        <p:nvSpPr>
          <p:cNvPr id="263" name="anim expert 15-14"/>
          <p:cNvSpPr/>
          <p:nvPr/>
        </p:nvSpPr>
        <p:spPr>
          <a:xfrm>
            <a:off x="5815584" y="3630168"/>
            <a:ext cx="137160" cy="137160"/>
          </a:xfrm>
          <a:prstGeom prst="rect">
            <a:avLst/>
          </a:prstGeom>
          <a:solidFill>
            <a:srgbClr val="D5DAE3"/>
          </a:solidFill>
          <a:ln w="12700">
            <a:solidFill>
              <a:srgbClr val="D5DAE3"/>
            </a:solidFill>
            <a:prstDash val="solid"/>
          </a:ln>
        </p:spPr>
      </p:sp>
      <p:sp>
        <p:nvSpPr>
          <p:cNvPr id="264" name="anim expert 15-15"/>
          <p:cNvSpPr/>
          <p:nvPr/>
        </p:nvSpPr>
        <p:spPr>
          <a:xfrm>
            <a:off x="5989320" y="3630168"/>
            <a:ext cx="137160" cy="137160"/>
          </a:xfrm>
          <a:prstGeom prst="rect">
            <a:avLst/>
          </a:prstGeom>
          <a:solidFill>
            <a:srgbClr val="D5DAE3"/>
          </a:solidFill>
          <a:ln w="12700">
            <a:solidFill>
              <a:srgbClr val="D5DAE3"/>
            </a:solidFill>
            <a:prstDash val="solid"/>
          </a:ln>
        </p:spPr>
      </p:sp>
      <p:sp>
        <p:nvSpPr>
          <p:cNvPr id="265" name="anim grid label"/>
          <p:cNvSpPr txBox="1"/>
          <p:nvPr/>
        </p:nvSpPr>
        <p:spPr>
          <a:xfrm>
            <a:off x="3383280" y="3849624"/>
            <a:ext cx="2788920" cy="274320"/>
          </a:xfrm>
          <a:prstGeom prst="rect">
            <a:avLst/>
          </a:prstGeom>
          <a:noFill/>
          <a:ln/>
        </p:spPr>
        <p:txBody>
          <a:bodyPr wrap="square" lIns="0" tIns="0" rIns="0" bIns="0" rtlCol="0" anchor="t"/>
          <a:lstStyle/>
          <a:p>
            <a:pPr algn="ctr" indent="0" marL="0">
              <a:buNone/>
            </a:pPr>
            <a:r>
              <a:rPr lang="en-US" sz="1200" dirty="0">
                <a:solidFill>
                  <a:schemeClr val="accent4"/>
                </a:solidFill>
              </a:rPr>
              <a:t>256 experts stored · 501B parameters</a:t>
            </a:r>
            <a:endParaRPr lang="en-US" sz="1200" dirty="0"/>
          </a:p>
        </p:txBody>
      </p:sp>
      <p:sp>
        <p:nvSpPr>
          <p:cNvPr id="266" name="anim active 0"/>
          <p:cNvSpPr/>
          <p:nvPr/>
        </p:nvSpPr>
        <p:spPr>
          <a:xfrm>
            <a:off x="3886200" y="1179576"/>
            <a:ext cx="173736" cy="173736"/>
          </a:xfrm>
          <a:prstGeom prst="rect">
            <a:avLst/>
          </a:prstGeom>
          <a:solidFill>
            <a:schemeClr val="accent1"/>
          </a:solidFill>
          <a:ln w="12700">
            <a:solidFill>
              <a:schemeClr val="tx2"/>
            </a:solidFill>
            <a:prstDash val="solid"/>
          </a:ln>
        </p:spPr>
      </p:sp>
      <p:sp>
        <p:nvSpPr>
          <p:cNvPr id="267" name="anim active 1"/>
          <p:cNvSpPr/>
          <p:nvPr/>
        </p:nvSpPr>
        <p:spPr>
          <a:xfrm>
            <a:off x="5276088" y="1353312"/>
            <a:ext cx="173736" cy="173736"/>
          </a:xfrm>
          <a:prstGeom prst="rect">
            <a:avLst/>
          </a:prstGeom>
          <a:solidFill>
            <a:schemeClr val="accent1"/>
          </a:solidFill>
          <a:ln w="12700">
            <a:solidFill>
              <a:schemeClr val="tx2"/>
            </a:solidFill>
            <a:prstDash val="solid"/>
          </a:ln>
        </p:spPr>
      </p:sp>
      <p:sp>
        <p:nvSpPr>
          <p:cNvPr id="268" name="anim active 2"/>
          <p:cNvSpPr/>
          <p:nvPr/>
        </p:nvSpPr>
        <p:spPr>
          <a:xfrm>
            <a:off x="4407408" y="1874520"/>
            <a:ext cx="173736" cy="173736"/>
          </a:xfrm>
          <a:prstGeom prst="rect">
            <a:avLst/>
          </a:prstGeom>
          <a:solidFill>
            <a:schemeClr val="accent1"/>
          </a:solidFill>
          <a:ln w="12700">
            <a:solidFill>
              <a:schemeClr val="tx2"/>
            </a:solidFill>
            <a:prstDash val="solid"/>
          </a:ln>
        </p:spPr>
      </p:sp>
      <p:sp>
        <p:nvSpPr>
          <p:cNvPr id="269" name="anim active 3"/>
          <p:cNvSpPr/>
          <p:nvPr/>
        </p:nvSpPr>
        <p:spPr>
          <a:xfrm>
            <a:off x="5797296" y="2221992"/>
            <a:ext cx="173736" cy="173736"/>
          </a:xfrm>
          <a:prstGeom prst="rect">
            <a:avLst/>
          </a:prstGeom>
          <a:solidFill>
            <a:schemeClr val="accent1"/>
          </a:solidFill>
          <a:ln w="12700">
            <a:solidFill>
              <a:schemeClr val="tx2"/>
            </a:solidFill>
            <a:prstDash val="solid"/>
          </a:ln>
        </p:spPr>
      </p:sp>
      <p:sp>
        <p:nvSpPr>
          <p:cNvPr id="270" name="anim active 4"/>
          <p:cNvSpPr/>
          <p:nvPr/>
        </p:nvSpPr>
        <p:spPr>
          <a:xfrm>
            <a:off x="3538728" y="2569464"/>
            <a:ext cx="173736" cy="173736"/>
          </a:xfrm>
          <a:prstGeom prst="rect">
            <a:avLst/>
          </a:prstGeom>
          <a:solidFill>
            <a:schemeClr val="accent1"/>
          </a:solidFill>
          <a:ln w="12700">
            <a:solidFill>
              <a:schemeClr val="tx2"/>
            </a:solidFill>
            <a:prstDash val="solid"/>
          </a:ln>
        </p:spPr>
      </p:sp>
      <p:sp>
        <p:nvSpPr>
          <p:cNvPr id="271" name="anim active 5"/>
          <p:cNvSpPr/>
          <p:nvPr/>
        </p:nvSpPr>
        <p:spPr>
          <a:xfrm>
            <a:off x="4928616" y="2916936"/>
            <a:ext cx="173736" cy="173736"/>
          </a:xfrm>
          <a:prstGeom prst="rect">
            <a:avLst/>
          </a:prstGeom>
          <a:solidFill>
            <a:schemeClr val="accent1"/>
          </a:solidFill>
          <a:ln w="12700">
            <a:solidFill>
              <a:schemeClr val="tx2"/>
            </a:solidFill>
            <a:prstDash val="solid"/>
          </a:ln>
        </p:spPr>
      </p:sp>
      <p:sp>
        <p:nvSpPr>
          <p:cNvPr id="272" name="anim active 6"/>
          <p:cNvSpPr/>
          <p:nvPr/>
        </p:nvSpPr>
        <p:spPr>
          <a:xfrm>
            <a:off x="4059936" y="3264408"/>
            <a:ext cx="173736" cy="173736"/>
          </a:xfrm>
          <a:prstGeom prst="rect">
            <a:avLst/>
          </a:prstGeom>
          <a:solidFill>
            <a:schemeClr val="accent1"/>
          </a:solidFill>
          <a:ln w="12700">
            <a:solidFill>
              <a:schemeClr val="tx2"/>
            </a:solidFill>
            <a:prstDash val="solid"/>
          </a:ln>
        </p:spPr>
      </p:sp>
      <p:sp>
        <p:nvSpPr>
          <p:cNvPr id="273" name="anim active 7"/>
          <p:cNvSpPr/>
          <p:nvPr/>
        </p:nvSpPr>
        <p:spPr>
          <a:xfrm>
            <a:off x="5449824" y="3438144"/>
            <a:ext cx="173736" cy="173736"/>
          </a:xfrm>
          <a:prstGeom prst="rect">
            <a:avLst/>
          </a:prstGeom>
          <a:solidFill>
            <a:schemeClr val="accent1"/>
          </a:solidFill>
          <a:ln w="12700">
            <a:solidFill>
              <a:schemeClr val="tx2"/>
            </a:solidFill>
            <a:prstDash val="solid"/>
          </a:ln>
        </p:spPr>
      </p:sp>
      <p:sp>
        <p:nvSpPr>
          <p:cNvPr id="274" name="anim active label"/>
          <p:cNvSpPr txBox="1"/>
          <p:nvPr/>
        </p:nvSpPr>
        <p:spPr>
          <a:xfrm>
            <a:off x="3383280" y="4123944"/>
            <a:ext cx="2788920" cy="274320"/>
          </a:xfrm>
          <a:prstGeom prst="rect">
            <a:avLst/>
          </a:prstGeom>
          <a:noFill/>
          <a:ln/>
        </p:spPr>
        <p:txBody>
          <a:bodyPr wrap="square" lIns="0" tIns="0" rIns="0" bIns="0" rtlCol="0" anchor="t"/>
          <a:lstStyle/>
          <a:p>
            <a:pPr algn="ctr" indent="0" marL="0">
              <a:buNone/>
            </a:pPr>
            <a:r>
              <a:rPr lang="en-US" sz="1200" b="1" dirty="0">
                <a:solidFill>
                  <a:schemeClr val="tx2"/>
                </a:solidFill>
              </a:rPr>
              <a:t>Only 8 run for this token</a:t>
            </a:r>
            <a:endParaRPr lang="en-US" sz="1200" dirty="0"/>
          </a:p>
        </p:txBody>
      </p:sp>
      <p:sp>
        <p:nvSpPr>
          <p:cNvPr id="275" name="anim cap 1"/>
          <p:cNvSpPr txBox="1"/>
          <p:nvPr/>
        </p:nvSpPr>
        <p:spPr>
          <a:xfrm>
            <a:off x="6400800" y="1024128"/>
            <a:ext cx="2286000" cy="658368"/>
          </a:xfrm>
          <a:prstGeom prst="rect">
            <a:avLst/>
          </a:prstGeom>
          <a:noFill/>
          <a:ln/>
        </p:spPr>
        <p:txBody>
          <a:bodyPr wrap="square" lIns="0" tIns="0" rIns="0" bIns="0" rtlCol="0" anchor="t"/>
          <a:lstStyle/>
          <a:p>
            <a:pPr indent="0" marL="0">
              <a:buNone/>
            </a:pPr>
            <a:r>
              <a:rPr lang="en-US" sz="1200" b="1" dirty="0">
                <a:solidFill>
                  <a:schemeClr val="accent2"/>
                </a:solidFill>
              </a:rPr>
              <a:t>1  A router reads the token</a:t>
            </a:r>
            <a:endParaRPr lang="en-US" sz="1200" dirty="0"/>
          </a:p>
          <a:p>
            <a:pPr indent="0" marL="0">
              <a:buNone/>
            </a:pPr>
            <a:r>
              <a:rPr lang="en-US" sz="1200" dirty="0">
                <a:solidFill>
                  <a:schemeClr val="tx1"/>
                </a:solidFill>
              </a:rPr>
              <a:t>and scores every expert</a:t>
            </a:r>
            <a:endParaRPr lang="en-US" sz="1200" dirty="0"/>
          </a:p>
        </p:txBody>
      </p:sp>
      <p:sp>
        <p:nvSpPr>
          <p:cNvPr id="276" name="anim cap 2"/>
          <p:cNvSpPr txBox="1"/>
          <p:nvPr/>
        </p:nvSpPr>
        <p:spPr>
          <a:xfrm>
            <a:off x="6400800" y="1682496"/>
            <a:ext cx="2286000" cy="658368"/>
          </a:xfrm>
          <a:prstGeom prst="rect">
            <a:avLst/>
          </a:prstGeom>
          <a:noFill/>
          <a:ln/>
        </p:spPr>
        <p:txBody>
          <a:bodyPr wrap="square" lIns="0" tIns="0" rIns="0" bIns="0" rtlCol="0" anchor="t"/>
          <a:lstStyle/>
          <a:p>
            <a:pPr indent="0" marL="0">
              <a:buNone/>
            </a:pPr>
            <a:r>
              <a:rPr lang="en-US" sz="1200" b="1" dirty="0">
                <a:solidFill>
                  <a:schemeClr val="accent2"/>
                </a:solidFill>
              </a:rPr>
              <a:t>2  256 specialist experts</a:t>
            </a:r>
            <a:endParaRPr lang="en-US" sz="1200" dirty="0"/>
          </a:p>
          <a:p>
            <a:pPr indent="0" marL="0">
              <a:buNone/>
            </a:pPr>
            <a:r>
              <a:rPr lang="en-US" sz="1200" dirty="0">
                <a:solidFill>
                  <a:schemeClr val="tx1"/>
                </a:solidFill>
              </a:rPr>
              <a:t>hold the model’s knowledge</a:t>
            </a:r>
            <a:endParaRPr lang="en-US" sz="1200" dirty="0"/>
          </a:p>
        </p:txBody>
      </p:sp>
      <p:sp>
        <p:nvSpPr>
          <p:cNvPr id="277" name="anim cap 3"/>
          <p:cNvSpPr txBox="1"/>
          <p:nvPr/>
        </p:nvSpPr>
        <p:spPr>
          <a:xfrm>
            <a:off x="6400800" y="2340864"/>
            <a:ext cx="2286000" cy="658368"/>
          </a:xfrm>
          <a:prstGeom prst="rect">
            <a:avLst/>
          </a:prstGeom>
          <a:noFill/>
          <a:ln/>
        </p:spPr>
        <p:txBody>
          <a:bodyPr wrap="square" lIns="0" tIns="0" rIns="0" bIns="0" rtlCol="0" anchor="t"/>
          <a:lstStyle/>
          <a:p>
            <a:pPr indent="0" marL="0">
              <a:buNone/>
            </a:pPr>
            <a:r>
              <a:rPr lang="en-US" sz="1200" b="1" dirty="0">
                <a:solidFill>
                  <a:schemeClr val="accent2"/>
                </a:solidFill>
              </a:rPr>
              <a:t>3  Only the top 8 wake up</a:t>
            </a:r>
            <a:endParaRPr lang="en-US" sz="1200" dirty="0"/>
          </a:p>
          <a:p>
            <a:pPr indent="0" marL="0">
              <a:buNone/>
            </a:pPr>
            <a:r>
              <a:rPr lang="en-US" sz="1200" dirty="0">
                <a:solidFill>
                  <a:schemeClr val="tx1"/>
                </a:solidFill>
              </a:rPr>
              <a:t>23.4B of 501B parameters (4.7%)</a:t>
            </a:r>
            <a:endParaRPr lang="en-US" sz="1200" dirty="0"/>
          </a:p>
        </p:txBody>
      </p:sp>
      <p:sp>
        <p:nvSpPr>
          <p:cNvPr id="278" name="anim bars title"/>
          <p:cNvSpPr txBox="1"/>
          <p:nvPr/>
        </p:nvSpPr>
        <p:spPr>
          <a:xfrm>
            <a:off x="6400800" y="3108960"/>
            <a:ext cx="2286000" cy="274320"/>
          </a:xfrm>
          <a:prstGeom prst="rect">
            <a:avLst/>
          </a:prstGeom>
          <a:noFill/>
          <a:ln/>
        </p:spPr>
        <p:txBody>
          <a:bodyPr wrap="square" lIns="0" tIns="0" rIns="0" bIns="0" rtlCol="0" anchor="t"/>
          <a:lstStyle/>
          <a:p>
            <a:pPr indent="0" marL="0">
              <a:buNone/>
            </a:pPr>
            <a:r>
              <a:rPr lang="en-US" sz="1200" b="1" dirty="0">
                <a:solidFill>
                  <a:schemeClr val="tx2"/>
                </a:solidFill>
              </a:rPr>
              <a:t>Compute per token</a:t>
            </a:r>
            <a:endParaRPr lang="en-US" sz="1200" dirty="0"/>
          </a:p>
        </p:txBody>
      </p:sp>
      <p:sp>
        <p:nvSpPr>
          <p:cNvPr id="279" name="anim dense label"/>
          <p:cNvSpPr txBox="1"/>
          <p:nvPr/>
        </p:nvSpPr>
        <p:spPr>
          <a:xfrm>
            <a:off x="6400800" y="3401568"/>
            <a:ext cx="2286000" cy="228600"/>
          </a:xfrm>
          <a:prstGeom prst="rect">
            <a:avLst/>
          </a:prstGeom>
          <a:noFill/>
          <a:ln/>
        </p:spPr>
        <p:txBody>
          <a:bodyPr wrap="square" lIns="0" tIns="0" rIns="0" bIns="0" rtlCol="0" anchor="t"/>
          <a:lstStyle/>
          <a:p>
            <a:pPr indent="0" marL="0">
              <a:buNone/>
            </a:pPr>
            <a:r>
              <a:rPr lang="en-US" sz="1100" dirty="0">
                <a:solidFill>
                  <a:schemeClr val="tx1"/>
                </a:solidFill>
              </a:rPr>
              <a:t>Dense 501B model</a:t>
            </a:r>
            <a:endParaRPr lang="en-US" sz="1100" dirty="0"/>
          </a:p>
        </p:txBody>
      </p:sp>
      <p:sp>
        <p:nvSpPr>
          <p:cNvPr id="280" name="anim dense bar"/>
          <p:cNvSpPr/>
          <p:nvPr/>
        </p:nvSpPr>
        <p:spPr>
          <a:xfrm>
            <a:off x="6400800" y="3639312"/>
            <a:ext cx="2286000" cy="201168"/>
          </a:xfrm>
          <a:prstGeom prst="rect">
            <a:avLst/>
          </a:prstGeom>
          <a:solidFill>
            <a:schemeClr val="accent4"/>
          </a:solidFill>
          <a:ln w="12700">
            <a:solidFill>
              <a:schemeClr val="accent4"/>
            </a:solidFill>
            <a:prstDash val="solid"/>
          </a:ln>
        </p:spPr>
      </p:sp>
      <p:sp>
        <p:nvSpPr>
          <p:cNvPr id="281" name="anim beam label"/>
          <p:cNvSpPr txBox="1"/>
          <p:nvPr/>
        </p:nvSpPr>
        <p:spPr>
          <a:xfrm>
            <a:off x="6400800" y="3913632"/>
            <a:ext cx="2286000" cy="228600"/>
          </a:xfrm>
          <a:prstGeom prst="rect">
            <a:avLst/>
          </a:prstGeom>
          <a:noFill/>
          <a:ln/>
        </p:spPr>
        <p:txBody>
          <a:bodyPr wrap="square" lIns="0" tIns="0" rIns="0" bIns="0" rtlCol="0" anchor="t"/>
          <a:lstStyle/>
          <a:p>
            <a:pPr indent="0" marL="0">
              <a:buNone/>
            </a:pPr>
            <a:r>
              <a:rPr lang="en-US" sz="1100" dirty="0">
                <a:solidFill>
                  <a:schemeClr val="tx1"/>
                </a:solidFill>
              </a:rPr>
              <a:t>Beam (4.7%)</a:t>
            </a:r>
            <a:endParaRPr lang="en-US" sz="1100" dirty="0"/>
          </a:p>
        </p:txBody>
      </p:sp>
      <p:sp>
        <p:nvSpPr>
          <p:cNvPr id="282" name="anim beam bar"/>
          <p:cNvSpPr/>
          <p:nvPr/>
        </p:nvSpPr>
        <p:spPr>
          <a:xfrm>
            <a:off x="6400800" y="4151376"/>
            <a:ext cx="107442" cy="201168"/>
          </a:xfrm>
          <a:prstGeom prst="rect">
            <a:avLst/>
          </a:prstGeom>
          <a:solidFill>
            <a:schemeClr val="accent1"/>
          </a:solidFill>
          <a:ln w="12700">
            <a:solidFill>
              <a:schemeClr val="accent1"/>
            </a:solidFill>
            <a:prstDash val="solid"/>
          </a:ln>
        </p:spPr>
      </p:sp>
      <p:sp>
        <p:nvSpPr>
          <p:cNvPr id="283" name="anim beam callout"/>
          <p:cNvSpPr txBox="1"/>
          <p:nvPr/>
        </p:nvSpPr>
        <p:spPr>
          <a:xfrm>
            <a:off x="6629400" y="4114800"/>
            <a:ext cx="2011680" cy="274320"/>
          </a:xfrm>
          <a:prstGeom prst="rect">
            <a:avLst/>
          </a:prstGeom>
          <a:noFill/>
          <a:ln/>
        </p:spPr>
        <p:txBody>
          <a:bodyPr wrap="square" lIns="0" tIns="0" rIns="0" bIns="0" rtlCol="0" anchor="t"/>
          <a:lstStyle/>
          <a:p>
            <a:pPr indent="0" marL="0">
              <a:buNone/>
            </a:pPr>
            <a:r>
              <a:rPr lang="en-US" sz="1400" b="1" dirty="0">
                <a:solidFill>
                  <a:schemeClr val="accent2"/>
                </a:solidFill>
              </a:rPr>
              <a:t>≈ 21× less compute</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75"/>
                                        </p:tgtEl>
                                        <p:attrNameLst>
                                          <p:attrName>style.visibility</p:attrName>
                                        </p:attrNameLst>
                                      </p:cBhvr>
                                      <p:to>
                                        <p:strVal val="visible"/>
                                      </p:to>
                                    </p:set>
                                    <p:animEffect transition="in" filter="fade">
                                      <p:cBhvr>
                                        <p:cTn id="16" dur="500"/>
                                        <p:tgtEl>
                                          <p:spTgt spid="27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500"/>
                                        <p:tgtEl>
                                          <p:spTgt spid="9"/>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500"/>
                                        <p:tgtEl>
                                          <p:spTgt spid="1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500"/>
                                        <p:tgtEl>
                                          <p:spTgt spid="1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500"/>
                                        <p:tgtEl>
                                          <p:spTgt spid="20"/>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500"/>
                                        <p:tgtEl>
                                          <p:spTgt spid="21"/>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5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5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5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50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500"/>
                                        <p:tgtEl>
                                          <p:spTgt spid="26"/>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animEffect transition="in" filter="fade">
                                      <p:cBhvr>
                                        <p:cTn id="81" dur="500"/>
                                        <p:tgtEl>
                                          <p:spTgt spid="28"/>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9"/>
                                        </p:tgtEl>
                                        <p:attrNameLst>
                                          <p:attrName>style.visibility</p:attrName>
                                        </p:attrNameLst>
                                      </p:cBhvr>
                                      <p:to>
                                        <p:strVal val="visible"/>
                                      </p:to>
                                    </p:set>
                                    <p:animEffect transition="in" filter="fade">
                                      <p:cBhvr>
                                        <p:cTn id="84" dur="500"/>
                                        <p:tgtEl>
                                          <p:spTgt spid="29"/>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500"/>
                                        <p:tgtEl>
                                          <p:spTgt spid="30"/>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500"/>
                                        <p:tgtEl>
                                          <p:spTgt spid="31"/>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2"/>
                                        </p:tgtEl>
                                        <p:attrNameLst>
                                          <p:attrName>style.visibility</p:attrName>
                                        </p:attrNameLst>
                                      </p:cBhvr>
                                      <p:to>
                                        <p:strVal val="visible"/>
                                      </p:to>
                                    </p:set>
                                    <p:animEffect transition="in" filter="fade">
                                      <p:cBhvr>
                                        <p:cTn id="93" dur="500"/>
                                        <p:tgtEl>
                                          <p:spTgt spid="32"/>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3"/>
                                        </p:tgtEl>
                                        <p:attrNameLst>
                                          <p:attrName>style.visibility</p:attrName>
                                        </p:attrNameLst>
                                      </p:cBhvr>
                                      <p:to>
                                        <p:strVal val="visible"/>
                                      </p:to>
                                    </p:set>
                                    <p:animEffect transition="in" filter="fade">
                                      <p:cBhvr>
                                        <p:cTn id="96" dur="500"/>
                                        <p:tgtEl>
                                          <p:spTgt spid="33"/>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4"/>
                                        </p:tgtEl>
                                        <p:attrNameLst>
                                          <p:attrName>style.visibility</p:attrName>
                                        </p:attrNameLst>
                                      </p:cBhvr>
                                      <p:to>
                                        <p:strVal val="visible"/>
                                      </p:to>
                                    </p:set>
                                    <p:animEffect transition="in" filter="fade">
                                      <p:cBhvr>
                                        <p:cTn id="99" dur="500"/>
                                        <p:tgtEl>
                                          <p:spTgt spid="34"/>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500"/>
                                        <p:tgtEl>
                                          <p:spTgt spid="35"/>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36"/>
                                        </p:tgtEl>
                                        <p:attrNameLst>
                                          <p:attrName>style.visibility</p:attrName>
                                        </p:attrNameLst>
                                      </p:cBhvr>
                                      <p:to>
                                        <p:strVal val="visible"/>
                                      </p:to>
                                    </p:set>
                                    <p:animEffect transition="in" filter="fade">
                                      <p:cBhvr>
                                        <p:cTn id="105" dur="500"/>
                                        <p:tgtEl>
                                          <p:spTgt spid="36"/>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7"/>
                                        </p:tgtEl>
                                        <p:attrNameLst>
                                          <p:attrName>style.visibility</p:attrName>
                                        </p:attrNameLst>
                                      </p:cBhvr>
                                      <p:to>
                                        <p:strVal val="visible"/>
                                      </p:to>
                                    </p:set>
                                    <p:animEffect transition="in" filter="fade">
                                      <p:cBhvr>
                                        <p:cTn id="108" dur="500"/>
                                        <p:tgtEl>
                                          <p:spTgt spid="37"/>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9"/>
                                        </p:tgtEl>
                                        <p:attrNameLst>
                                          <p:attrName>style.visibility</p:attrName>
                                        </p:attrNameLst>
                                      </p:cBhvr>
                                      <p:to>
                                        <p:strVal val="visible"/>
                                      </p:to>
                                    </p:set>
                                    <p:animEffect transition="in" filter="fade">
                                      <p:cBhvr>
                                        <p:cTn id="114" dur="500"/>
                                        <p:tgtEl>
                                          <p:spTgt spid="39"/>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40"/>
                                        </p:tgtEl>
                                        <p:attrNameLst>
                                          <p:attrName>style.visibility</p:attrName>
                                        </p:attrNameLst>
                                      </p:cBhvr>
                                      <p:to>
                                        <p:strVal val="visible"/>
                                      </p:to>
                                    </p:set>
                                    <p:animEffect transition="in" filter="fade">
                                      <p:cBhvr>
                                        <p:cTn id="117" dur="500"/>
                                        <p:tgtEl>
                                          <p:spTgt spid="4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41"/>
                                        </p:tgtEl>
                                        <p:attrNameLst>
                                          <p:attrName>style.visibility</p:attrName>
                                        </p:attrNameLst>
                                      </p:cBhvr>
                                      <p:to>
                                        <p:strVal val="visible"/>
                                      </p:to>
                                    </p:set>
                                    <p:animEffect transition="in" filter="fade">
                                      <p:cBhvr>
                                        <p:cTn id="120" dur="500"/>
                                        <p:tgtEl>
                                          <p:spTgt spid="41"/>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42"/>
                                        </p:tgtEl>
                                        <p:attrNameLst>
                                          <p:attrName>style.visibility</p:attrName>
                                        </p:attrNameLst>
                                      </p:cBhvr>
                                      <p:to>
                                        <p:strVal val="visible"/>
                                      </p:to>
                                    </p:set>
                                    <p:animEffect transition="in" filter="fade">
                                      <p:cBhvr>
                                        <p:cTn id="123" dur="500"/>
                                        <p:tgtEl>
                                          <p:spTgt spid="42"/>
                                        </p:tgtEl>
                                      </p:cBhvr>
                                    </p:animEffect>
                                  </p:childTnLst>
                                </p:cTn>
                              </p:par>
                              <p:par>
                                <p:cTn id="124" presetID="10" presetClass="entr" presetSubtype="0" fill="hold" grpId="0" nodeType="withEffect">
                                  <p:stCondLst>
                                    <p:cond delay="0"/>
                                  </p:stCondLst>
                                  <p:childTnLst>
                                    <p:set>
                                      <p:cBhvr>
                                        <p:cTn id="125" dur="1" fill="hold">
                                          <p:stCondLst>
                                            <p:cond delay="0"/>
                                          </p:stCondLst>
                                        </p:cTn>
                                        <p:tgtEl>
                                          <p:spTgt spid="43"/>
                                        </p:tgtEl>
                                        <p:attrNameLst>
                                          <p:attrName>style.visibility</p:attrName>
                                        </p:attrNameLst>
                                      </p:cBhvr>
                                      <p:to>
                                        <p:strVal val="visible"/>
                                      </p:to>
                                    </p:set>
                                    <p:animEffect transition="in" filter="fade">
                                      <p:cBhvr>
                                        <p:cTn id="126" dur="500"/>
                                        <p:tgtEl>
                                          <p:spTgt spid="43"/>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44"/>
                                        </p:tgtEl>
                                        <p:attrNameLst>
                                          <p:attrName>style.visibility</p:attrName>
                                        </p:attrNameLst>
                                      </p:cBhvr>
                                      <p:to>
                                        <p:strVal val="visible"/>
                                      </p:to>
                                    </p:set>
                                    <p:animEffect transition="in" filter="fade">
                                      <p:cBhvr>
                                        <p:cTn id="129" dur="500"/>
                                        <p:tgtEl>
                                          <p:spTgt spid="44"/>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45"/>
                                        </p:tgtEl>
                                        <p:attrNameLst>
                                          <p:attrName>style.visibility</p:attrName>
                                        </p:attrNameLst>
                                      </p:cBhvr>
                                      <p:to>
                                        <p:strVal val="visible"/>
                                      </p:to>
                                    </p:set>
                                    <p:animEffect transition="in" filter="fade">
                                      <p:cBhvr>
                                        <p:cTn id="132" dur="500"/>
                                        <p:tgtEl>
                                          <p:spTgt spid="45"/>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46"/>
                                        </p:tgtEl>
                                        <p:attrNameLst>
                                          <p:attrName>style.visibility</p:attrName>
                                        </p:attrNameLst>
                                      </p:cBhvr>
                                      <p:to>
                                        <p:strVal val="visible"/>
                                      </p:to>
                                    </p:set>
                                    <p:animEffect transition="in" filter="fade">
                                      <p:cBhvr>
                                        <p:cTn id="135" dur="500"/>
                                        <p:tgtEl>
                                          <p:spTgt spid="46"/>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47"/>
                                        </p:tgtEl>
                                        <p:attrNameLst>
                                          <p:attrName>style.visibility</p:attrName>
                                        </p:attrNameLst>
                                      </p:cBhvr>
                                      <p:to>
                                        <p:strVal val="visible"/>
                                      </p:to>
                                    </p:set>
                                    <p:animEffect transition="in" filter="fade">
                                      <p:cBhvr>
                                        <p:cTn id="138" dur="500"/>
                                        <p:tgtEl>
                                          <p:spTgt spid="47"/>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48"/>
                                        </p:tgtEl>
                                        <p:attrNameLst>
                                          <p:attrName>style.visibility</p:attrName>
                                        </p:attrNameLst>
                                      </p:cBhvr>
                                      <p:to>
                                        <p:strVal val="visible"/>
                                      </p:to>
                                    </p:set>
                                    <p:animEffect transition="in" filter="fade">
                                      <p:cBhvr>
                                        <p:cTn id="141" dur="500"/>
                                        <p:tgtEl>
                                          <p:spTgt spid="48"/>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500"/>
                                        <p:tgtEl>
                                          <p:spTgt spid="4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500"/>
                                        <p:tgtEl>
                                          <p:spTgt spid="50"/>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500"/>
                                        <p:tgtEl>
                                          <p:spTgt spid="5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500"/>
                                        <p:tgtEl>
                                          <p:spTgt spid="5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500"/>
                                        <p:tgtEl>
                                          <p:spTgt spid="5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500"/>
                                        <p:tgtEl>
                                          <p:spTgt spid="5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500"/>
                                        <p:tgtEl>
                                          <p:spTgt spid="5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500"/>
                                        <p:tgtEl>
                                          <p:spTgt spid="5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500"/>
                                        <p:tgtEl>
                                          <p:spTgt spid="5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50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500"/>
                                        <p:tgtEl>
                                          <p:spTgt spid="59"/>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500"/>
                                        <p:tgtEl>
                                          <p:spTgt spid="60"/>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500"/>
                                        <p:tgtEl>
                                          <p:spTgt spid="61"/>
                                        </p:tgtEl>
                                      </p:cBhvr>
                                    </p:animEffect>
                                  </p:childTnLst>
                                </p:cTn>
                              </p:par>
                              <p:par>
                                <p:cTn id="181" presetID="10" presetClass="entr" presetSubtype="0" fill="hold" grpId="0" nodeType="withEffect">
                                  <p:stCondLst>
                                    <p:cond delay="0"/>
                                  </p:stCondLst>
                                  <p:childTnLst>
                                    <p:set>
                                      <p:cBhvr>
                                        <p:cTn id="182" dur="1" fill="hold">
                                          <p:stCondLst>
                                            <p:cond delay="0"/>
                                          </p:stCondLst>
                                        </p:cTn>
                                        <p:tgtEl>
                                          <p:spTgt spid="62"/>
                                        </p:tgtEl>
                                        <p:attrNameLst>
                                          <p:attrName>style.visibility</p:attrName>
                                        </p:attrNameLst>
                                      </p:cBhvr>
                                      <p:to>
                                        <p:strVal val="visible"/>
                                      </p:to>
                                    </p:set>
                                    <p:animEffect transition="in" filter="fade">
                                      <p:cBhvr>
                                        <p:cTn id="183" dur="500"/>
                                        <p:tgtEl>
                                          <p:spTgt spid="62"/>
                                        </p:tgtEl>
                                      </p:cBhvr>
                                    </p:animEffect>
                                  </p:childTnLst>
                                </p:cTn>
                              </p:par>
                              <p:par>
                                <p:cTn id="184" presetID="10" presetClass="entr" presetSubtype="0" fill="hold" grpId="0" nodeType="with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fade">
                                      <p:cBhvr>
                                        <p:cTn id="186" dur="500"/>
                                        <p:tgtEl>
                                          <p:spTgt spid="63"/>
                                        </p:tgtEl>
                                      </p:cBhvr>
                                    </p:animEffect>
                                  </p:childTnLst>
                                </p:cTn>
                              </p:par>
                              <p:par>
                                <p:cTn id="187" presetID="10" presetClass="entr" presetSubtype="0" fill="hold" grpId="0" nodeType="with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fade">
                                      <p:cBhvr>
                                        <p:cTn id="189" dur="500"/>
                                        <p:tgtEl>
                                          <p:spTgt spid="64"/>
                                        </p:tgtEl>
                                      </p:cBhvr>
                                    </p:animEffect>
                                  </p:childTnLst>
                                </p:cTn>
                              </p:par>
                              <p:par>
                                <p:cTn id="190" presetID="10" presetClass="entr" presetSubtype="0" fill="hold" grpId="0" nodeType="withEffect">
                                  <p:stCondLst>
                                    <p:cond delay="0"/>
                                  </p:stCondLst>
                                  <p:childTnLst>
                                    <p:set>
                                      <p:cBhvr>
                                        <p:cTn id="191" dur="1" fill="hold">
                                          <p:stCondLst>
                                            <p:cond delay="0"/>
                                          </p:stCondLst>
                                        </p:cTn>
                                        <p:tgtEl>
                                          <p:spTgt spid="65"/>
                                        </p:tgtEl>
                                        <p:attrNameLst>
                                          <p:attrName>style.visibility</p:attrName>
                                        </p:attrNameLst>
                                      </p:cBhvr>
                                      <p:to>
                                        <p:strVal val="visible"/>
                                      </p:to>
                                    </p:set>
                                    <p:animEffect transition="in" filter="fade">
                                      <p:cBhvr>
                                        <p:cTn id="192" dur="500"/>
                                        <p:tgtEl>
                                          <p:spTgt spid="65"/>
                                        </p:tgtEl>
                                      </p:cBhvr>
                                    </p:animEffect>
                                  </p:childTnLst>
                                </p:cTn>
                              </p:par>
                              <p:par>
                                <p:cTn id="193" presetID="10" presetClass="entr" presetSubtype="0" fill="hold" grpId="0" nodeType="withEffect">
                                  <p:stCondLst>
                                    <p:cond delay="0"/>
                                  </p:stCondLst>
                                  <p:childTnLst>
                                    <p:set>
                                      <p:cBhvr>
                                        <p:cTn id="194" dur="1" fill="hold">
                                          <p:stCondLst>
                                            <p:cond delay="0"/>
                                          </p:stCondLst>
                                        </p:cTn>
                                        <p:tgtEl>
                                          <p:spTgt spid="66"/>
                                        </p:tgtEl>
                                        <p:attrNameLst>
                                          <p:attrName>style.visibility</p:attrName>
                                        </p:attrNameLst>
                                      </p:cBhvr>
                                      <p:to>
                                        <p:strVal val="visible"/>
                                      </p:to>
                                    </p:set>
                                    <p:animEffect transition="in" filter="fade">
                                      <p:cBhvr>
                                        <p:cTn id="195" dur="500"/>
                                        <p:tgtEl>
                                          <p:spTgt spid="66"/>
                                        </p:tgtEl>
                                      </p:cBhvr>
                                    </p:animEffect>
                                  </p:childTnLst>
                                </p:cTn>
                              </p:par>
                              <p:par>
                                <p:cTn id="196" presetID="10" presetClass="entr" presetSubtype="0" fill="hold" grpId="0" nodeType="withEffect">
                                  <p:stCondLst>
                                    <p:cond delay="0"/>
                                  </p:stCondLst>
                                  <p:childTnLst>
                                    <p:set>
                                      <p:cBhvr>
                                        <p:cTn id="197" dur="1" fill="hold">
                                          <p:stCondLst>
                                            <p:cond delay="0"/>
                                          </p:stCondLst>
                                        </p:cTn>
                                        <p:tgtEl>
                                          <p:spTgt spid="67"/>
                                        </p:tgtEl>
                                        <p:attrNameLst>
                                          <p:attrName>style.visibility</p:attrName>
                                        </p:attrNameLst>
                                      </p:cBhvr>
                                      <p:to>
                                        <p:strVal val="visible"/>
                                      </p:to>
                                    </p:set>
                                    <p:animEffect transition="in" filter="fade">
                                      <p:cBhvr>
                                        <p:cTn id="198" dur="500"/>
                                        <p:tgtEl>
                                          <p:spTgt spid="67"/>
                                        </p:tgtEl>
                                      </p:cBhvr>
                                    </p:animEffect>
                                  </p:childTnLst>
                                </p:cTn>
                              </p:par>
                              <p:par>
                                <p:cTn id="199" presetID="10" presetClass="entr" presetSubtype="0" fill="hold" grpId="0" nodeType="withEffect">
                                  <p:stCondLst>
                                    <p:cond delay="0"/>
                                  </p:stCondLst>
                                  <p:childTnLst>
                                    <p:set>
                                      <p:cBhvr>
                                        <p:cTn id="200" dur="1" fill="hold">
                                          <p:stCondLst>
                                            <p:cond delay="0"/>
                                          </p:stCondLst>
                                        </p:cTn>
                                        <p:tgtEl>
                                          <p:spTgt spid="68"/>
                                        </p:tgtEl>
                                        <p:attrNameLst>
                                          <p:attrName>style.visibility</p:attrName>
                                        </p:attrNameLst>
                                      </p:cBhvr>
                                      <p:to>
                                        <p:strVal val="visible"/>
                                      </p:to>
                                    </p:set>
                                    <p:animEffect transition="in" filter="fade">
                                      <p:cBhvr>
                                        <p:cTn id="201" dur="500"/>
                                        <p:tgtEl>
                                          <p:spTgt spid="68"/>
                                        </p:tgtEl>
                                      </p:cBhvr>
                                    </p:animEffect>
                                  </p:childTnLst>
                                </p:cTn>
                              </p:par>
                              <p:par>
                                <p:cTn id="202" presetID="10" presetClass="entr" presetSubtype="0" fill="hold" grpId="0" nodeType="withEffect">
                                  <p:stCondLst>
                                    <p:cond delay="0"/>
                                  </p:stCondLst>
                                  <p:childTnLst>
                                    <p:set>
                                      <p:cBhvr>
                                        <p:cTn id="203" dur="1" fill="hold">
                                          <p:stCondLst>
                                            <p:cond delay="0"/>
                                          </p:stCondLst>
                                        </p:cTn>
                                        <p:tgtEl>
                                          <p:spTgt spid="69"/>
                                        </p:tgtEl>
                                        <p:attrNameLst>
                                          <p:attrName>style.visibility</p:attrName>
                                        </p:attrNameLst>
                                      </p:cBhvr>
                                      <p:to>
                                        <p:strVal val="visible"/>
                                      </p:to>
                                    </p:set>
                                    <p:animEffect transition="in" filter="fade">
                                      <p:cBhvr>
                                        <p:cTn id="204" dur="500"/>
                                        <p:tgtEl>
                                          <p:spTgt spid="69"/>
                                        </p:tgtEl>
                                      </p:cBhvr>
                                    </p:animEffect>
                                  </p:childTnLst>
                                </p:cTn>
                              </p:par>
                              <p:par>
                                <p:cTn id="205" presetID="10" presetClass="entr" presetSubtype="0" fill="hold" grpId="0" nodeType="withEffect">
                                  <p:stCondLst>
                                    <p:cond delay="0"/>
                                  </p:stCondLst>
                                  <p:childTnLst>
                                    <p:set>
                                      <p:cBhvr>
                                        <p:cTn id="206" dur="1" fill="hold">
                                          <p:stCondLst>
                                            <p:cond delay="0"/>
                                          </p:stCondLst>
                                        </p:cTn>
                                        <p:tgtEl>
                                          <p:spTgt spid="70"/>
                                        </p:tgtEl>
                                        <p:attrNameLst>
                                          <p:attrName>style.visibility</p:attrName>
                                        </p:attrNameLst>
                                      </p:cBhvr>
                                      <p:to>
                                        <p:strVal val="visible"/>
                                      </p:to>
                                    </p:set>
                                    <p:animEffect transition="in" filter="fade">
                                      <p:cBhvr>
                                        <p:cTn id="207" dur="500"/>
                                        <p:tgtEl>
                                          <p:spTgt spid="70"/>
                                        </p:tgtEl>
                                      </p:cBhvr>
                                    </p:animEffect>
                                  </p:childTnLst>
                                </p:cTn>
                              </p:par>
                              <p:par>
                                <p:cTn id="208" presetID="10" presetClass="entr" presetSubtype="0" fill="hold" grpId="0" nodeType="withEffect">
                                  <p:stCondLst>
                                    <p:cond delay="0"/>
                                  </p:stCondLst>
                                  <p:childTnLst>
                                    <p:set>
                                      <p:cBhvr>
                                        <p:cTn id="209" dur="1" fill="hold">
                                          <p:stCondLst>
                                            <p:cond delay="0"/>
                                          </p:stCondLst>
                                        </p:cTn>
                                        <p:tgtEl>
                                          <p:spTgt spid="71"/>
                                        </p:tgtEl>
                                        <p:attrNameLst>
                                          <p:attrName>style.visibility</p:attrName>
                                        </p:attrNameLst>
                                      </p:cBhvr>
                                      <p:to>
                                        <p:strVal val="visible"/>
                                      </p:to>
                                    </p:set>
                                    <p:animEffect transition="in" filter="fade">
                                      <p:cBhvr>
                                        <p:cTn id="210" dur="500"/>
                                        <p:tgtEl>
                                          <p:spTgt spid="71"/>
                                        </p:tgtEl>
                                      </p:cBhvr>
                                    </p:animEffect>
                                  </p:childTnLst>
                                </p:cTn>
                              </p:par>
                              <p:par>
                                <p:cTn id="211" presetID="10" presetClass="entr" presetSubtype="0" fill="hold" grpId="0" nodeType="withEffect">
                                  <p:stCondLst>
                                    <p:cond delay="0"/>
                                  </p:stCondLst>
                                  <p:childTnLst>
                                    <p:set>
                                      <p:cBhvr>
                                        <p:cTn id="212" dur="1" fill="hold">
                                          <p:stCondLst>
                                            <p:cond delay="0"/>
                                          </p:stCondLst>
                                        </p:cTn>
                                        <p:tgtEl>
                                          <p:spTgt spid="72"/>
                                        </p:tgtEl>
                                        <p:attrNameLst>
                                          <p:attrName>style.visibility</p:attrName>
                                        </p:attrNameLst>
                                      </p:cBhvr>
                                      <p:to>
                                        <p:strVal val="visible"/>
                                      </p:to>
                                    </p:set>
                                    <p:animEffect transition="in" filter="fade">
                                      <p:cBhvr>
                                        <p:cTn id="213" dur="500"/>
                                        <p:tgtEl>
                                          <p:spTgt spid="72"/>
                                        </p:tgtEl>
                                      </p:cBhvr>
                                    </p:animEffect>
                                  </p:childTnLst>
                                </p:cTn>
                              </p:par>
                              <p:par>
                                <p:cTn id="214" presetID="10" presetClass="entr" presetSubtype="0" fill="hold" grpId="0" nodeType="withEffect">
                                  <p:stCondLst>
                                    <p:cond delay="0"/>
                                  </p:stCondLst>
                                  <p:childTnLst>
                                    <p:set>
                                      <p:cBhvr>
                                        <p:cTn id="215" dur="1" fill="hold">
                                          <p:stCondLst>
                                            <p:cond delay="0"/>
                                          </p:stCondLst>
                                        </p:cTn>
                                        <p:tgtEl>
                                          <p:spTgt spid="73"/>
                                        </p:tgtEl>
                                        <p:attrNameLst>
                                          <p:attrName>style.visibility</p:attrName>
                                        </p:attrNameLst>
                                      </p:cBhvr>
                                      <p:to>
                                        <p:strVal val="visible"/>
                                      </p:to>
                                    </p:set>
                                    <p:animEffect transition="in" filter="fade">
                                      <p:cBhvr>
                                        <p:cTn id="216" dur="500"/>
                                        <p:tgtEl>
                                          <p:spTgt spid="73"/>
                                        </p:tgtEl>
                                      </p:cBhvr>
                                    </p:animEffect>
                                  </p:childTnLst>
                                </p:cTn>
                              </p:par>
                              <p:par>
                                <p:cTn id="217" presetID="10" presetClass="entr" presetSubtype="0" fill="hold" grpId="0" nodeType="withEffect">
                                  <p:stCondLst>
                                    <p:cond delay="0"/>
                                  </p:stCondLst>
                                  <p:childTnLst>
                                    <p:set>
                                      <p:cBhvr>
                                        <p:cTn id="218" dur="1" fill="hold">
                                          <p:stCondLst>
                                            <p:cond delay="0"/>
                                          </p:stCondLst>
                                        </p:cTn>
                                        <p:tgtEl>
                                          <p:spTgt spid="74"/>
                                        </p:tgtEl>
                                        <p:attrNameLst>
                                          <p:attrName>style.visibility</p:attrName>
                                        </p:attrNameLst>
                                      </p:cBhvr>
                                      <p:to>
                                        <p:strVal val="visible"/>
                                      </p:to>
                                    </p:set>
                                    <p:animEffect transition="in" filter="fade">
                                      <p:cBhvr>
                                        <p:cTn id="219" dur="500"/>
                                        <p:tgtEl>
                                          <p:spTgt spid="74"/>
                                        </p:tgtEl>
                                      </p:cBhvr>
                                    </p:animEffect>
                                  </p:childTnLst>
                                </p:cTn>
                              </p:par>
                              <p:par>
                                <p:cTn id="220" presetID="10" presetClass="entr" presetSubtype="0" fill="hold" grpId="0" nodeType="withEffect">
                                  <p:stCondLst>
                                    <p:cond delay="0"/>
                                  </p:stCondLst>
                                  <p:childTnLst>
                                    <p:set>
                                      <p:cBhvr>
                                        <p:cTn id="221" dur="1" fill="hold">
                                          <p:stCondLst>
                                            <p:cond delay="0"/>
                                          </p:stCondLst>
                                        </p:cTn>
                                        <p:tgtEl>
                                          <p:spTgt spid="75"/>
                                        </p:tgtEl>
                                        <p:attrNameLst>
                                          <p:attrName>style.visibility</p:attrName>
                                        </p:attrNameLst>
                                      </p:cBhvr>
                                      <p:to>
                                        <p:strVal val="visible"/>
                                      </p:to>
                                    </p:set>
                                    <p:animEffect transition="in" filter="fade">
                                      <p:cBhvr>
                                        <p:cTn id="222" dur="500"/>
                                        <p:tgtEl>
                                          <p:spTgt spid="75"/>
                                        </p:tgtEl>
                                      </p:cBhvr>
                                    </p:animEffect>
                                  </p:childTnLst>
                                </p:cTn>
                              </p:par>
                              <p:par>
                                <p:cTn id="223" presetID="10" presetClass="entr" presetSubtype="0" fill="hold" grpId="0" nodeType="withEffect">
                                  <p:stCondLst>
                                    <p:cond delay="0"/>
                                  </p:stCondLst>
                                  <p:childTnLst>
                                    <p:set>
                                      <p:cBhvr>
                                        <p:cTn id="224" dur="1" fill="hold">
                                          <p:stCondLst>
                                            <p:cond delay="0"/>
                                          </p:stCondLst>
                                        </p:cTn>
                                        <p:tgtEl>
                                          <p:spTgt spid="76"/>
                                        </p:tgtEl>
                                        <p:attrNameLst>
                                          <p:attrName>style.visibility</p:attrName>
                                        </p:attrNameLst>
                                      </p:cBhvr>
                                      <p:to>
                                        <p:strVal val="visible"/>
                                      </p:to>
                                    </p:set>
                                    <p:animEffect transition="in" filter="fade">
                                      <p:cBhvr>
                                        <p:cTn id="225" dur="500"/>
                                        <p:tgtEl>
                                          <p:spTgt spid="76"/>
                                        </p:tgtEl>
                                      </p:cBhvr>
                                    </p:animEffect>
                                  </p:childTnLst>
                                </p:cTn>
                              </p:par>
                              <p:par>
                                <p:cTn id="226" presetID="10" presetClass="entr" presetSubtype="0" fill="hold" grpId="0" nodeType="withEffect">
                                  <p:stCondLst>
                                    <p:cond delay="0"/>
                                  </p:stCondLst>
                                  <p:childTnLst>
                                    <p:set>
                                      <p:cBhvr>
                                        <p:cTn id="227" dur="1" fill="hold">
                                          <p:stCondLst>
                                            <p:cond delay="0"/>
                                          </p:stCondLst>
                                        </p:cTn>
                                        <p:tgtEl>
                                          <p:spTgt spid="77"/>
                                        </p:tgtEl>
                                        <p:attrNameLst>
                                          <p:attrName>style.visibility</p:attrName>
                                        </p:attrNameLst>
                                      </p:cBhvr>
                                      <p:to>
                                        <p:strVal val="visible"/>
                                      </p:to>
                                    </p:set>
                                    <p:animEffect transition="in" filter="fade">
                                      <p:cBhvr>
                                        <p:cTn id="228" dur="500"/>
                                        <p:tgtEl>
                                          <p:spTgt spid="77"/>
                                        </p:tgtEl>
                                      </p:cBhvr>
                                    </p:animEffect>
                                  </p:childTnLst>
                                </p:cTn>
                              </p:par>
                              <p:par>
                                <p:cTn id="229" presetID="10" presetClass="entr" presetSubtype="0" fill="hold" grpId="0" nodeType="withEffect">
                                  <p:stCondLst>
                                    <p:cond delay="0"/>
                                  </p:stCondLst>
                                  <p:childTnLst>
                                    <p:set>
                                      <p:cBhvr>
                                        <p:cTn id="230" dur="1" fill="hold">
                                          <p:stCondLst>
                                            <p:cond delay="0"/>
                                          </p:stCondLst>
                                        </p:cTn>
                                        <p:tgtEl>
                                          <p:spTgt spid="78"/>
                                        </p:tgtEl>
                                        <p:attrNameLst>
                                          <p:attrName>style.visibility</p:attrName>
                                        </p:attrNameLst>
                                      </p:cBhvr>
                                      <p:to>
                                        <p:strVal val="visible"/>
                                      </p:to>
                                    </p:set>
                                    <p:animEffect transition="in" filter="fade">
                                      <p:cBhvr>
                                        <p:cTn id="231" dur="500"/>
                                        <p:tgtEl>
                                          <p:spTgt spid="78"/>
                                        </p:tgtEl>
                                      </p:cBhvr>
                                    </p:animEffect>
                                  </p:childTnLst>
                                </p:cTn>
                              </p:par>
                              <p:par>
                                <p:cTn id="232" presetID="10" presetClass="entr" presetSubtype="0" fill="hold" grpId="0" nodeType="withEffect">
                                  <p:stCondLst>
                                    <p:cond delay="0"/>
                                  </p:stCondLst>
                                  <p:childTnLst>
                                    <p:set>
                                      <p:cBhvr>
                                        <p:cTn id="233" dur="1" fill="hold">
                                          <p:stCondLst>
                                            <p:cond delay="0"/>
                                          </p:stCondLst>
                                        </p:cTn>
                                        <p:tgtEl>
                                          <p:spTgt spid="79"/>
                                        </p:tgtEl>
                                        <p:attrNameLst>
                                          <p:attrName>style.visibility</p:attrName>
                                        </p:attrNameLst>
                                      </p:cBhvr>
                                      <p:to>
                                        <p:strVal val="visible"/>
                                      </p:to>
                                    </p:set>
                                    <p:animEffect transition="in" filter="fade">
                                      <p:cBhvr>
                                        <p:cTn id="234" dur="500"/>
                                        <p:tgtEl>
                                          <p:spTgt spid="79"/>
                                        </p:tgtEl>
                                      </p:cBhvr>
                                    </p:animEffect>
                                  </p:childTnLst>
                                </p:cTn>
                              </p:par>
                              <p:par>
                                <p:cTn id="235" presetID="10" presetClass="entr" presetSubtype="0" fill="hold" grpId="0" nodeType="withEffect">
                                  <p:stCondLst>
                                    <p:cond delay="0"/>
                                  </p:stCondLst>
                                  <p:childTnLst>
                                    <p:set>
                                      <p:cBhvr>
                                        <p:cTn id="236" dur="1" fill="hold">
                                          <p:stCondLst>
                                            <p:cond delay="0"/>
                                          </p:stCondLst>
                                        </p:cTn>
                                        <p:tgtEl>
                                          <p:spTgt spid="80"/>
                                        </p:tgtEl>
                                        <p:attrNameLst>
                                          <p:attrName>style.visibility</p:attrName>
                                        </p:attrNameLst>
                                      </p:cBhvr>
                                      <p:to>
                                        <p:strVal val="visible"/>
                                      </p:to>
                                    </p:set>
                                    <p:animEffect transition="in" filter="fade">
                                      <p:cBhvr>
                                        <p:cTn id="237" dur="500"/>
                                        <p:tgtEl>
                                          <p:spTgt spid="80"/>
                                        </p:tgtEl>
                                      </p:cBhvr>
                                    </p:animEffect>
                                  </p:childTnLst>
                                </p:cTn>
                              </p:par>
                              <p:par>
                                <p:cTn id="238" presetID="10" presetClass="entr" presetSubtype="0" fill="hold" grpId="0" nodeType="withEffect">
                                  <p:stCondLst>
                                    <p:cond delay="0"/>
                                  </p:stCondLst>
                                  <p:childTnLst>
                                    <p:set>
                                      <p:cBhvr>
                                        <p:cTn id="239" dur="1" fill="hold">
                                          <p:stCondLst>
                                            <p:cond delay="0"/>
                                          </p:stCondLst>
                                        </p:cTn>
                                        <p:tgtEl>
                                          <p:spTgt spid="81"/>
                                        </p:tgtEl>
                                        <p:attrNameLst>
                                          <p:attrName>style.visibility</p:attrName>
                                        </p:attrNameLst>
                                      </p:cBhvr>
                                      <p:to>
                                        <p:strVal val="visible"/>
                                      </p:to>
                                    </p:set>
                                    <p:animEffect transition="in" filter="fade">
                                      <p:cBhvr>
                                        <p:cTn id="240" dur="500"/>
                                        <p:tgtEl>
                                          <p:spTgt spid="81"/>
                                        </p:tgtEl>
                                      </p:cBhvr>
                                    </p:animEffect>
                                  </p:childTnLst>
                                </p:cTn>
                              </p:par>
                              <p:par>
                                <p:cTn id="241" presetID="10" presetClass="entr" presetSubtype="0" fill="hold" grpId="0" nodeType="withEffect">
                                  <p:stCondLst>
                                    <p:cond delay="0"/>
                                  </p:stCondLst>
                                  <p:childTnLst>
                                    <p:set>
                                      <p:cBhvr>
                                        <p:cTn id="242" dur="1" fill="hold">
                                          <p:stCondLst>
                                            <p:cond delay="0"/>
                                          </p:stCondLst>
                                        </p:cTn>
                                        <p:tgtEl>
                                          <p:spTgt spid="82"/>
                                        </p:tgtEl>
                                        <p:attrNameLst>
                                          <p:attrName>style.visibility</p:attrName>
                                        </p:attrNameLst>
                                      </p:cBhvr>
                                      <p:to>
                                        <p:strVal val="visible"/>
                                      </p:to>
                                    </p:set>
                                    <p:animEffect transition="in" filter="fade">
                                      <p:cBhvr>
                                        <p:cTn id="243" dur="500"/>
                                        <p:tgtEl>
                                          <p:spTgt spid="82"/>
                                        </p:tgtEl>
                                      </p:cBhvr>
                                    </p:animEffect>
                                  </p:childTnLst>
                                </p:cTn>
                              </p:par>
                              <p:par>
                                <p:cTn id="244" presetID="10" presetClass="entr" presetSubtype="0" fill="hold" grpId="0" nodeType="withEffect">
                                  <p:stCondLst>
                                    <p:cond delay="0"/>
                                  </p:stCondLst>
                                  <p:childTnLst>
                                    <p:set>
                                      <p:cBhvr>
                                        <p:cTn id="245" dur="1" fill="hold">
                                          <p:stCondLst>
                                            <p:cond delay="0"/>
                                          </p:stCondLst>
                                        </p:cTn>
                                        <p:tgtEl>
                                          <p:spTgt spid="83"/>
                                        </p:tgtEl>
                                        <p:attrNameLst>
                                          <p:attrName>style.visibility</p:attrName>
                                        </p:attrNameLst>
                                      </p:cBhvr>
                                      <p:to>
                                        <p:strVal val="visible"/>
                                      </p:to>
                                    </p:set>
                                    <p:animEffect transition="in" filter="fade">
                                      <p:cBhvr>
                                        <p:cTn id="246" dur="500"/>
                                        <p:tgtEl>
                                          <p:spTgt spid="83"/>
                                        </p:tgtEl>
                                      </p:cBhvr>
                                    </p:animEffect>
                                  </p:childTnLst>
                                </p:cTn>
                              </p:par>
                              <p:par>
                                <p:cTn id="247" presetID="10" presetClass="entr" presetSubtype="0" fill="hold" grpId="0" nodeType="withEffect">
                                  <p:stCondLst>
                                    <p:cond delay="0"/>
                                  </p:stCondLst>
                                  <p:childTnLst>
                                    <p:set>
                                      <p:cBhvr>
                                        <p:cTn id="248" dur="1" fill="hold">
                                          <p:stCondLst>
                                            <p:cond delay="0"/>
                                          </p:stCondLst>
                                        </p:cTn>
                                        <p:tgtEl>
                                          <p:spTgt spid="84"/>
                                        </p:tgtEl>
                                        <p:attrNameLst>
                                          <p:attrName>style.visibility</p:attrName>
                                        </p:attrNameLst>
                                      </p:cBhvr>
                                      <p:to>
                                        <p:strVal val="visible"/>
                                      </p:to>
                                    </p:set>
                                    <p:animEffect transition="in" filter="fade">
                                      <p:cBhvr>
                                        <p:cTn id="249" dur="500"/>
                                        <p:tgtEl>
                                          <p:spTgt spid="84"/>
                                        </p:tgtEl>
                                      </p:cBhvr>
                                    </p:animEffect>
                                  </p:childTnLst>
                                </p:cTn>
                              </p:par>
                              <p:par>
                                <p:cTn id="250" presetID="10" presetClass="entr" presetSubtype="0" fill="hold" grpId="0" nodeType="withEffect">
                                  <p:stCondLst>
                                    <p:cond delay="0"/>
                                  </p:stCondLst>
                                  <p:childTnLst>
                                    <p:set>
                                      <p:cBhvr>
                                        <p:cTn id="251" dur="1" fill="hold">
                                          <p:stCondLst>
                                            <p:cond delay="0"/>
                                          </p:stCondLst>
                                        </p:cTn>
                                        <p:tgtEl>
                                          <p:spTgt spid="85"/>
                                        </p:tgtEl>
                                        <p:attrNameLst>
                                          <p:attrName>style.visibility</p:attrName>
                                        </p:attrNameLst>
                                      </p:cBhvr>
                                      <p:to>
                                        <p:strVal val="visible"/>
                                      </p:to>
                                    </p:set>
                                    <p:animEffect transition="in" filter="fade">
                                      <p:cBhvr>
                                        <p:cTn id="252" dur="500"/>
                                        <p:tgtEl>
                                          <p:spTgt spid="85"/>
                                        </p:tgtEl>
                                      </p:cBhvr>
                                    </p:animEffect>
                                  </p:childTnLst>
                                </p:cTn>
                              </p:par>
                              <p:par>
                                <p:cTn id="253" presetID="10" presetClass="entr" presetSubtype="0" fill="hold" grpId="0" nodeType="withEffect">
                                  <p:stCondLst>
                                    <p:cond delay="0"/>
                                  </p:stCondLst>
                                  <p:childTnLst>
                                    <p:set>
                                      <p:cBhvr>
                                        <p:cTn id="254" dur="1" fill="hold">
                                          <p:stCondLst>
                                            <p:cond delay="0"/>
                                          </p:stCondLst>
                                        </p:cTn>
                                        <p:tgtEl>
                                          <p:spTgt spid="86"/>
                                        </p:tgtEl>
                                        <p:attrNameLst>
                                          <p:attrName>style.visibility</p:attrName>
                                        </p:attrNameLst>
                                      </p:cBhvr>
                                      <p:to>
                                        <p:strVal val="visible"/>
                                      </p:to>
                                    </p:set>
                                    <p:animEffect transition="in" filter="fade">
                                      <p:cBhvr>
                                        <p:cTn id="255" dur="500"/>
                                        <p:tgtEl>
                                          <p:spTgt spid="86"/>
                                        </p:tgtEl>
                                      </p:cBhvr>
                                    </p:animEffect>
                                  </p:childTnLst>
                                </p:cTn>
                              </p:par>
                              <p:par>
                                <p:cTn id="256" presetID="10" presetClass="entr" presetSubtype="0" fill="hold" grpId="0" nodeType="withEffect">
                                  <p:stCondLst>
                                    <p:cond delay="0"/>
                                  </p:stCondLst>
                                  <p:childTnLst>
                                    <p:set>
                                      <p:cBhvr>
                                        <p:cTn id="257" dur="1" fill="hold">
                                          <p:stCondLst>
                                            <p:cond delay="0"/>
                                          </p:stCondLst>
                                        </p:cTn>
                                        <p:tgtEl>
                                          <p:spTgt spid="87"/>
                                        </p:tgtEl>
                                        <p:attrNameLst>
                                          <p:attrName>style.visibility</p:attrName>
                                        </p:attrNameLst>
                                      </p:cBhvr>
                                      <p:to>
                                        <p:strVal val="visible"/>
                                      </p:to>
                                    </p:set>
                                    <p:animEffect transition="in" filter="fade">
                                      <p:cBhvr>
                                        <p:cTn id="258" dur="500"/>
                                        <p:tgtEl>
                                          <p:spTgt spid="87"/>
                                        </p:tgtEl>
                                      </p:cBhvr>
                                    </p:animEffect>
                                  </p:childTnLst>
                                </p:cTn>
                              </p:par>
                              <p:par>
                                <p:cTn id="259" presetID="10" presetClass="entr" presetSubtype="0" fill="hold" grpId="0" nodeType="withEffect">
                                  <p:stCondLst>
                                    <p:cond delay="0"/>
                                  </p:stCondLst>
                                  <p:childTnLst>
                                    <p:set>
                                      <p:cBhvr>
                                        <p:cTn id="260" dur="1" fill="hold">
                                          <p:stCondLst>
                                            <p:cond delay="0"/>
                                          </p:stCondLst>
                                        </p:cTn>
                                        <p:tgtEl>
                                          <p:spTgt spid="88"/>
                                        </p:tgtEl>
                                        <p:attrNameLst>
                                          <p:attrName>style.visibility</p:attrName>
                                        </p:attrNameLst>
                                      </p:cBhvr>
                                      <p:to>
                                        <p:strVal val="visible"/>
                                      </p:to>
                                    </p:set>
                                    <p:animEffect transition="in" filter="fade">
                                      <p:cBhvr>
                                        <p:cTn id="261" dur="500"/>
                                        <p:tgtEl>
                                          <p:spTgt spid="88"/>
                                        </p:tgtEl>
                                      </p:cBhvr>
                                    </p:animEffect>
                                  </p:childTnLst>
                                </p:cTn>
                              </p:par>
                              <p:par>
                                <p:cTn id="262" presetID="10" presetClass="entr" presetSubtype="0" fill="hold" grpId="0" nodeType="withEffect">
                                  <p:stCondLst>
                                    <p:cond delay="0"/>
                                  </p:stCondLst>
                                  <p:childTnLst>
                                    <p:set>
                                      <p:cBhvr>
                                        <p:cTn id="263" dur="1" fill="hold">
                                          <p:stCondLst>
                                            <p:cond delay="0"/>
                                          </p:stCondLst>
                                        </p:cTn>
                                        <p:tgtEl>
                                          <p:spTgt spid="89"/>
                                        </p:tgtEl>
                                        <p:attrNameLst>
                                          <p:attrName>style.visibility</p:attrName>
                                        </p:attrNameLst>
                                      </p:cBhvr>
                                      <p:to>
                                        <p:strVal val="visible"/>
                                      </p:to>
                                    </p:set>
                                    <p:animEffect transition="in" filter="fade">
                                      <p:cBhvr>
                                        <p:cTn id="264" dur="500"/>
                                        <p:tgtEl>
                                          <p:spTgt spid="89"/>
                                        </p:tgtEl>
                                      </p:cBhvr>
                                    </p:animEffect>
                                  </p:childTnLst>
                                </p:cTn>
                              </p:par>
                              <p:par>
                                <p:cTn id="265" presetID="10" presetClass="entr" presetSubtype="0" fill="hold" grpId="0" nodeType="withEffect">
                                  <p:stCondLst>
                                    <p:cond delay="0"/>
                                  </p:stCondLst>
                                  <p:childTnLst>
                                    <p:set>
                                      <p:cBhvr>
                                        <p:cTn id="266" dur="1" fill="hold">
                                          <p:stCondLst>
                                            <p:cond delay="0"/>
                                          </p:stCondLst>
                                        </p:cTn>
                                        <p:tgtEl>
                                          <p:spTgt spid="90"/>
                                        </p:tgtEl>
                                        <p:attrNameLst>
                                          <p:attrName>style.visibility</p:attrName>
                                        </p:attrNameLst>
                                      </p:cBhvr>
                                      <p:to>
                                        <p:strVal val="visible"/>
                                      </p:to>
                                    </p:set>
                                    <p:animEffect transition="in" filter="fade">
                                      <p:cBhvr>
                                        <p:cTn id="267" dur="500"/>
                                        <p:tgtEl>
                                          <p:spTgt spid="90"/>
                                        </p:tgtEl>
                                      </p:cBhvr>
                                    </p:animEffect>
                                  </p:childTnLst>
                                </p:cTn>
                              </p:par>
                              <p:par>
                                <p:cTn id="268" presetID="10" presetClass="entr" presetSubtype="0" fill="hold" grpId="0" nodeType="withEffect">
                                  <p:stCondLst>
                                    <p:cond delay="0"/>
                                  </p:stCondLst>
                                  <p:childTnLst>
                                    <p:set>
                                      <p:cBhvr>
                                        <p:cTn id="269" dur="1" fill="hold">
                                          <p:stCondLst>
                                            <p:cond delay="0"/>
                                          </p:stCondLst>
                                        </p:cTn>
                                        <p:tgtEl>
                                          <p:spTgt spid="91"/>
                                        </p:tgtEl>
                                        <p:attrNameLst>
                                          <p:attrName>style.visibility</p:attrName>
                                        </p:attrNameLst>
                                      </p:cBhvr>
                                      <p:to>
                                        <p:strVal val="visible"/>
                                      </p:to>
                                    </p:set>
                                    <p:animEffect transition="in" filter="fade">
                                      <p:cBhvr>
                                        <p:cTn id="270" dur="500"/>
                                        <p:tgtEl>
                                          <p:spTgt spid="91"/>
                                        </p:tgtEl>
                                      </p:cBhvr>
                                    </p:animEffect>
                                  </p:childTnLst>
                                </p:cTn>
                              </p:par>
                              <p:par>
                                <p:cTn id="271" presetID="10" presetClass="entr" presetSubtype="0" fill="hold" grpId="0" nodeType="withEffect">
                                  <p:stCondLst>
                                    <p:cond delay="0"/>
                                  </p:stCondLst>
                                  <p:childTnLst>
                                    <p:set>
                                      <p:cBhvr>
                                        <p:cTn id="272" dur="1" fill="hold">
                                          <p:stCondLst>
                                            <p:cond delay="0"/>
                                          </p:stCondLst>
                                        </p:cTn>
                                        <p:tgtEl>
                                          <p:spTgt spid="92"/>
                                        </p:tgtEl>
                                        <p:attrNameLst>
                                          <p:attrName>style.visibility</p:attrName>
                                        </p:attrNameLst>
                                      </p:cBhvr>
                                      <p:to>
                                        <p:strVal val="visible"/>
                                      </p:to>
                                    </p:set>
                                    <p:animEffect transition="in" filter="fade">
                                      <p:cBhvr>
                                        <p:cTn id="273" dur="500"/>
                                        <p:tgtEl>
                                          <p:spTgt spid="92"/>
                                        </p:tgtEl>
                                      </p:cBhvr>
                                    </p:animEffect>
                                  </p:childTnLst>
                                </p:cTn>
                              </p:par>
                              <p:par>
                                <p:cTn id="274" presetID="10" presetClass="entr" presetSubtype="0" fill="hold" grpId="0" nodeType="withEffect">
                                  <p:stCondLst>
                                    <p:cond delay="0"/>
                                  </p:stCondLst>
                                  <p:childTnLst>
                                    <p:set>
                                      <p:cBhvr>
                                        <p:cTn id="275" dur="1" fill="hold">
                                          <p:stCondLst>
                                            <p:cond delay="0"/>
                                          </p:stCondLst>
                                        </p:cTn>
                                        <p:tgtEl>
                                          <p:spTgt spid="93"/>
                                        </p:tgtEl>
                                        <p:attrNameLst>
                                          <p:attrName>style.visibility</p:attrName>
                                        </p:attrNameLst>
                                      </p:cBhvr>
                                      <p:to>
                                        <p:strVal val="visible"/>
                                      </p:to>
                                    </p:set>
                                    <p:animEffect transition="in" filter="fade">
                                      <p:cBhvr>
                                        <p:cTn id="276" dur="500"/>
                                        <p:tgtEl>
                                          <p:spTgt spid="93"/>
                                        </p:tgtEl>
                                      </p:cBhvr>
                                    </p:animEffect>
                                  </p:childTnLst>
                                </p:cTn>
                              </p:par>
                              <p:par>
                                <p:cTn id="277" presetID="10" presetClass="entr" presetSubtype="0" fill="hold" grpId="0" nodeType="withEffect">
                                  <p:stCondLst>
                                    <p:cond delay="0"/>
                                  </p:stCondLst>
                                  <p:childTnLst>
                                    <p:set>
                                      <p:cBhvr>
                                        <p:cTn id="278" dur="1" fill="hold">
                                          <p:stCondLst>
                                            <p:cond delay="0"/>
                                          </p:stCondLst>
                                        </p:cTn>
                                        <p:tgtEl>
                                          <p:spTgt spid="94"/>
                                        </p:tgtEl>
                                        <p:attrNameLst>
                                          <p:attrName>style.visibility</p:attrName>
                                        </p:attrNameLst>
                                      </p:cBhvr>
                                      <p:to>
                                        <p:strVal val="visible"/>
                                      </p:to>
                                    </p:set>
                                    <p:animEffect transition="in" filter="fade">
                                      <p:cBhvr>
                                        <p:cTn id="279" dur="500"/>
                                        <p:tgtEl>
                                          <p:spTgt spid="94"/>
                                        </p:tgtEl>
                                      </p:cBhvr>
                                    </p:animEffect>
                                  </p:childTnLst>
                                </p:cTn>
                              </p:par>
                              <p:par>
                                <p:cTn id="280" presetID="10" presetClass="entr" presetSubtype="0" fill="hold" grpId="0" nodeType="withEffect">
                                  <p:stCondLst>
                                    <p:cond delay="0"/>
                                  </p:stCondLst>
                                  <p:childTnLst>
                                    <p:set>
                                      <p:cBhvr>
                                        <p:cTn id="281" dur="1" fill="hold">
                                          <p:stCondLst>
                                            <p:cond delay="0"/>
                                          </p:stCondLst>
                                        </p:cTn>
                                        <p:tgtEl>
                                          <p:spTgt spid="95"/>
                                        </p:tgtEl>
                                        <p:attrNameLst>
                                          <p:attrName>style.visibility</p:attrName>
                                        </p:attrNameLst>
                                      </p:cBhvr>
                                      <p:to>
                                        <p:strVal val="visible"/>
                                      </p:to>
                                    </p:set>
                                    <p:animEffect transition="in" filter="fade">
                                      <p:cBhvr>
                                        <p:cTn id="282" dur="500"/>
                                        <p:tgtEl>
                                          <p:spTgt spid="95"/>
                                        </p:tgtEl>
                                      </p:cBhvr>
                                    </p:animEffect>
                                  </p:childTnLst>
                                </p:cTn>
                              </p:par>
                              <p:par>
                                <p:cTn id="283" presetID="10" presetClass="entr" presetSubtype="0" fill="hold" grpId="0" nodeType="withEffect">
                                  <p:stCondLst>
                                    <p:cond delay="0"/>
                                  </p:stCondLst>
                                  <p:childTnLst>
                                    <p:set>
                                      <p:cBhvr>
                                        <p:cTn id="284" dur="1" fill="hold">
                                          <p:stCondLst>
                                            <p:cond delay="0"/>
                                          </p:stCondLst>
                                        </p:cTn>
                                        <p:tgtEl>
                                          <p:spTgt spid="96"/>
                                        </p:tgtEl>
                                        <p:attrNameLst>
                                          <p:attrName>style.visibility</p:attrName>
                                        </p:attrNameLst>
                                      </p:cBhvr>
                                      <p:to>
                                        <p:strVal val="visible"/>
                                      </p:to>
                                    </p:set>
                                    <p:animEffect transition="in" filter="fade">
                                      <p:cBhvr>
                                        <p:cTn id="285" dur="500"/>
                                        <p:tgtEl>
                                          <p:spTgt spid="96"/>
                                        </p:tgtEl>
                                      </p:cBhvr>
                                    </p:animEffect>
                                  </p:childTnLst>
                                </p:cTn>
                              </p:par>
                              <p:par>
                                <p:cTn id="286" presetID="10" presetClass="entr" presetSubtype="0" fill="hold" grpId="0" nodeType="withEffect">
                                  <p:stCondLst>
                                    <p:cond delay="0"/>
                                  </p:stCondLst>
                                  <p:childTnLst>
                                    <p:set>
                                      <p:cBhvr>
                                        <p:cTn id="287" dur="1" fill="hold">
                                          <p:stCondLst>
                                            <p:cond delay="0"/>
                                          </p:stCondLst>
                                        </p:cTn>
                                        <p:tgtEl>
                                          <p:spTgt spid="97"/>
                                        </p:tgtEl>
                                        <p:attrNameLst>
                                          <p:attrName>style.visibility</p:attrName>
                                        </p:attrNameLst>
                                      </p:cBhvr>
                                      <p:to>
                                        <p:strVal val="visible"/>
                                      </p:to>
                                    </p:set>
                                    <p:animEffect transition="in" filter="fade">
                                      <p:cBhvr>
                                        <p:cTn id="288" dur="500"/>
                                        <p:tgtEl>
                                          <p:spTgt spid="97"/>
                                        </p:tgtEl>
                                      </p:cBhvr>
                                    </p:animEffect>
                                  </p:childTnLst>
                                </p:cTn>
                              </p:par>
                              <p:par>
                                <p:cTn id="289" presetID="10" presetClass="entr" presetSubtype="0" fill="hold" grpId="0" nodeType="withEffect">
                                  <p:stCondLst>
                                    <p:cond delay="0"/>
                                  </p:stCondLst>
                                  <p:childTnLst>
                                    <p:set>
                                      <p:cBhvr>
                                        <p:cTn id="290" dur="1" fill="hold">
                                          <p:stCondLst>
                                            <p:cond delay="0"/>
                                          </p:stCondLst>
                                        </p:cTn>
                                        <p:tgtEl>
                                          <p:spTgt spid="98"/>
                                        </p:tgtEl>
                                        <p:attrNameLst>
                                          <p:attrName>style.visibility</p:attrName>
                                        </p:attrNameLst>
                                      </p:cBhvr>
                                      <p:to>
                                        <p:strVal val="visible"/>
                                      </p:to>
                                    </p:set>
                                    <p:animEffect transition="in" filter="fade">
                                      <p:cBhvr>
                                        <p:cTn id="291" dur="500"/>
                                        <p:tgtEl>
                                          <p:spTgt spid="98"/>
                                        </p:tgtEl>
                                      </p:cBhvr>
                                    </p:animEffect>
                                  </p:childTnLst>
                                </p:cTn>
                              </p:par>
                              <p:par>
                                <p:cTn id="292" presetID="10" presetClass="entr" presetSubtype="0" fill="hold" grpId="0" nodeType="withEffect">
                                  <p:stCondLst>
                                    <p:cond delay="0"/>
                                  </p:stCondLst>
                                  <p:childTnLst>
                                    <p:set>
                                      <p:cBhvr>
                                        <p:cTn id="293" dur="1" fill="hold">
                                          <p:stCondLst>
                                            <p:cond delay="0"/>
                                          </p:stCondLst>
                                        </p:cTn>
                                        <p:tgtEl>
                                          <p:spTgt spid="99"/>
                                        </p:tgtEl>
                                        <p:attrNameLst>
                                          <p:attrName>style.visibility</p:attrName>
                                        </p:attrNameLst>
                                      </p:cBhvr>
                                      <p:to>
                                        <p:strVal val="visible"/>
                                      </p:to>
                                    </p:set>
                                    <p:animEffect transition="in" filter="fade">
                                      <p:cBhvr>
                                        <p:cTn id="294" dur="500"/>
                                        <p:tgtEl>
                                          <p:spTgt spid="99"/>
                                        </p:tgtEl>
                                      </p:cBhvr>
                                    </p:animEffect>
                                  </p:childTnLst>
                                </p:cTn>
                              </p:par>
                              <p:par>
                                <p:cTn id="295" presetID="10" presetClass="entr" presetSubtype="0" fill="hold" grpId="0" nodeType="withEffect">
                                  <p:stCondLst>
                                    <p:cond delay="0"/>
                                  </p:stCondLst>
                                  <p:childTnLst>
                                    <p:set>
                                      <p:cBhvr>
                                        <p:cTn id="296" dur="1" fill="hold">
                                          <p:stCondLst>
                                            <p:cond delay="0"/>
                                          </p:stCondLst>
                                        </p:cTn>
                                        <p:tgtEl>
                                          <p:spTgt spid="100"/>
                                        </p:tgtEl>
                                        <p:attrNameLst>
                                          <p:attrName>style.visibility</p:attrName>
                                        </p:attrNameLst>
                                      </p:cBhvr>
                                      <p:to>
                                        <p:strVal val="visible"/>
                                      </p:to>
                                    </p:set>
                                    <p:animEffect transition="in" filter="fade">
                                      <p:cBhvr>
                                        <p:cTn id="297" dur="500"/>
                                        <p:tgtEl>
                                          <p:spTgt spid="100"/>
                                        </p:tgtEl>
                                      </p:cBhvr>
                                    </p:animEffect>
                                  </p:childTnLst>
                                </p:cTn>
                              </p:par>
                              <p:par>
                                <p:cTn id="298" presetID="10" presetClass="entr" presetSubtype="0" fill="hold" grpId="0" nodeType="withEffect">
                                  <p:stCondLst>
                                    <p:cond delay="0"/>
                                  </p:stCondLst>
                                  <p:childTnLst>
                                    <p:set>
                                      <p:cBhvr>
                                        <p:cTn id="299" dur="1" fill="hold">
                                          <p:stCondLst>
                                            <p:cond delay="0"/>
                                          </p:stCondLst>
                                        </p:cTn>
                                        <p:tgtEl>
                                          <p:spTgt spid="101"/>
                                        </p:tgtEl>
                                        <p:attrNameLst>
                                          <p:attrName>style.visibility</p:attrName>
                                        </p:attrNameLst>
                                      </p:cBhvr>
                                      <p:to>
                                        <p:strVal val="visible"/>
                                      </p:to>
                                    </p:set>
                                    <p:animEffect transition="in" filter="fade">
                                      <p:cBhvr>
                                        <p:cTn id="300" dur="500"/>
                                        <p:tgtEl>
                                          <p:spTgt spid="101"/>
                                        </p:tgtEl>
                                      </p:cBhvr>
                                    </p:animEffect>
                                  </p:childTnLst>
                                </p:cTn>
                              </p:par>
                              <p:par>
                                <p:cTn id="301" presetID="10" presetClass="entr" presetSubtype="0" fill="hold" grpId="0" nodeType="withEffect">
                                  <p:stCondLst>
                                    <p:cond delay="0"/>
                                  </p:stCondLst>
                                  <p:childTnLst>
                                    <p:set>
                                      <p:cBhvr>
                                        <p:cTn id="302" dur="1" fill="hold">
                                          <p:stCondLst>
                                            <p:cond delay="0"/>
                                          </p:stCondLst>
                                        </p:cTn>
                                        <p:tgtEl>
                                          <p:spTgt spid="102"/>
                                        </p:tgtEl>
                                        <p:attrNameLst>
                                          <p:attrName>style.visibility</p:attrName>
                                        </p:attrNameLst>
                                      </p:cBhvr>
                                      <p:to>
                                        <p:strVal val="visible"/>
                                      </p:to>
                                    </p:set>
                                    <p:animEffect transition="in" filter="fade">
                                      <p:cBhvr>
                                        <p:cTn id="303" dur="500"/>
                                        <p:tgtEl>
                                          <p:spTgt spid="102"/>
                                        </p:tgtEl>
                                      </p:cBhvr>
                                    </p:animEffect>
                                  </p:childTnLst>
                                </p:cTn>
                              </p:par>
                              <p:par>
                                <p:cTn id="304" presetID="10" presetClass="entr" presetSubtype="0" fill="hold" grpId="0" nodeType="withEffect">
                                  <p:stCondLst>
                                    <p:cond delay="0"/>
                                  </p:stCondLst>
                                  <p:childTnLst>
                                    <p:set>
                                      <p:cBhvr>
                                        <p:cTn id="305" dur="1" fill="hold">
                                          <p:stCondLst>
                                            <p:cond delay="0"/>
                                          </p:stCondLst>
                                        </p:cTn>
                                        <p:tgtEl>
                                          <p:spTgt spid="103"/>
                                        </p:tgtEl>
                                        <p:attrNameLst>
                                          <p:attrName>style.visibility</p:attrName>
                                        </p:attrNameLst>
                                      </p:cBhvr>
                                      <p:to>
                                        <p:strVal val="visible"/>
                                      </p:to>
                                    </p:set>
                                    <p:animEffect transition="in" filter="fade">
                                      <p:cBhvr>
                                        <p:cTn id="306" dur="500"/>
                                        <p:tgtEl>
                                          <p:spTgt spid="103"/>
                                        </p:tgtEl>
                                      </p:cBhvr>
                                    </p:animEffect>
                                  </p:childTnLst>
                                </p:cTn>
                              </p:par>
                              <p:par>
                                <p:cTn id="307" presetID="10" presetClass="entr" presetSubtype="0" fill="hold" grpId="0" nodeType="withEffect">
                                  <p:stCondLst>
                                    <p:cond delay="0"/>
                                  </p:stCondLst>
                                  <p:childTnLst>
                                    <p:set>
                                      <p:cBhvr>
                                        <p:cTn id="308" dur="1" fill="hold">
                                          <p:stCondLst>
                                            <p:cond delay="0"/>
                                          </p:stCondLst>
                                        </p:cTn>
                                        <p:tgtEl>
                                          <p:spTgt spid="104"/>
                                        </p:tgtEl>
                                        <p:attrNameLst>
                                          <p:attrName>style.visibility</p:attrName>
                                        </p:attrNameLst>
                                      </p:cBhvr>
                                      <p:to>
                                        <p:strVal val="visible"/>
                                      </p:to>
                                    </p:set>
                                    <p:animEffect transition="in" filter="fade">
                                      <p:cBhvr>
                                        <p:cTn id="309" dur="500"/>
                                        <p:tgtEl>
                                          <p:spTgt spid="104"/>
                                        </p:tgtEl>
                                      </p:cBhvr>
                                    </p:animEffect>
                                  </p:childTnLst>
                                </p:cTn>
                              </p:par>
                              <p:par>
                                <p:cTn id="310" presetID="10" presetClass="entr" presetSubtype="0" fill="hold" grpId="0" nodeType="withEffect">
                                  <p:stCondLst>
                                    <p:cond delay="0"/>
                                  </p:stCondLst>
                                  <p:childTnLst>
                                    <p:set>
                                      <p:cBhvr>
                                        <p:cTn id="311" dur="1" fill="hold">
                                          <p:stCondLst>
                                            <p:cond delay="0"/>
                                          </p:stCondLst>
                                        </p:cTn>
                                        <p:tgtEl>
                                          <p:spTgt spid="105"/>
                                        </p:tgtEl>
                                        <p:attrNameLst>
                                          <p:attrName>style.visibility</p:attrName>
                                        </p:attrNameLst>
                                      </p:cBhvr>
                                      <p:to>
                                        <p:strVal val="visible"/>
                                      </p:to>
                                    </p:set>
                                    <p:animEffect transition="in" filter="fade">
                                      <p:cBhvr>
                                        <p:cTn id="312" dur="500"/>
                                        <p:tgtEl>
                                          <p:spTgt spid="105"/>
                                        </p:tgtEl>
                                      </p:cBhvr>
                                    </p:animEffect>
                                  </p:childTnLst>
                                </p:cTn>
                              </p:par>
                              <p:par>
                                <p:cTn id="313" presetID="10" presetClass="entr" presetSubtype="0" fill="hold" grpId="0" nodeType="withEffect">
                                  <p:stCondLst>
                                    <p:cond delay="0"/>
                                  </p:stCondLst>
                                  <p:childTnLst>
                                    <p:set>
                                      <p:cBhvr>
                                        <p:cTn id="314" dur="1" fill="hold">
                                          <p:stCondLst>
                                            <p:cond delay="0"/>
                                          </p:stCondLst>
                                        </p:cTn>
                                        <p:tgtEl>
                                          <p:spTgt spid="106"/>
                                        </p:tgtEl>
                                        <p:attrNameLst>
                                          <p:attrName>style.visibility</p:attrName>
                                        </p:attrNameLst>
                                      </p:cBhvr>
                                      <p:to>
                                        <p:strVal val="visible"/>
                                      </p:to>
                                    </p:set>
                                    <p:animEffect transition="in" filter="fade">
                                      <p:cBhvr>
                                        <p:cTn id="315" dur="500"/>
                                        <p:tgtEl>
                                          <p:spTgt spid="106"/>
                                        </p:tgtEl>
                                      </p:cBhvr>
                                    </p:animEffect>
                                  </p:childTnLst>
                                </p:cTn>
                              </p:par>
                              <p:par>
                                <p:cTn id="316" presetID="10" presetClass="entr" presetSubtype="0" fill="hold" grpId="0" nodeType="withEffect">
                                  <p:stCondLst>
                                    <p:cond delay="0"/>
                                  </p:stCondLst>
                                  <p:childTnLst>
                                    <p:set>
                                      <p:cBhvr>
                                        <p:cTn id="317" dur="1" fill="hold">
                                          <p:stCondLst>
                                            <p:cond delay="0"/>
                                          </p:stCondLst>
                                        </p:cTn>
                                        <p:tgtEl>
                                          <p:spTgt spid="107"/>
                                        </p:tgtEl>
                                        <p:attrNameLst>
                                          <p:attrName>style.visibility</p:attrName>
                                        </p:attrNameLst>
                                      </p:cBhvr>
                                      <p:to>
                                        <p:strVal val="visible"/>
                                      </p:to>
                                    </p:set>
                                    <p:animEffect transition="in" filter="fade">
                                      <p:cBhvr>
                                        <p:cTn id="318" dur="500"/>
                                        <p:tgtEl>
                                          <p:spTgt spid="107"/>
                                        </p:tgtEl>
                                      </p:cBhvr>
                                    </p:animEffect>
                                  </p:childTnLst>
                                </p:cTn>
                              </p:par>
                              <p:par>
                                <p:cTn id="319" presetID="10" presetClass="entr" presetSubtype="0" fill="hold" grpId="0" nodeType="withEffect">
                                  <p:stCondLst>
                                    <p:cond delay="0"/>
                                  </p:stCondLst>
                                  <p:childTnLst>
                                    <p:set>
                                      <p:cBhvr>
                                        <p:cTn id="320" dur="1" fill="hold">
                                          <p:stCondLst>
                                            <p:cond delay="0"/>
                                          </p:stCondLst>
                                        </p:cTn>
                                        <p:tgtEl>
                                          <p:spTgt spid="108"/>
                                        </p:tgtEl>
                                        <p:attrNameLst>
                                          <p:attrName>style.visibility</p:attrName>
                                        </p:attrNameLst>
                                      </p:cBhvr>
                                      <p:to>
                                        <p:strVal val="visible"/>
                                      </p:to>
                                    </p:set>
                                    <p:animEffect transition="in" filter="fade">
                                      <p:cBhvr>
                                        <p:cTn id="321" dur="500"/>
                                        <p:tgtEl>
                                          <p:spTgt spid="108"/>
                                        </p:tgtEl>
                                      </p:cBhvr>
                                    </p:animEffect>
                                  </p:childTnLst>
                                </p:cTn>
                              </p:par>
                              <p:par>
                                <p:cTn id="322" presetID="10" presetClass="entr" presetSubtype="0" fill="hold" grpId="0" nodeType="withEffect">
                                  <p:stCondLst>
                                    <p:cond delay="0"/>
                                  </p:stCondLst>
                                  <p:childTnLst>
                                    <p:set>
                                      <p:cBhvr>
                                        <p:cTn id="323" dur="1" fill="hold">
                                          <p:stCondLst>
                                            <p:cond delay="0"/>
                                          </p:stCondLst>
                                        </p:cTn>
                                        <p:tgtEl>
                                          <p:spTgt spid="109"/>
                                        </p:tgtEl>
                                        <p:attrNameLst>
                                          <p:attrName>style.visibility</p:attrName>
                                        </p:attrNameLst>
                                      </p:cBhvr>
                                      <p:to>
                                        <p:strVal val="visible"/>
                                      </p:to>
                                    </p:set>
                                    <p:animEffect transition="in" filter="fade">
                                      <p:cBhvr>
                                        <p:cTn id="324" dur="500"/>
                                        <p:tgtEl>
                                          <p:spTgt spid="109"/>
                                        </p:tgtEl>
                                      </p:cBhvr>
                                    </p:animEffect>
                                  </p:childTnLst>
                                </p:cTn>
                              </p:par>
                              <p:par>
                                <p:cTn id="325" presetID="10" presetClass="entr" presetSubtype="0" fill="hold" grpId="0" nodeType="withEffect">
                                  <p:stCondLst>
                                    <p:cond delay="0"/>
                                  </p:stCondLst>
                                  <p:childTnLst>
                                    <p:set>
                                      <p:cBhvr>
                                        <p:cTn id="326" dur="1" fill="hold">
                                          <p:stCondLst>
                                            <p:cond delay="0"/>
                                          </p:stCondLst>
                                        </p:cTn>
                                        <p:tgtEl>
                                          <p:spTgt spid="110"/>
                                        </p:tgtEl>
                                        <p:attrNameLst>
                                          <p:attrName>style.visibility</p:attrName>
                                        </p:attrNameLst>
                                      </p:cBhvr>
                                      <p:to>
                                        <p:strVal val="visible"/>
                                      </p:to>
                                    </p:set>
                                    <p:animEffect transition="in" filter="fade">
                                      <p:cBhvr>
                                        <p:cTn id="327" dur="500"/>
                                        <p:tgtEl>
                                          <p:spTgt spid="110"/>
                                        </p:tgtEl>
                                      </p:cBhvr>
                                    </p:animEffect>
                                  </p:childTnLst>
                                </p:cTn>
                              </p:par>
                              <p:par>
                                <p:cTn id="328" presetID="10" presetClass="entr" presetSubtype="0" fill="hold" grpId="0" nodeType="withEffect">
                                  <p:stCondLst>
                                    <p:cond delay="0"/>
                                  </p:stCondLst>
                                  <p:childTnLst>
                                    <p:set>
                                      <p:cBhvr>
                                        <p:cTn id="329" dur="1" fill="hold">
                                          <p:stCondLst>
                                            <p:cond delay="0"/>
                                          </p:stCondLst>
                                        </p:cTn>
                                        <p:tgtEl>
                                          <p:spTgt spid="111"/>
                                        </p:tgtEl>
                                        <p:attrNameLst>
                                          <p:attrName>style.visibility</p:attrName>
                                        </p:attrNameLst>
                                      </p:cBhvr>
                                      <p:to>
                                        <p:strVal val="visible"/>
                                      </p:to>
                                    </p:set>
                                    <p:animEffect transition="in" filter="fade">
                                      <p:cBhvr>
                                        <p:cTn id="330" dur="500"/>
                                        <p:tgtEl>
                                          <p:spTgt spid="111"/>
                                        </p:tgtEl>
                                      </p:cBhvr>
                                    </p:animEffect>
                                  </p:childTnLst>
                                </p:cTn>
                              </p:par>
                              <p:par>
                                <p:cTn id="331" presetID="10" presetClass="entr" presetSubtype="0" fill="hold" grpId="0" nodeType="withEffect">
                                  <p:stCondLst>
                                    <p:cond delay="0"/>
                                  </p:stCondLst>
                                  <p:childTnLst>
                                    <p:set>
                                      <p:cBhvr>
                                        <p:cTn id="332" dur="1" fill="hold">
                                          <p:stCondLst>
                                            <p:cond delay="0"/>
                                          </p:stCondLst>
                                        </p:cTn>
                                        <p:tgtEl>
                                          <p:spTgt spid="112"/>
                                        </p:tgtEl>
                                        <p:attrNameLst>
                                          <p:attrName>style.visibility</p:attrName>
                                        </p:attrNameLst>
                                      </p:cBhvr>
                                      <p:to>
                                        <p:strVal val="visible"/>
                                      </p:to>
                                    </p:set>
                                    <p:animEffect transition="in" filter="fade">
                                      <p:cBhvr>
                                        <p:cTn id="333" dur="500"/>
                                        <p:tgtEl>
                                          <p:spTgt spid="112"/>
                                        </p:tgtEl>
                                      </p:cBhvr>
                                    </p:animEffect>
                                  </p:childTnLst>
                                </p:cTn>
                              </p:par>
                              <p:par>
                                <p:cTn id="334" presetID="10" presetClass="entr" presetSubtype="0" fill="hold" grpId="0" nodeType="withEffect">
                                  <p:stCondLst>
                                    <p:cond delay="0"/>
                                  </p:stCondLst>
                                  <p:childTnLst>
                                    <p:set>
                                      <p:cBhvr>
                                        <p:cTn id="335" dur="1" fill="hold">
                                          <p:stCondLst>
                                            <p:cond delay="0"/>
                                          </p:stCondLst>
                                        </p:cTn>
                                        <p:tgtEl>
                                          <p:spTgt spid="113"/>
                                        </p:tgtEl>
                                        <p:attrNameLst>
                                          <p:attrName>style.visibility</p:attrName>
                                        </p:attrNameLst>
                                      </p:cBhvr>
                                      <p:to>
                                        <p:strVal val="visible"/>
                                      </p:to>
                                    </p:set>
                                    <p:animEffect transition="in" filter="fade">
                                      <p:cBhvr>
                                        <p:cTn id="336" dur="500"/>
                                        <p:tgtEl>
                                          <p:spTgt spid="113"/>
                                        </p:tgtEl>
                                      </p:cBhvr>
                                    </p:animEffect>
                                  </p:childTnLst>
                                </p:cTn>
                              </p:par>
                              <p:par>
                                <p:cTn id="337" presetID="10" presetClass="entr" presetSubtype="0" fill="hold" grpId="0" nodeType="withEffect">
                                  <p:stCondLst>
                                    <p:cond delay="0"/>
                                  </p:stCondLst>
                                  <p:childTnLst>
                                    <p:set>
                                      <p:cBhvr>
                                        <p:cTn id="338" dur="1" fill="hold">
                                          <p:stCondLst>
                                            <p:cond delay="0"/>
                                          </p:stCondLst>
                                        </p:cTn>
                                        <p:tgtEl>
                                          <p:spTgt spid="114"/>
                                        </p:tgtEl>
                                        <p:attrNameLst>
                                          <p:attrName>style.visibility</p:attrName>
                                        </p:attrNameLst>
                                      </p:cBhvr>
                                      <p:to>
                                        <p:strVal val="visible"/>
                                      </p:to>
                                    </p:set>
                                    <p:animEffect transition="in" filter="fade">
                                      <p:cBhvr>
                                        <p:cTn id="339" dur="500"/>
                                        <p:tgtEl>
                                          <p:spTgt spid="114"/>
                                        </p:tgtEl>
                                      </p:cBhvr>
                                    </p:animEffect>
                                  </p:childTnLst>
                                </p:cTn>
                              </p:par>
                              <p:par>
                                <p:cTn id="340" presetID="10" presetClass="entr" presetSubtype="0" fill="hold" grpId="0" nodeType="withEffect">
                                  <p:stCondLst>
                                    <p:cond delay="0"/>
                                  </p:stCondLst>
                                  <p:childTnLst>
                                    <p:set>
                                      <p:cBhvr>
                                        <p:cTn id="341" dur="1" fill="hold">
                                          <p:stCondLst>
                                            <p:cond delay="0"/>
                                          </p:stCondLst>
                                        </p:cTn>
                                        <p:tgtEl>
                                          <p:spTgt spid="115"/>
                                        </p:tgtEl>
                                        <p:attrNameLst>
                                          <p:attrName>style.visibility</p:attrName>
                                        </p:attrNameLst>
                                      </p:cBhvr>
                                      <p:to>
                                        <p:strVal val="visible"/>
                                      </p:to>
                                    </p:set>
                                    <p:animEffect transition="in" filter="fade">
                                      <p:cBhvr>
                                        <p:cTn id="342" dur="500"/>
                                        <p:tgtEl>
                                          <p:spTgt spid="115"/>
                                        </p:tgtEl>
                                      </p:cBhvr>
                                    </p:animEffect>
                                  </p:childTnLst>
                                </p:cTn>
                              </p:par>
                              <p:par>
                                <p:cTn id="343" presetID="10" presetClass="entr" presetSubtype="0" fill="hold" grpId="0" nodeType="withEffect">
                                  <p:stCondLst>
                                    <p:cond delay="0"/>
                                  </p:stCondLst>
                                  <p:childTnLst>
                                    <p:set>
                                      <p:cBhvr>
                                        <p:cTn id="344" dur="1" fill="hold">
                                          <p:stCondLst>
                                            <p:cond delay="0"/>
                                          </p:stCondLst>
                                        </p:cTn>
                                        <p:tgtEl>
                                          <p:spTgt spid="116"/>
                                        </p:tgtEl>
                                        <p:attrNameLst>
                                          <p:attrName>style.visibility</p:attrName>
                                        </p:attrNameLst>
                                      </p:cBhvr>
                                      <p:to>
                                        <p:strVal val="visible"/>
                                      </p:to>
                                    </p:set>
                                    <p:animEffect transition="in" filter="fade">
                                      <p:cBhvr>
                                        <p:cTn id="345" dur="500"/>
                                        <p:tgtEl>
                                          <p:spTgt spid="116"/>
                                        </p:tgtEl>
                                      </p:cBhvr>
                                    </p:animEffect>
                                  </p:childTnLst>
                                </p:cTn>
                              </p:par>
                              <p:par>
                                <p:cTn id="346" presetID="10" presetClass="entr" presetSubtype="0" fill="hold" grpId="0" nodeType="withEffect">
                                  <p:stCondLst>
                                    <p:cond delay="0"/>
                                  </p:stCondLst>
                                  <p:childTnLst>
                                    <p:set>
                                      <p:cBhvr>
                                        <p:cTn id="347" dur="1" fill="hold">
                                          <p:stCondLst>
                                            <p:cond delay="0"/>
                                          </p:stCondLst>
                                        </p:cTn>
                                        <p:tgtEl>
                                          <p:spTgt spid="117"/>
                                        </p:tgtEl>
                                        <p:attrNameLst>
                                          <p:attrName>style.visibility</p:attrName>
                                        </p:attrNameLst>
                                      </p:cBhvr>
                                      <p:to>
                                        <p:strVal val="visible"/>
                                      </p:to>
                                    </p:set>
                                    <p:animEffect transition="in" filter="fade">
                                      <p:cBhvr>
                                        <p:cTn id="348" dur="500"/>
                                        <p:tgtEl>
                                          <p:spTgt spid="117"/>
                                        </p:tgtEl>
                                      </p:cBhvr>
                                    </p:animEffect>
                                  </p:childTnLst>
                                </p:cTn>
                              </p:par>
                              <p:par>
                                <p:cTn id="349" presetID="10" presetClass="entr" presetSubtype="0" fill="hold" grpId="0" nodeType="withEffect">
                                  <p:stCondLst>
                                    <p:cond delay="0"/>
                                  </p:stCondLst>
                                  <p:childTnLst>
                                    <p:set>
                                      <p:cBhvr>
                                        <p:cTn id="350" dur="1" fill="hold">
                                          <p:stCondLst>
                                            <p:cond delay="0"/>
                                          </p:stCondLst>
                                        </p:cTn>
                                        <p:tgtEl>
                                          <p:spTgt spid="118"/>
                                        </p:tgtEl>
                                        <p:attrNameLst>
                                          <p:attrName>style.visibility</p:attrName>
                                        </p:attrNameLst>
                                      </p:cBhvr>
                                      <p:to>
                                        <p:strVal val="visible"/>
                                      </p:to>
                                    </p:set>
                                    <p:animEffect transition="in" filter="fade">
                                      <p:cBhvr>
                                        <p:cTn id="351" dur="500"/>
                                        <p:tgtEl>
                                          <p:spTgt spid="118"/>
                                        </p:tgtEl>
                                      </p:cBhvr>
                                    </p:animEffect>
                                  </p:childTnLst>
                                </p:cTn>
                              </p:par>
                              <p:par>
                                <p:cTn id="352" presetID="10" presetClass="entr" presetSubtype="0" fill="hold" grpId="0" nodeType="withEffect">
                                  <p:stCondLst>
                                    <p:cond delay="0"/>
                                  </p:stCondLst>
                                  <p:childTnLst>
                                    <p:set>
                                      <p:cBhvr>
                                        <p:cTn id="353" dur="1" fill="hold">
                                          <p:stCondLst>
                                            <p:cond delay="0"/>
                                          </p:stCondLst>
                                        </p:cTn>
                                        <p:tgtEl>
                                          <p:spTgt spid="119"/>
                                        </p:tgtEl>
                                        <p:attrNameLst>
                                          <p:attrName>style.visibility</p:attrName>
                                        </p:attrNameLst>
                                      </p:cBhvr>
                                      <p:to>
                                        <p:strVal val="visible"/>
                                      </p:to>
                                    </p:set>
                                    <p:animEffect transition="in" filter="fade">
                                      <p:cBhvr>
                                        <p:cTn id="354" dur="500"/>
                                        <p:tgtEl>
                                          <p:spTgt spid="119"/>
                                        </p:tgtEl>
                                      </p:cBhvr>
                                    </p:animEffect>
                                  </p:childTnLst>
                                </p:cTn>
                              </p:par>
                              <p:par>
                                <p:cTn id="355" presetID="10" presetClass="entr" presetSubtype="0" fill="hold" grpId="0" nodeType="withEffect">
                                  <p:stCondLst>
                                    <p:cond delay="0"/>
                                  </p:stCondLst>
                                  <p:childTnLst>
                                    <p:set>
                                      <p:cBhvr>
                                        <p:cTn id="356" dur="1" fill="hold">
                                          <p:stCondLst>
                                            <p:cond delay="0"/>
                                          </p:stCondLst>
                                        </p:cTn>
                                        <p:tgtEl>
                                          <p:spTgt spid="120"/>
                                        </p:tgtEl>
                                        <p:attrNameLst>
                                          <p:attrName>style.visibility</p:attrName>
                                        </p:attrNameLst>
                                      </p:cBhvr>
                                      <p:to>
                                        <p:strVal val="visible"/>
                                      </p:to>
                                    </p:set>
                                    <p:animEffect transition="in" filter="fade">
                                      <p:cBhvr>
                                        <p:cTn id="357" dur="500"/>
                                        <p:tgtEl>
                                          <p:spTgt spid="120"/>
                                        </p:tgtEl>
                                      </p:cBhvr>
                                    </p:animEffect>
                                  </p:childTnLst>
                                </p:cTn>
                              </p:par>
                              <p:par>
                                <p:cTn id="358" presetID="10" presetClass="entr" presetSubtype="0" fill="hold" grpId="0" nodeType="withEffect">
                                  <p:stCondLst>
                                    <p:cond delay="0"/>
                                  </p:stCondLst>
                                  <p:childTnLst>
                                    <p:set>
                                      <p:cBhvr>
                                        <p:cTn id="359" dur="1" fill="hold">
                                          <p:stCondLst>
                                            <p:cond delay="0"/>
                                          </p:stCondLst>
                                        </p:cTn>
                                        <p:tgtEl>
                                          <p:spTgt spid="121"/>
                                        </p:tgtEl>
                                        <p:attrNameLst>
                                          <p:attrName>style.visibility</p:attrName>
                                        </p:attrNameLst>
                                      </p:cBhvr>
                                      <p:to>
                                        <p:strVal val="visible"/>
                                      </p:to>
                                    </p:set>
                                    <p:animEffect transition="in" filter="fade">
                                      <p:cBhvr>
                                        <p:cTn id="360" dur="500"/>
                                        <p:tgtEl>
                                          <p:spTgt spid="121"/>
                                        </p:tgtEl>
                                      </p:cBhvr>
                                    </p:animEffect>
                                  </p:childTnLst>
                                </p:cTn>
                              </p:par>
                              <p:par>
                                <p:cTn id="361" presetID="10" presetClass="entr" presetSubtype="0" fill="hold" grpId="0" nodeType="withEffect">
                                  <p:stCondLst>
                                    <p:cond delay="0"/>
                                  </p:stCondLst>
                                  <p:childTnLst>
                                    <p:set>
                                      <p:cBhvr>
                                        <p:cTn id="362" dur="1" fill="hold">
                                          <p:stCondLst>
                                            <p:cond delay="0"/>
                                          </p:stCondLst>
                                        </p:cTn>
                                        <p:tgtEl>
                                          <p:spTgt spid="122"/>
                                        </p:tgtEl>
                                        <p:attrNameLst>
                                          <p:attrName>style.visibility</p:attrName>
                                        </p:attrNameLst>
                                      </p:cBhvr>
                                      <p:to>
                                        <p:strVal val="visible"/>
                                      </p:to>
                                    </p:set>
                                    <p:animEffect transition="in" filter="fade">
                                      <p:cBhvr>
                                        <p:cTn id="363" dur="500"/>
                                        <p:tgtEl>
                                          <p:spTgt spid="122"/>
                                        </p:tgtEl>
                                      </p:cBhvr>
                                    </p:animEffect>
                                  </p:childTnLst>
                                </p:cTn>
                              </p:par>
                              <p:par>
                                <p:cTn id="364" presetID="10" presetClass="entr" presetSubtype="0" fill="hold" grpId="0" nodeType="withEffect">
                                  <p:stCondLst>
                                    <p:cond delay="0"/>
                                  </p:stCondLst>
                                  <p:childTnLst>
                                    <p:set>
                                      <p:cBhvr>
                                        <p:cTn id="365" dur="1" fill="hold">
                                          <p:stCondLst>
                                            <p:cond delay="0"/>
                                          </p:stCondLst>
                                        </p:cTn>
                                        <p:tgtEl>
                                          <p:spTgt spid="123"/>
                                        </p:tgtEl>
                                        <p:attrNameLst>
                                          <p:attrName>style.visibility</p:attrName>
                                        </p:attrNameLst>
                                      </p:cBhvr>
                                      <p:to>
                                        <p:strVal val="visible"/>
                                      </p:to>
                                    </p:set>
                                    <p:animEffect transition="in" filter="fade">
                                      <p:cBhvr>
                                        <p:cTn id="366" dur="500"/>
                                        <p:tgtEl>
                                          <p:spTgt spid="123"/>
                                        </p:tgtEl>
                                      </p:cBhvr>
                                    </p:animEffect>
                                  </p:childTnLst>
                                </p:cTn>
                              </p:par>
                              <p:par>
                                <p:cTn id="367" presetID="10" presetClass="entr" presetSubtype="0" fill="hold" grpId="0" nodeType="withEffect">
                                  <p:stCondLst>
                                    <p:cond delay="0"/>
                                  </p:stCondLst>
                                  <p:childTnLst>
                                    <p:set>
                                      <p:cBhvr>
                                        <p:cTn id="368" dur="1" fill="hold">
                                          <p:stCondLst>
                                            <p:cond delay="0"/>
                                          </p:stCondLst>
                                        </p:cTn>
                                        <p:tgtEl>
                                          <p:spTgt spid="124"/>
                                        </p:tgtEl>
                                        <p:attrNameLst>
                                          <p:attrName>style.visibility</p:attrName>
                                        </p:attrNameLst>
                                      </p:cBhvr>
                                      <p:to>
                                        <p:strVal val="visible"/>
                                      </p:to>
                                    </p:set>
                                    <p:animEffect transition="in" filter="fade">
                                      <p:cBhvr>
                                        <p:cTn id="369" dur="500"/>
                                        <p:tgtEl>
                                          <p:spTgt spid="124"/>
                                        </p:tgtEl>
                                      </p:cBhvr>
                                    </p:animEffect>
                                  </p:childTnLst>
                                </p:cTn>
                              </p:par>
                              <p:par>
                                <p:cTn id="370" presetID="10" presetClass="entr" presetSubtype="0" fill="hold" grpId="0" nodeType="withEffect">
                                  <p:stCondLst>
                                    <p:cond delay="0"/>
                                  </p:stCondLst>
                                  <p:childTnLst>
                                    <p:set>
                                      <p:cBhvr>
                                        <p:cTn id="371" dur="1" fill="hold">
                                          <p:stCondLst>
                                            <p:cond delay="0"/>
                                          </p:stCondLst>
                                        </p:cTn>
                                        <p:tgtEl>
                                          <p:spTgt spid="125"/>
                                        </p:tgtEl>
                                        <p:attrNameLst>
                                          <p:attrName>style.visibility</p:attrName>
                                        </p:attrNameLst>
                                      </p:cBhvr>
                                      <p:to>
                                        <p:strVal val="visible"/>
                                      </p:to>
                                    </p:set>
                                    <p:animEffect transition="in" filter="fade">
                                      <p:cBhvr>
                                        <p:cTn id="372" dur="500"/>
                                        <p:tgtEl>
                                          <p:spTgt spid="125"/>
                                        </p:tgtEl>
                                      </p:cBhvr>
                                    </p:animEffect>
                                  </p:childTnLst>
                                </p:cTn>
                              </p:par>
                              <p:par>
                                <p:cTn id="373" presetID="10" presetClass="entr" presetSubtype="0" fill="hold" grpId="0" nodeType="withEffect">
                                  <p:stCondLst>
                                    <p:cond delay="0"/>
                                  </p:stCondLst>
                                  <p:childTnLst>
                                    <p:set>
                                      <p:cBhvr>
                                        <p:cTn id="374" dur="1" fill="hold">
                                          <p:stCondLst>
                                            <p:cond delay="0"/>
                                          </p:stCondLst>
                                        </p:cTn>
                                        <p:tgtEl>
                                          <p:spTgt spid="126"/>
                                        </p:tgtEl>
                                        <p:attrNameLst>
                                          <p:attrName>style.visibility</p:attrName>
                                        </p:attrNameLst>
                                      </p:cBhvr>
                                      <p:to>
                                        <p:strVal val="visible"/>
                                      </p:to>
                                    </p:set>
                                    <p:animEffect transition="in" filter="fade">
                                      <p:cBhvr>
                                        <p:cTn id="375" dur="500"/>
                                        <p:tgtEl>
                                          <p:spTgt spid="126"/>
                                        </p:tgtEl>
                                      </p:cBhvr>
                                    </p:animEffect>
                                  </p:childTnLst>
                                </p:cTn>
                              </p:par>
                              <p:par>
                                <p:cTn id="376" presetID="10" presetClass="entr" presetSubtype="0" fill="hold" grpId="0" nodeType="withEffect">
                                  <p:stCondLst>
                                    <p:cond delay="0"/>
                                  </p:stCondLst>
                                  <p:childTnLst>
                                    <p:set>
                                      <p:cBhvr>
                                        <p:cTn id="377" dur="1" fill="hold">
                                          <p:stCondLst>
                                            <p:cond delay="0"/>
                                          </p:stCondLst>
                                        </p:cTn>
                                        <p:tgtEl>
                                          <p:spTgt spid="127"/>
                                        </p:tgtEl>
                                        <p:attrNameLst>
                                          <p:attrName>style.visibility</p:attrName>
                                        </p:attrNameLst>
                                      </p:cBhvr>
                                      <p:to>
                                        <p:strVal val="visible"/>
                                      </p:to>
                                    </p:set>
                                    <p:animEffect transition="in" filter="fade">
                                      <p:cBhvr>
                                        <p:cTn id="378" dur="500"/>
                                        <p:tgtEl>
                                          <p:spTgt spid="127"/>
                                        </p:tgtEl>
                                      </p:cBhvr>
                                    </p:animEffect>
                                  </p:childTnLst>
                                </p:cTn>
                              </p:par>
                              <p:par>
                                <p:cTn id="379" presetID="10" presetClass="entr" presetSubtype="0" fill="hold" grpId="0" nodeType="withEffect">
                                  <p:stCondLst>
                                    <p:cond delay="0"/>
                                  </p:stCondLst>
                                  <p:childTnLst>
                                    <p:set>
                                      <p:cBhvr>
                                        <p:cTn id="380" dur="1" fill="hold">
                                          <p:stCondLst>
                                            <p:cond delay="0"/>
                                          </p:stCondLst>
                                        </p:cTn>
                                        <p:tgtEl>
                                          <p:spTgt spid="128"/>
                                        </p:tgtEl>
                                        <p:attrNameLst>
                                          <p:attrName>style.visibility</p:attrName>
                                        </p:attrNameLst>
                                      </p:cBhvr>
                                      <p:to>
                                        <p:strVal val="visible"/>
                                      </p:to>
                                    </p:set>
                                    <p:animEffect transition="in" filter="fade">
                                      <p:cBhvr>
                                        <p:cTn id="381" dur="500"/>
                                        <p:tgtEl>
                                          <p:spTgt spid="128"/>
                                        </p:tgtEl>
                                      </p:cBhvr>
                                    </p:animEffect>
                                  </p:childTnLst>
                                </p:cTn>
                              </p:par>
                              <p:par>
                                <p:cTn id="382" presetID="10" presetClass="entr" presetSubtype="0" fill="hold" grpId="0" nodeType="withEffect">
                                  <p:stCondLst>
                                    <p:cond delay="0"/>
                                  </p:stCondLst>
                                  <p:childTnLst>
                                    <p:set>
                                      <p:cBhvr>
                                        <p:cTn id="383" dur="1" fill="hold">
                                          <p:stCondLst>
                                            <p:cond delay="0"/>
                                          </p:stCondLst>
                                        </p:cTn>
                                        <p:tgtEl>
                                          <p:spTgt spid="129"/>
                                        </p:tgtEl>
                                        <p:attrNameLst>
                                          <p:attrName>style.visibility</p:attrName>
                                        </p:attrNameLst>
                                      </p:cBhvr>
                                      <p:to>
                                        <p:strVal val="visible"/>
                                      </p:to>
                                    </p:set>
                                    <p:animEffect transition="in" filter="fade">
                                      <p:cBhvr>
                                        <p:cTn id="384" dur="500"/>
                                        <p:tgtEl>
                                          <p:spTgt spid="129"/>
                                        </p:tgtEl>
                                      </p:cBhvr>
                                    </p:animEffect>
                                  </p:childTnLst>
                                </p:cTn>
                              </p:par>
                              <p:par>
                                <p:cTn id="385" presetID="10" presetClass="entr" presetSubtype="0" fill="hold" grpId="0" nodeType="withEffect">
                                  <p:stCondLst>
                                    <p:cond delay="0"/>
                                  </p:stCondLst>
                                  <p:childTnLst>
                                    <p:set>
                                      <p:cBhvr>
                                        <p:cTn id="386" dur="1" fill="hold">
                                          <p:stCondLst>
                                            <p:cond delay="0"/>
                                          </p:stCondLst>
                                        </p:cTn>
                                        <p:tgtEl>
                                          <p:spTgt spid="130"/>
                                        </p:tgtEl>
                                        <p:attrNameLst>
                                          <p:attrName>style.visibility</p:attrName>
                                        </p:attrNameLst>
                                      </p:cBhvr>
                                      <p:to>
                                        <p:strVal val="visible"/>
                                      </p:to>
                                    </p:set>
                                    <p:animEffect transition="in" filter="fade">
                                      <p:cBhvr>
                                        <p:cTn id="387" dur="500"/>
                                        <p:tgtEl>
                                          <p:spTgt spid="130"/>
                                        </p:tgtEl>
                                      </p:cBhvr>
                                    </p:animEffect>
                                  </p:childTnLst>
                                </p:cTn>
                              </p:par>
                              <p:par>
                                <p:cTn id="388" presetID="10" presetClass="entr" presetSubtype="0" fill="hold" grpId="0" nodeType="withEffect">
                                  <p:stCondLst>
                                    <p:cond delay="0"/>
                                  </p:stCondLst>
                                  <p:childTnLst>
                                    <p:set>
                                      <p:cBhvr>
                                        <p:cTn id="389" dur="1" fill="hold">
                                          <p:stCondLst>
                                            <p:cond delay="0"/>
                                          </p:stCondLst>
                                        </p:cTn>
                                        <p:tgtEl>
                                          <p:spTgt spid="131"/>
                                        </p:tgtEl>
                                        <p:attrNameLst>
                                          <p:attrName>style.visibility</p:attrName>
                                        </p:attrNameLst>
                                      </p:cBhvr>
                                      <p:to>
                                        <p:strVal val="visible"/>
                                      </p:to>
                                    </p:set>
                                    <p:animEffect transition="in" filter="fade">
                                      <p:cBhvr>
                                        <p:cTn id="390" dur="500"/>
                                        <p:tgtEl>
                                          <p:spTgt spid="131"/>
                                        </p:tgtEl>
                                      </p:cBhvr>
                                    </p:animEffect>
                                  </p:childTnLst>
                                </p:cTn>
                              </p:par>
                              <p:par>
                                <p:cTn id="391" presetID="10" presetClass="entr" presetSubtype="0" fill="hold" grpId="0" nodeType="withEffect">
                                  <p:stCondLst>
                                    <p:cond delay="0"/>
                                  </p:stCondLst>
                                  <p:childTnLst>
                                    <p:set>
                                      <p:cBhvr>
                                        <p:cTn id="392" dur="1" fill="hold">
                                          <p:stCondLst>
                                            <p:cond delay="0"/>
                                          </p:stCondLst>
                                        </p:cTn>
                                        <p:tgtEl>
                                          <p:spTgt spid="132"/>
                                        </p:tgtEl>
                                        <p:attrNameLst>
                                          <p:attrName>style.visibility</p:attrName>
                                        </p:attrNameLst>
                                      </p:cBhvr>
                                      <p:to>
                                        <p:strVal val="visible"/>
                                      </p:to>
                                    </p:set>
                                    <p:animEffect transition="in" filter="fade">
                                      <p:cBhvr>
                                        <p:cTn id="393" dur="500"/>
                                        <p:tgtEl>
                                          <p:spTgt spid="132"/>
                                        </p:tgtEl>
                                      </p:cBhvr>
                                    </p:animEffect>
                                  </p:childTnLst>
                                </p:cTn>
                              </p:par>
                              <p:par>
                                <p:cTn id="394" presetID="10" presetClass="entr" presetSubtype="0" fill="hold" grpId="0" nodeType="withEffect">
                                  <p:stCondLst>
                                    <p:cond delay="0"/>
                                  </p:stCondLst>
                                  <p:childTnLst>
                                    <p:set>
                                      <p:cBhvr>
                                        <p:cTn id="395" dur="1" fill="hold">
                                          <p:stCondLst>
                                            <p:cond delay="0"/>
                                          </p:stCondLst>
                                        </p:cTn>
                                        <p:tgtEl>
                                          <p:spTgt spid="133"/>
                                        </p:tgtEl>
                                        <p:attrNameLst>
                                          <p:attrName>style.visibility</p:attrName>
                                        </p:attrNameLst>
                                      </p:cBhvr>
                                      <p:to>
                                        <p:strVal val="visible"/>
                                      </p:to>
                                    </p:set>
                                    <p:animEffect transition="in" filter="fade">
                                      <p:cBhvr>
                                        <p:cTn id="396" dur="500"/>
                                        <p:tgtEl>
                                          <p:spTgt spid="133"/>
                                        </p:tgtEl>
                                      </p:cBhvr>
                                    </p:animEffect>
                                  </p:childTnLst>
                                </p:cTn>
                              </p:par>
                              <p:par>
                                <p:cTn id="397" presetID="10" presetClass="entr" presetSubtype="0" fill="hold" grpId="0" nodeType="withEffect">
                                  <p:stCondLst>
                                    <p:cond delay="0"/>
                                  </p:stCondLst>
                                  <p:childTnLst>
                                    <p:set>
                                      <p:cBhvr>
                                        <p:cTn id="398" dur="1" fill="hold">
                                          <p:stCondLst>
                                            <p:cond delay="0"/>
                                          </p:stCondLst>
                                        </p:cTn>
                                        <p:tgtEl>
                                          <p:spTgt spid="134"/>
                                        </p:tgtEl>
                                        <p:attrNameLst>
                                          <p:attrName>style.visibility</p:attrName>
                                        </p:attrNameLst>
                                      </p:cBhvr>
                                      <p:to>
                                        <p:strVal val="visible"/>
                                      </p:to>
                                    </p:set>
                                    <p:animEffect transition="in" filter="fade">
                                      <p:cBhvr>
                                        <p:cTn id="399" dur="500"/>
                                        <p:tgtEl>
                                          <p:spTgt spid="134"/>
                                        </p:tgtEl>
                                      </p:cBhvr>
                                    </p:animEffect>
                                  </p:childTnLst>
                                </p:cTn>
                              </p:par>
                              <p:par>
                                <p:cTn id="400" presetID="10" presetClass="entr" presetSubtype="0" fill="hold" grpId="0" nodeType="withEffect">
                                  <p:stCondLst>
                                    <p:cond delay="0"/>
                                  </p:stCondLst>
                                  <p:childTnLst>
                                    <p:set>
                                      <p:cBhvr>
                                        <p:cTn id="401" dur="1" fill="hold">
                                          <p:stCondLst>
                                            <p:cond delay="0"/>
                                          </p:stCondLst>
                                        </p:cTn>
                                        <p:tgtEl>
                                          <p:spTgt spid="135"/>
                                        </p:tgtEl>
                                        <p:attrNameLst>
                                          <p:attrName>style.visibility</p:attrName>
                                        </p:attrNameLst>
                                      </p:cBhvr>
                                      <p:to>
                                        <p:strVal val="visible"/>
                                      </p:to>
                                    </p:set>
                                    <p:animEffect transition="in" filter="fade">
                                      <p:cBhvr>
                                        <p:cTn id="402" dur="500"/>
                                        <p:tgtEl>
                                          <p:spTgt spid="135"/>
                                        </p:tgtEl>
                                      </p:cBhvr>
                                    </p:animEffect>
                                  </p:childTnLst>
                                </p:cTn>
                              </p:par>
                              <p:par>
                                <p:cTn id="403" presetID="10" presetClass="entr" presetSubtype="0" fill="hold" grpId="0" nodeType="withEffect">
                                  <p:stCondLst>
                                    <p:cond delay="0"/>
                                  </p:stCondLst>
                                  <p:childTnLst>
                                    <p:set>
                                      <p:cBhvr>
                                        <p:cTn id="404" dur="1" fill="hold">
                                          <p:stCondLst>
                                            <p:cond delay="0"/>
                                          </p:stCondLst>
                                        </p:cTn>
                                        <p:tgtEl>
                                          <p:spTgt spid="136"/>
                                        </p:tgtEl>
                                        <p:attrNameLst>
                                          <p:attrName>style.visibility</p:attrName>
                                        </p:attrNameLst>
                                      </p:cBhvr>
                                      <p:to>
                                        <p:strVal val="visible"/>
                                      </p:to>
                                    </p:set>
                                    <p:animEffect transition="in" filter="fade">
                                      <p:cBhvr>
                                        <p:cTn id="405" dur="500"/>
                                        <p:tgtEl>
                                          <p:spTgt spid="136"/>
                                        </p:tgtEl>
                                      </p:cBhvr>
                                    </p:animEffect>
                                  </p:childTnLst>
                                </p:cTn>
                              </p:par>
                              <p:par>
                                <p:cTn id="406" presetID="10" presetClass="entr" presetSubtype="0" fill="hold" grpId="0" nodeType="withEffect">
                                  <p:stCondLst>
                                    <p:cond delay="0"/>
                                  </p:stCondLst>
                                  <p:childTnLst>
                                    <p:set>
                                      <p:cBhvr>
                                        <p:cTn id="407" dur="1" fill="hold">
                                          <p:stCondLst>
                                            <p:cond delay="0"/>
                                          </p:stCondLst>
                                        </p:cTn>
                                        <p:tgtEl>
                                          <p:spTgt spid="137"/>
                                        </p:tgtEl>
                                        <p:attrNameLst>
                                          <p:attrName>style.visibility</p:attrName>
                                        </p:attrNameLst>
                                      </p:cBhvr>
                                      <p:to>
                                        <p:strVal val="visible"/>
                                      </p:to>
                                    </p:set>
                                    <p:animEffect transition="in" filter="fade">
                                      <p:cBhvr>
                                        <p:cTn id="408" dur="500"/>
                                        <p:tgtEl>
                                          <p:spTgt spid="137"/>
                                        </p:tgtEl>
                                      </p:cBhvr>
                                    </p:animEffect>
                                  </p:childTnLst>
                                </p:cTn>
                              </p:par>
                              <p:par>
                                <p:cTn id="409" presetID="10" presetClass="entr" presetSubtype="0" fill="hold" grpId="0" nodeType="withEffect">
                                  <p:stCondLst>
                                    <p:cond delay="0"/>
                                  </p:stCondLst>
                                  <p:childTnLst>
                                    <p:set>
                                      <p:cBhvr>
                                        <p:cTn id="410" dur="1" fill="hold">
                                          <p:stCondLst>
                                            <p:cond delay="0"/>
                                          </p:stCondLst>
                                        </p:cTn>
                                        <p:tgtEl>
                                          <p:spTgt spid="138"/>
                                        </p:tgtEl>
                                        <p:attrNameLst>
                                          <p:attrName>style.visibility</p:attrName>
                                        </p:attrNameLst>
                                      </p:cBhvr>
                                      <p:to>
                                        <p:strVal val="visible"/>
                                      </p:to>
                                    </p:set>
                                    <p:animEffect transition="in" filter="fade">
                                      <p:cBhvr>
                                        <p:cTn id="411" dur="500"/>
                                        <p:tgtEl>
                                          <p:spTgt spid="138"/>
                                        </p:tgtEl>
                                      </p:cBhvr>
                                    </p:animEffect>
                                  </p:childTnLst>
                                </p:cTn>
                              </p:par>
                              <p:par>
                                <p:cTn id="412" presetID="10" presetClass="entr" presetSubtype="0" fill="hold" grpId="0" nodeType="withEffect">
                                  <p:stCondLst>
                                    <p:cond delay="0"/>
                                  </p:stCondLst>
                                  <p:childTnLst>
                                    <p:set>
                                      <p:cBhvr>
                                        <p:cTn id="413" dur="1" fill="hold">
                                          <p:stCondLst>
                                            <p:cond delay="0"/>
                                          </p:stCondLst>
                                        </p:cTn>
                                        <p:tgtEl>
                                          <p:spTgt spid="139"/>
                                        </p:tgtEl>
                                        <p:attrNameLst>
                                          <p:attrName>style.visibility</p:attrName>
                                        </p:attrNameLst>
                                      </p:cBhvr>
                                      <p:to>
                                        <p:strVal val="visible"/>
                                      </p:to>
                                    </p:set>
                                    <p:animEffect transition="in" filter="fade">
                                      <p:cBhvr>
                                        <p:cTn id="414" dur="500"/>
                                        <p:tgtEl>
                                          <p:spTgt spid="139"/>
                                        </p:tgtEl>
                                      </p:cBhvr>
                                    </p:animEffect>
                                  </p:childTnLst>
                                </p:cTn>
                              </p:par>
                              <p:par>
                                <p:cTn id="415" presetID="10" presetClass="entr" presetSubtype="0" fill="hold" grpId="0" nodeType="withEffect">
                                  <p:stCondLst>
                                    <p:cond delay="0"/>
                                  </p:stCondLst>
                                  <p:childTnLst>
                                    <p:set>
                                      <p:cBhvr>
                                        <p:cTn id="416" dur="1" fill="hold">
                                          <p:stCondLst>
                                            <p:cond delay="0"/>
                                          </p:stCondLst>
                                        </p:cTn>
                                        <p:tgtEl>
                                          <p:spTgt spid="140"/>
                                        </p:tgtEl>
                                        <p:attrNameLst>
                                          <p:attrName>style.visibility</p:attrName>
                                        </p:attrNameLst>
                                      </p:cBhvr>
                                      <p:to>
                                        <p:strVal val="visible"/>
                                      </p:to>
                                    </p:set>
                                    <p:animEffect transition="in" filter="fade">
                                      <p:cBhvr>
                                        <p:cTn id="417" dur="500"/>
                                        <p:tgtEl>
                                          <p:spTgt spid="140"/>
                                        </p:tgtEl>
                                      </p:cBhvr>
                                    </p:animEffect>
                                  </p:childTnLst>
                                </p:cTn>
                              </p:par>
                              <p:par>
                                <p:cTn id="418" presetID="10" presetClass="entr" presetSubtype="0" fill="hold" grpId="0" nodeType="withEffect">
                                  <p:stCondLst>
                                    <p:cond delay="0"/>
                                  </p:stCondLst>
                                  <p:childTnLst>
                                    <p:set>
                                      <p:cBhvr>
                                        <p:cTn id="419" dur="1" fill="hold">
                                          <p:stCondLst>
                                            <p:cond delay="0"/>
                                          </p:stCondLst>
                                        </p:cTn>
                                        <p:tgtEl>
                                          <p:spTgt spid="141"/>
                                        </p:tgtEl>
                                        <p:attrNameLst>
                                          <p:attrName>style.visibility</p:attrName>
                                        </p:attrNameLst>
                                      </p:cBhvr>
                                      <p:to>
                                        <p:strVal val="visible"/>
                                      </p:to>
                                    </p:set>
                                    <p:animEffect transition="in" filter="fade">
                                      <p:cBhvr>
                                        <p:cTn id="420" dur="500"/>
                                        <p:tgtEl>
                                          <p:spTgt spid="141"/>
                                        </p:tgtEl>
                                      </p:cBhvr>
                                    </p:animEffect>
                                  </p:childTnLst>
                                </p:cTn>
                              </p:par>
                              <p:par>
                                <p:cTn id="421" presetID="10" presetClass="entr" presetSubtype="0" fill="hold" grpId="0" nodeType="withEffect">
                                  <p:stCondLst>
                                    <p:cond delay="0"/>
                                  </p:stCondLst>
                                  <p:childTnLst>
                                    <p:set>
                                      <p:cBhvr>
                                        <p:cTn id="422" dur="1" fill="hold">
                                          <p:stCondLst>
                                            <p:cond delay="0"/>
                                          </p:stCondLst>
                                        </p:cTn>
                                        <p:tgtEl>
                                          <p:spTgt spid="142"/>
                                        </p:tgtEl>
                                        <p:attrNameLst>
                                          <p:attrName>style.visibility</p:attrName>
                                        </p:attrNameLst>
                                      </p:cBhvr>
                                      <p:to>
                                        <p:strVal val="visible"/>
                                      </p:to>
                                    </p:set>
                                    <p:animEffect transition="in" filter="fade">
                                      <p:cBhvr>
                                        <p:cTn id="423" dur="500"/>
                                        <p:tgtEl>
                                          <p:spTgt spid="142"/>
                                        </p:tgtEl>
                                      </p:cBhvr>
                                    </p:animEffect>
                                  </p:childTnLst>
                                </p:cTn>
                              </p:par>
                              <p:par>
                                <p:cTn id="424" presetID="10" presetClass="entr" presetSubtype="0" fill="hold" grpId="0" nodeType="withEffect">
                                  <p:stCondLst>
                                    <p:cond delay="0"/>
                                  </p:stCondLst>
                                  <p:childTnLst>
                                    <p:set>
                                      <p:cBhvr>
                                        <p:cTn id="425" dur="1" fill="hold">
                                          <p:stCondLst>
                                            <p:cond delay="0"/>
                                          </p:stCondLst>
                                        </p:cTn>
                                        <p:tgtEl>
                                          <p:spTgt spid="143"/>
                                        </p:tgtEl>
                                        <p:attrNameLst>
                                          <p:attrName>style.visibility</p:attrName>
                                        </p:attrNameLst>
                                      </p:cBhvr>
                                      <p:to>
                                        <p:strVal val="visible"/>
                                      </p:to>
                                    </p:set>
                                    <p:animEffect transition="in" filter="fade">
                                      <p:cBhvr>
                                        <p:cTn id="426" dur="500"/>
                                        <p:tgtEl>
                                          <p:spTgt spid="143"/>
                                        </p:tgtEl>
                                      </p:cBhvr>
                                    </p:animEffect>
                                  </p:childTnLst>
                                </p:cTn>
                              </p:par>
                              <p:par>
                                <p:cTn id="427" presetID="10" presetClass="entr" presetSubtype="0" fill="hold" grpId="0" nodeType="withEffect">
                                  <p:stCondLst>
                                    <p:cond delay="0"/>
                                  </p:stCondLst>
                                  <p:childTnLst>
                                    <p:set>
                                      <p:cBhvr>
                                        <p:cTn id="428" dur="1" fill="hold">
                                          <p:stCondLst>
                                            <p:cond delay="0"/>
                                          </p:stCondLst>
                                        </p:cTn>
                                        <p:tgtEl>
                                          <p:spTgt spid="144"/>
                                        </p:tgtEl>
                                        <p:attrNameLst>
                                          <p:attrName>style.visibility</p:attrName>
                                        </p:attrNameLst>
                                      </p:cBhvr>
                                      <p:to>
                                        <p:strVal val="visible"/>
                                      </p:to>
                                    </p:set>
                                    <p:animEffect transition="in" filter="fade">
                                      <p:cBhvr>
                                        <p:cTn id="429" dur="500"/>
                                        <p:tgtEl>
                                          <p:spTgt spid="144"/>
                                        </p:tgtEl>
                                      </p:cBhvr>
                                    </p:animEffect>
                                  </p:childTnLst>
                                </p:cTn>
                              </p:par>
                              <p:par>
                                <p:cTn id="430" presetID="10" presetClass="entr" presetSubtype="0" fill="hold" grpId="0" nodeType="withEffect">
                                  <p:stCondLst>
                                    <p:cond delay="0"/>
                                  </p:stCondLst>
                                  <p:childTnLst>
                                    <p:set>
                                      <p:cBhvr>
                                        <p:cTn id="431" dur="1" fill="hold">
                                          <p:stCondLst>
                                            <p:cond delay="0"/>
                                          </p:stCondLst>
                                        </p:cTn>
                                        <p:tgtEl>
                                          <p:spTgt spid="145"/>
                                        </p:tgtEl>
                                        <p:attrNameLst>
                                          <p:attrName>style.visibility</p:attrName>
                                        </p:attrNameLst>
                                      </p:cBhvr>
                                      <p:to>
                                        <p:strVal val="visible"/>
                                      </p:to>
                                    </p:set>
                                    <p:animEffect transition="in" filter="fade">
                                      <p:cBhvr>
                                        <p:cTn id="432" dur="500"/>
                                        <p:tgtEl>
                                          <p:spTgt spid="145"/>
                                        </p:tgtEl>
                                      </p:cBhvr>
                                    </p:animEffect>
                                  </p:childTnLst>
                                </p:cTn>
                              </p:par>
                              <p:par>
                                <p:cTn id="433" presetID="10" presetClass="entr" presetSubtype="0" fill="hold" grpId="0" nodeType="withEffect">
                                  <p:stCondLst>
                                    <p:cond delay="0"/>
                                  </p:stCondLst>
                                  <p:childTnLst>
                                    <p:set>
                                      <p:cBhvr>
                                        <p:cTn id="434" dur="1" fill="hold">
                                          <p:stCondLst>
                                            <p:cond delay="0"/>
                                          </p:stCondLst>
                                        </p:cTn>
                                        <p:tgtEl>
                                          <p:spTgt spid="146"/>
                                        </p:tgtEl>
                                        <p:attrNameLst>
                                          <p:attrName>style.visibility</p:attrName>
                                        </p:attrNameLst>
                                      </p:cBhvr>
                                      <p:to>
                                        <p:strVal val="visible"/>
                                      </p:to>
                                    </p:set>
                                    <p:animEffect transition="in" filter="fade">
                                      <p:cBhvr>
                                        <p:cTn id="435" dur="500"/>
                                        <p:tgtEl>
                                          <p:spTgt spid="146"/>
                                        </p:tgtEl>
                                      </p:cBhvr>
                                    </p:animEffect>
                                  </p:childTnLst>
                                </p:cTn>
                              </p:par>
                              <p:par>
                                <p:cTn id="436" presetID="10" presetClass="entr" presetSubtype="0" fill="hold" grpId="0" nodeType="withEffect">
                                  <p:stCondLst>
                                    <p:cond delay="0"/>
                                  </p:stCondLst>
                                  <p:childTnLst>
                                    <p:set>
                                      <p:cBhvr>
                                        <p:cTn id="437" dur="1" fill="hold">
                                          <p:stCondLst>
                                            <p:cond delay="0"/>
                                          </p:stCondLst>
                                        </p:cTn>
                                        <p:tgtEl>
                                          <p:spTgt spid="147"/>
                                        </p:tgtEl>
                                        <p:attrNameLst>
                                          <p:attrName>style.visibility</p:attrName>
                                        </p:attrNameLst>
                                      </p:cBhvr>
                                      <p:to>
                                        <p:strVal val="visible"/>
                                      </p:to>
                                    </p:set>
                                    <p:animEffect transition="in" filter="fade">
                                      <p:cBhvr>
                                        <p:cTn id="438" dur="500"/>
                                        <p:tgtEl>
                                          <p:spTgt spid="147"/>
                                        </p:tgtEl>
                                      </p:cBhvr>
                                    </p:animEffect>
                                  </p:childTnLst>
                                </p:cTn>
                              </p:par>
                              <p:par>
                                <p:cTn id="439" presetID="10" presetClass="entr" presetSubtype="0" fill="hold" grpId="0" nodeType="withEffect">
                                  <p:stCondLst>
                                    <p:cond delay="0"/>
                                  </p:stCondLst>
                                  <p:childTnLst>
                                    <p:set>
                                      <p:cBhvr>
                                        <p:cTn id="440" dur="1" fill="hold">
                                          <p:stCondLst>
                                            <p:cond delay="0"/>
                                          </p:stCondLst>
                                        </p:cTn>
                                        <p:tgtEl>
                                          <p:spTgt spid="148"/>
                                        </p:tgtEl>
                                        <p:attrNameLst>
                                          <p:attrName>style.visibility</p:attrName>
                                        </p:attrNameLst>
                                      </p:cBhvr>
                                      <p:to>
                                        <p:strVal val="visible"/>
                                      </p:to>
                                    </p:set>
                                    <p:animEffect transition="in" filter="fade">
                                      <p:cBhvr>
                                        <p:cTn id="441" dur="500"/>
                                        <p:tgtEl>
                                          <p:spTgt spid="148"/>
                                        </p:tgtEl>
                                      </p:cBhvr>
                                    </p:animEffect>
                                  </p:childTnLst>
                                </p:cTn>
                              </p:par>
                              <p:par>
                                <p:cTn id="442" presetID="10" presetClass="entr" presetSubtype="0" fill="hold" grpId="0" nodeType="withEffect">
                                  <p:stCondLst>
                                    <p:cond delay="0"/>
                                  </p:stCondLst>
                                  <p:childTnLst>
                                    <p:set>
                                      <p:cBhvr>
                                        <p:cTn id="443" dur="1" fill="hold">
                                          <p:stCondLst>
                                            <p:cond delay="0"/>
                                          </p:stCondLst>
                                        </p:cTn>
                                        <p:tgtEl>
                                          <p:spTgt spid="149"/>
                                        </p:tgtEl>
                                        <p:attrNameLst>
                                          <p:attrName>style.visibility</p:attrName>
                                        </p:attrNameLst>
                                      </p:cBhvr>
                                      <p:to>
                                        <p:strVal val="visible"/>
                                      </p:to>
                                    </p:set>
                                    <p:animEffect transition="in" filter="fade">
                                      <p:cBhvr>
                                        <p:cTn id="444" dur="500"/>
                                        <p:tgtEl>
                                          <p:spTgt spid="149"/>
                                        </p:tgtEl>
                                      </p:cBhvr>
                                    </p:animEffect>
                                  </p:childTnLst>
                                </p:cTn>
                              </p:par>
                              <p:par>
                                <p:cTn id="445" presetID="10" presetClass="entr" presetSubtype="0" fill="hold" grpId="0" nodeType="withEffect">
                                  <p:stCondLst>
                                    <p:cond delay="0"/>
                                  </p:stCondLst>
                                  <p:childTnLst>
                                    <p:set>
                                      <p:cBhvr>
                                        <p:cTn id="446" dur="1" fill="hold">
                                          <p:stCondLst>
                                            <p:cond delay="0"/>
                                          </p:stCondLst>
                                        </p:cTn>
                                        <p:tgtEl>
                                          <p:spTgt spid="150"/>
                                        </p:tgtEl>
                                        <p:attrNameLst>
                                          <p:attrName>style.visibility</p:attrName>
                                        </p:attrNameLst>
                                      </p:cBhvr>
                                      <p:to>
                                        <p:strVal val="visible"/>
                                      </p:to>
                                    </p:set>
                                    <p:animEffect transition="in" filter="fade">
                                      <p:cBhvr>
                                        <p:cTn id="447" dur="500"/>
                                        <p:tgtEl>
                                          <p:spTgt spid="150"/>
                                        </p:tgtEl>
                                      </p:cBhvr>
                                    </p:animEffect>
                                  </p:childTnLst>
                                </p:cTn>
                              </p:par>
                              <p:par>
                                <p:cTn id="448" presetID="10" presetClass="entr" presetSubtype="0" fill="hold" grpId="0" nodeType="withEffect">
                                  <p:stCondLst>
                                    <p:cond delay="0"/>
                                  </p:stCondLst>
                                  <p:childTnLst>
                                    <p:set>
                                      <p:cBhvr>
                                        <p:cTn id="449" dur="1" fill="hold">
                                          <p:stCondLst>
                                            <p:cond delay="0"/>
                                          </p:stCondLst>
                                        </p:cTn>
                                        <p:tgtEl>
                                          <p:spTgt spid="151"/>
                                        </p:tgtEl>
                                        <p:attrNameLst>
                                          <p:attrName>style.visibility</p:attrName>
                                        </p:attrNameLst>
                                      </p:cBhvr>
                                      <p:to>
                                        <p:strVal val="visible"/>
                                      </p:to>
                                    </p:set>
                                    <p:animEffect transition="in" filter="fade">
                                      <p:cBhvr>
                                        <p:cTn id="450" dur="500"/>
                                        <p:tgtEl>
                                          <p:spTgt spid="151"/>
                                        </p:tgtEl>
                                      </p:cBhvr>
                                    </p:animEffect>
                                  </p:childTnLst>
                                </p:cTn>
                              </p:par>
                              <p:par>
                                <p:cTn id="451" presetID="10" presetClass="entr" presetSubtype="0" fill="hold" grpId="0" nodeType="withEffect">
                                  <p:stCondLst>
                                    <p:cond delay="0"/>
                                  </p:stCondLst>
                                  <p:childTnLst>
                                    <p:set>
                                      <p:cBhvr>
                                        <p:cTn id="452" dur="1" fill="hold">
                                          <p:stCondLst>
                                            <p:cond delay="0"/>
                                          </p:stCondLst>
                                        </p:cTn>
                                        <p:tgtEl>
                                          <p:spTgt spid="152"/>
                                        </p:tgtEl>
                                        <p:attrNameLst>
                                          <p:attrName>style.visibility</p:attrName>
                                        </p:attrNameLst>
                                      </p:cBhvr>
                                      <p:to>
                                        <p:strVal val="visible"/>
                                      </p:to>
                                    </p:set>
                                    <p:animEffect transition="in" filter="fade">
                                      <p:cBhvr>
                                        <p:cTn id="453" dur="500"/>
                                        <p:tgtEl>
                                          <p:spTgt spid="152"/>
                                        </p:tgtEl>
                                      </p:cBhvr>
                                    </p:animEffect>
                                  </p:childTnLst>
                                </p:cTn>
                              </p:par>
                              <p:par>
                                <p:cTn id="454" presetID="10" presetClass="entr" presetSubtype="0" fill="hold" grpId="0" nodeType="withEffect">
                                  <p:stCondLst>
                                    <p:cond delay="0"/>
                                  </p:stCondLst>
                                  <p:childTnLst>
                                    <p:set>
                                      <p:cBhvr>
                                        <p:cTn id="455" dur="1" fill="hold">
                                          <p:stCondLst>
                                            <p:cond delay="0"/>
                                          </p:stCondLst>
                                        </p:cTn>
                                        <p:tgtEl>
                                          <p:spTgt spid="153"/>
                                        </p:tgtEl>
                                        <p:attrNameLst>
                                          <p:attrName>style.visibility</p:attrName>
                                        </p:attrNameLst>
                                      </p:cBhvr>
                                      <p:to>
                                        <p:strVal val="visible"/>
                                      </p:to>
                                    </p:set>
                                    <p:animEffect transition="in" filter="fade">
                                      <p:cBhvr>
                                        <p:cTn id="456" dur="500"/>
                                        <p:tgtEl>
                                          <p:spTgt spid="153"/>
                                        </p:tgtEl>
                                      </p:cBhvr>
                                    </p:animEffect>
                                  </p:childTnLst>
                                </p:cTn>
                              </p:par>
                              <p:par>
                                <p:cTn id="457" presetID="10" presetClass="entr" presetSubtype="0" fill="hold" grpId="0" nodeType="withEffect">
                                  <p:stCondLst>
                                    <p:cond delay="0"/>
                                  </p:stCondLst>
                                  <p:childTnLst>
                                    <p:set>
                                      <p:cBhvr>
                                        <p:cTn id="458" dur="1" fill="hold">
                                          <p:stCondLst>
                                            <p:cond delay="0"/>
                                          </p:stCondLst>
                                        </p:cTn>
                                        <p:tgtEl>
                                          <p:spTgt spid="154"/>
                                        </p:tgtEl>
                                        <p:attrNameLst>
                                          <p:attrName>style.visibility</p:attrName>
                                        </p:attrNameLst>
                                      </p:cBhvr>
                                      <p:to>
                                        <p:strVal val="visible"/>
                                      </p:to>
                                    </p:set>
                                    <p:animEffect transition="in" filter="fade">
                                      <p:cBhvr>
                                        <p:cTn id="459" dur="500"/>
                                        <p:tgtEl>
                                          <p:spTgt spid="154"/>
                                        </p:tgtEl>
                                      </p:cBhvr>
                                    </p:animEffect>
                                  </p:childTnLst>
                                </p:cTn>
                              </p:par>
                              <p:par>
                                <p:cTn id="460" presetID="10" presetClass="entr" presetSubtype="0" fill="hold" grpId="0" nodeType="withEffect">
                                  <p:stCondLst>
                                    <p:cond delay="0"/>
                                  </p:stCondLst>
                                  <p:childTnLst>
                                    <p:set>
                                      <p:cBhvr>
                                        <p:cTn id="461" dur="1" fill="hold">
                                          <p:stCondLst>
                                            <p:cond delay="0"/>
                                          </p:stCondLst>
                                        </p:cTn>
                                        <p:tgtEl>
                                          <p:spTgt spid="155"/>
                                        </p:tgtEl>
                                        <p:attrNameLst>
                                          <p:attrName>style.visibility</p:attrName>
                                        </p:attrNameLst>
                                      </p:cBhvr>
                                      <p:to>
                                        <p:strVal val="visible"/>
                                      </p:to>
                                    </p:set>
                                    <p:animEffect transition="in" filter="fade">
                                      <p:cBhvr>
                                        <p:cTn id="462" dur="500"/>
                                        <p:tgtEl>
                                          <p:spTgt spid="155"/>
                                        </p:tgtEl>
                                      </p:cBhvr>
                                    </p:animEffect>
                                  </p:childTnLst>
                                </p:cTn>
                              </p:par>
                              <p:par>
                                <p:cTn id="463" presetID="10" presetClass="entr" presetSubtype="0" fill="hold" grpId="0" nodeType="withEffect">
                                  <p:stCondLst>
                                    <p:cond delay="0"/>
                                  </p:stCondLst>
                                  <p:childTnLst>
                                    <p:set>
                                      <p:cBhvr>
                                        <p:cTn id="464" dur="1" fill="hold">
                                          <p:stCondLst>
                                            <p:cond delay="0"/>
                                          </p:stCondLst>
                                        </p:cTn>
                                        <p:tgtEl>
                                          <p:spTgt spid="156"/>
                                        </p:tgtEl>
                                        <p:attrNameLst>
                                          <p:attrName>style.visibility</p:attrName>
                                        </p:attrNameLst>
                                      </p:cBhvr>
                                      <p:to>
                                        <p:strVal val="visible"/>
                                      </p:to>
                                    </p:set>
                                    <p:animEffect transition="in" filter="fade">
                                      <p:cBhvr>
                                        <p:cTn id="465" dur="500"/>
                                        <p:tgtEl>
                                          <p:spTgt spid="156"/>
                                        </p:tgtEl>
                                      </p:cBhvr>
                                    </p:animEffect>
                                  </p:childTnLst>
                                </p:cTn>
                              </p:par>
                              <p:par>
                                <p:cTn id="466" presetID="10" presetClass="entr" presetSubtype="0" fill="hold" grpId="0" nodeType="withEffect">
                                  <p:stCondLst>
                                    <p:cond delay="0"/>
                                  </p:stCondLst>
                                  <p:childTnLst>
                                    <p:set>
                                      <p:cBhvr>
                                        <p:cTn id="467" dur="1" fill="hold">
                                          <p:stCondLst>
                                            <p:cond delay="0"/>
                                          </p:stCondLst>
                                        </p:cTn>
                                        <p:tgtEl>
                                          <p:spTgt spid="157"/>
                                        </p:tgtEl>
                                        <p:attrNameLst>
                                          <p:attrName>style.visibility</p:attrName>
                                        </p:attrNameLst>
                                      </p:cBhvr>
                                      <p:to>
                                        <p:strVal val="visible"/>
                                      </p:to>
                                    </p:set>
                                    <p:animEffect transition="in" filter="fade">
                                      <p:cBhvr>
                                        <p:cTn id="468" dur="500"/>
                                        <p:tgtEl>
                                          <p:spTgt spid="157"/>
                                        </p:tgtEl>
                                      </p:cBhvr>
                                    </p:animEffect>
                                  </p:childTnLst>
                                </p:cTn>
                              </p:par>
                              <p:par>
                                <p:cTn id="469" presetID="10" presetClass="entr" presetSubtype="0" fill="hold" grpId="0" nodeType="withEffect">
                                  <p:stCondLst>
                                    <p:cond delay="0"/>
                                  </p:stCondLst>
                                  <p:childTnLst>
                                    <p:set>
                                      <p:cBhvr>
                                        <p:cTn id="470" dur="1" fill="hold">
                                          <p:stCondLst>
                                            <p:cond delay="0"/>
                                          </p:stCondLst>
                                        </p:cTn>
                                        <p:tgtEl>
                                          <p:spTgt spid="158"/>
                                        </p:tgtEl>
                                        <p:attrNameLst>
                                          <p:attrName>style.visibility</p:attrName>
                                        </p:attrNameLst>
                                      </p:cBhvr>
                                      <p:to>
                                        <p:strVal val="visible"/>
                                      </p:to>
                                    </p:set>
                                    <p:animEffect transition="in" filter="fade">
                                      <p:cBhvr>
                                        <p:cTn id="471" dur="500"/>
                                        <p:tgtEl>
                                          <p:spTgt spid="158"/>
                                        </p:tgtEl>
                                      </p:cBhvr>
                                    </p:animEffect>
                                  </p:childTnLst>
                                </p:cTn>
                              </p:par>
                              <p:par>
                                <p:cTn id="472" presetID="10" presetClass="entr" presetSubtype="0" fill="hold" grpId="0" nodeType="withEffect">
                                  <p:stCondLst>
                                    <p:cond delay="0"/>
                                  </p:stCondLst>
                                  <p:childTnLst>
                                    <p:set>
                                      <p:cBhvr>
                                        <p:cTn id="473" dur="1" fill="hold">
                                          <p:stCondLst>
                                            <p:cond delay="0"/>
                                          </p:stCondLst>
                                        </p:cTn>
                                        <p:tgtEl>
                                          <p:spTgt spid="159"/>
                                        </p:tgtEl>
                                        <p:attrNameLst>
                                          <p:attrName>style.visibility</p:attrName>
                                        </p:attrNameLst>
                                      </p:cBhvr>
                                      <p:to>
                                        <p:strVal val="visible"/>
                                      </p:to>
                                    </p:set>
                                    <p:animEffect transition="in" filter="fade">
                                      <p:cBhvr>
                                        <p:cTn id="474" dur="500"/>
                                        <p:tgtEl>
                                          <p:spTgt spid="159"/>
                                        </p:tgtEl>
                                      </p:cBhvr>
                                    </p:animEffect>
                                  </p:childTnLst>
                                </p:cTn>
                              </p:par>
                              <p:par>
                                <p:cTn id="475" presetID="10" presetClass="entr" presetSubtype="0" fill="hold" grpId="0" nodeType="withEffect">
                                  <p:stCondLst>
                                    <p:cond delay="0"/>
                                  </p:stCondLst>
                                  <p:childTnLst>
                                    <p:set>
                                      <p:cBhvr>
                                        <p:cTn id="476" dur="1" fill="hold">
                                          <p:stCondLst>
                                            <p:cond delay="0"/>
                                          </p:stCondLst>
                                        </p:cTn>
                                        <p:tgtEl>
                                          <p:spTgt spid="160"/>
                                        </p:tgtEl>
                                        <p:attrNameLst>
                                          <p:attrName>style.visibility</p:attrName>
                                        </p:attrNameLst>
                                      </p:cBhvr>
                                      <p:to>
                                        <p:strVal val="visible"/>
                                      </p:to>
                                    </p:set>
                                    <p:animEffect transition="in" filter="fade">
                                      <p:cBhvr>
                                        <p:cTn id="477" dur="500"/>
                                        <p:tgtEl>
                                          <p:spTgt spid="160"/>
                                        </p:tgtEl>
                                      </p:cBhvr>
                                    </p:animEffect>
                                  </p:childTnLst>
                                </p:cTn>
                              </p:par>
                              <p:par>
                                <p:cTn id="478" presetID="10" presetClass="entr" presetSubtype="0" fill="hold" grpId="0" nodeType="withEffect">
                                  <p:stCondLst>
                                    <p:cond delay="0"/>
                                  </p:stCondLst>
                                  <p:childTnLst>
                                    <p:set>
                                      <p:cBhvr>
                                        <p:cTn id="479" dur="1" fill="hold">
                                          <p:stCondLst>
                                            <p:cond delay="0"/>
                                          </p:stCondLst>
                                        </p:cTn>
                                        <p:tgtEl>
                                          <p:spTgt spid="161"/>
                                        </p:tgtEl>
                                        <p:attrNameLst>
                                          <p:attrName>style.visibility</p:attrName>
                                        </p:attrNameLst>
                                      </p:cBhvr>
                                      <p:to>
                                        <p:strVal val="visible"/>
                                      </p:to>
                                    </p:set>
                                    <p:animEffect transition="in" filter="fade">
                                      <p:cBhvr>
                                        <p:cTn id="480" dur="500"/>
                                        <p:tgtEl>
                                          <p:spTgt spid="161"/>
                                        </p:tgtEl>
                                      </p:cBhvr>
                                    </p:animEffect>
                                  </p:childTnLst>
                                </p:cTn>
                              </p:par>
                              <p:par>
                                <p:cTn id="481" presetID="10" presetClass="entr" presetSubtype="0" fill="hold" grpId="0" nodeType="withEffect">
                                  <p:stCondLst>
                                    <p:cond delay="0"/>
                                  </p:stCondLst>
                                  <p:childTnLst>
                                    <p:set>
                                      <p:cBhvr>
                                        <p:cTn id="482" dur="1" fill="hold">
                                          <p:stCondLst>
                                            <p:cond delay="0"/>
                                          </p:stCondLst>
                                        </p:cTn>
                                        <p:tgtEl>
                                          <p:spTgt spid="162"/>
                                        </p:tgtEl>
                                        <p:attrNameLst>
                                          <p:attrName>style.visibility</p:attrName>
                                        </p:attrNameLst>
                                      </p:cBhvr>
                                      <p:to>
                                        <p:strVal val="visible"/>
                                      </p:to>
                                    </p:set>
                                    <p:animEffect transition="in" filter="fade">
                                      <p:cBhvr>
                                        <p:cTn id="483" dur="500"/>
                                        <p:tgtEl>
                                          <p:spTgt spid="162"/>
                                        </p:tgtEl>
                                      </p:cBhvr>
                                    </p:animEffect>
                                  </p:childTnLst>
                                </p:cTn>
                              </p:par>
                              <p:par>
                                <p:cTn id="484" presetID="10" presetClass="entr" presetSubtype="0" fill="hold" grpId="0" nodeType="withEffect">
                                  <p:stCondLst>
                                    <p:cond delay="0"/>
                                  </p:stCondLst>
                                  <p:childTnLst>
                                    <p:set>
                                      <p:cBhvr>
                                        <p:cTn id="485" dur="1" fill="hold">
                                          <p:stCondLst>
                                            <p:cond delay="0"/>
                                          </p:stCondLst>
                                        </p:cTn>
                                        <p:tgtEl>
                                          <p:spTgt spid="163"/>
                                        </p:tgtEl>
                                        <p:attrNameLst>
                                          <p:attrName>style.visibility</p:attrName>
                                        </p:attrNameLst>
                                      </p:cBhvr>
                                      <p:to>
                                        <p:strVal val="visible"/>
                                      </p:to>
                                    </p:set>
                                    <p:animEffect transition="in" filter="fade">
                                      <p:cBhvr>
                                        <p:cTn id="486" dur="500"/>
                                        <p:tgtEl>
                                          <p:spTgt spid="163"/>
                                        </p:tgtEl>
                                      </p:cBhvr>
                                    </p:animEffect>
                                  </p:childTnLst>
                                </p:cTn>
                              </p:par>
                              <p:par>
                                <p:cTn id="487" presetID="10" presetClass="entr" presetSubtype="0" fill="hold" grpId="0" nodeType="withEffect">
                                  <p:stCondLst>
                                    <p:cond delay="0"/>
                                  </p:stCondLst>
                                  <p:childTnLst>
                                    <p:set>
                                      <p:cBhvr>
                                        <p:cTn id="488" dur="1" fill="hold">
                                          <p:stCondLst>
                                            <p:cond delay="0"/>
                                          </p:stCondLst>
                                        </p:cTn>
                                        <p:tgtEl>
                                          <p:spTgt spid="164"/>
                                        </p:tgtEl>
                                        <p:attrNameLst>
                                          <p:attrName>style.visibility</p:attrName>
                                        </p:attrNameLst>
                                      </p:cBhvr>
                                      <p:to>
                                        <p:strVal val="visible"/>
                                      </p:to>
                                    </p:set>
                                    <p:animEffect transition="in" filter="fade">
                                      <p:cBhvr>
                                        <p:cTn id="489" dur="500"/>
                                        <p:tgtEl>
                                          <p:spTgt spid="164"/>
                                        </p:tgtEl>
                                      </p:cBhvr>
                                    </p:animEffect>
                                  </p:childTnLst>
                                </p:cTn>
                              </p:par>
                              <p:par>
                                <p:cTn id="490" presetID="10" presetClass="entr" presetSubtype="0" fill="hold" grpId="0" nodeType="withEffect">
                                  <p:stCondLst>
                                    <p:cond delay="0"/>
                                  </p:stCondLst>
                                  <p:childTnLst>
                                    <p:set>
                                      <p:cBhvr>
                                        <p:cTn id="491" dur="1" fill="hold">
                                          <p:stCondLst>
                                            <p:cond delay="0"/>
                                          </p:stCondLst>
                                        </p:cTn>
                                        <p:tgtEl>
                                          <p:spTgt spid="165"/>
                                        </p:tgtEl>
                                        <p:attrNameLst>
                                          <p:attrName>style.visibility</p:attrName>
                                        </p:attrNameLst>
                                      </p:cBhvr>
                                      <p:to>
                                        <p:strVal val="visible"/>
                                      </p:to>
                                    </p:set>
                                    <p:animEffect transition="in" filter="fade">
                                      <p:cBhvr>
                                        <p:cTn id="492" dur="500"/>
                                        <p:tgtEl>
                                          <p:spTgt spid="165"/>
                                        </p:tgtEl>
                                      </p:cBhvr>
                                    </p:animEffect>
                                  </p:childTnLst>
                                </p:cTn>
                              </p:par>
                              <p:par>
                                <p:cTn id="493" presetID="10" presetClass="entr" presetSubtype="0" fill="hold" grpId="0" nodeType="withEffect">
                                  <p:stCondLst>
                                    <p:cond delay="0"/>
                                  </p:stCondLst>
                                  <p:childTnLst>
                                    <p:set>
                                      <p:cBhvr>
                                        <p:cTn id="494" dur="1" fill="hold">
                                          <p:stCondLst>
                                            <p:cond delay="0"/>
                                          </p:stCondLst>
                                        </p:cTn>
                                        <p:tgtEl>
                                          <p:spTgt spid="166"/>
                                        </p:tgtEl>
                                        <p:attrNameLst>
                                          <p:attrName>style.visibility</p:attrName>
                                        </p:attrNameLst>
                                      </p:cBhvr>
                                      <p:to>
                                        <p:strVal val="visible"/>
                                      </p:to>
                                    </p:set>
                                    <p:animEffect transition="in" filter="fade">
                                      <p:cBhvr>
                                        <p:cTn id="495" dur="500"/>
                                        <p:tgtEl>
                                          <p:spTgt spid="166"/>
                                        </p:tgtEl>
                                      </p:cBhvr>
                                    </p:animEffect>
                                  </p:childTnLst>
                                </p:cTn>
                              </p:par>
                              <p:par>
                                <p:cTn id="496" presetID="10" presetClass="entr" presetSubtype="0" fill="hold" grpId="0" nodeType="withEffect">
                                  <p:stCondLst>
                                    <p:cond delay="0"/>
                                  </p:stCondLst>
                                  <p:childTnLst>
                                    <p:set>
                                      <p:cBhvr>
                                        <p:cTn id="497" dur="1" fill="hold">
                                          <p:stCondLst>
                                            <p:cond delay="0"/>
                                          </p:stCondLst>
                                        </p:cTn>
                                        <p:tgtEl>
                                          <p:spTgt spid="167"/>
                                        </p:tgtEl>
                                        <p:attrNameLst>
                                          <p:attrName>style.visibility</p:attrName>
                                        </p:attrNameLst>
                                      </p:cBhvr>
                                      <p:to>
                                        <p:strVal val="visible"/>
                                      </p:to>
                                    </p:set>
                                    <p:animEffect transition="in" filter="fade">
                                      <p:cBhvr>
                                        <p:cTn id="498" dur="500"/>
                                        <p:tgtEl>
                                          <p:spTgt spid="167"/>
                                        </p:tgtEl>
                                      </p:cBhvr>
                                    </p:animEffect>
                                  </p:childTnLst>
                                </p:cTn>
                              </p:par>
                              <p:par>
                                <p:cTn id="499" presetID="10" presetClass="entr" presetSubtype="0" fill="hold" grpId="0" nodeType="withEffect">
                                  <p:stCondLst>
                                    <p:cond delay="0"/>
                                  </p:stCondLst>
                                  <p:childTnLst>
                                    <p:set>
                                      <p:cBhvr>
                                        <p:cTn id="500" dur="1" fill="hold">
                                          <p:stCondLst>
                                            <p:cond delay="0"/>
                                          </p:stCondLst>
                                        </p:cTn>
                                        <p:tgtEl>
                                          <p:spTgt spid="168"/>
                                        </p:tgtEl>
                                        <p:attrNameLst>
                                          <p:attrName>style.visibility</p:attrName>
                                        </p:attrNameLst>
                                      </p:cBhvr>
                                      <p:to>
                                        <p:strVal val="visible"/>
                                      </p:to>
                                    </p:set>
                                    <p:animEffect transition="in" filter="fade">
                                      <p:cBhvr>
                                        <p:cTn id="501" dur="500"/>
                                        <p:tgtEl>
                                          <p:spTgt spid="168"/>
                                        </p:tgtEl>
                                      </p:cBhvr>
                                    </p:animEffect>
                                  </p:childTnLst>
                                </p:cTn>
                              </p:par>
                              <p:par>
                                <p:cTn id="502" presetID="10" presetClass="entr" presetSubtype="0" fill="hold" grpId="0" nodeType="withEffect">
                                  <p:stCondLst>
                                    <p:cond delay="0"/>
                                  </p:stCondLst>
                                  <p:childTnLst>
                                    <p:set>
                                      <p:cBhvr>
                                        <p:cTn id="503" dur="1" fill="hold">
                                          <p:stCondLst>
                                            <p:cond delay="0"/>
                                          </p:stCondLst>
                                        </p:cTn>
                                        <p:tgtEl>
                                          <p:spTgt spid="169"/>
                                        </p:tgtEl>
                                        <p:attrNameLst>
                                          <p:attrName>style.visibility</p:attrName>
                                        </p:attrNameLst>
                                      </p:cBhvr>
                                      <p:to>
                                        <p:strVal val="visible"/>
                                      </p:to>
                                    </p:set>
                                    <p:animEffect transition="in" filter="fade">
                                      <p:cBhvr>
                                        <p:cTn id="504" dur="500"/>
                                        <p:tgtEl>
                                          <p:spTgt spid="169"/>
                                        </p:tgtEl>
                                      </p:cBhvr>
                                    </p:animEffect>
                                  </p:childTnLst>
                                </p:cTn>
                              </p:par>
                              <p:par>
                                <p:cTn id="505" presetID="10" presetClass="entr" presetSubtype="0" fill="hold" grpId="0" nodeType="withEffect">
                                  <p:stCondLst>
                                    <p:cond delay="0"/>
                                  </p:stCondLst>
                                  <p:childTnLst>
                                    <p:set>
                                      <p:cBhvr>
                                        <p:cTn id="506" dur="1" fill="hold">
                                          <p:stCondLst>
                                            <p:cond delay="0"/>
                                          </p:stCondLst>
                                        </p:cTn>
                                        <p:tgtEl>
                                          <p:spTgt spid="170"/>
                                        </p:tgtEl>
                                        <p:attrNameLst>
                                          <p:attrName>style.visibility</p:attrName>
                                        </p:attrNameLst>
                                      </p:cBhvr>
                                      <p:to>
                                        <p:strVal val="visible"/>
                                      </p:to>
                                    </p:set>
                                    <p:animEffect transition="in" filter="fade">
                                      <p:cBhvr>
                                        <p:cTn id="507" dur="500"/>
                                        <p:tgtEl>
                                          <p:spTgt spid="170"/>
                                        </p:tgtEl>
                                      </p:cBhvr>
                                    </p:animEffect>
                                  </p:childTnLst>
                                </p:cTn>
                              </p:par>
                              <p:par>
                                <p:cTn id="508" presetID="10" presetClass="entr" presetSubtype="0" fill="hold" grpId="0" nodeType="withEffect">
                                  <p:stCondLst>
                                    <p:cond delay="0"/>
                                  </p:stCondLst>
                                  <p:childTnLst>
                                    <p:set>
                                      <p:cBhvr>
                                        <p:cTn id="509" dur="1" fill="hold">
                                          <p:stCondLst>
                                            <p:cond delay="0"/>
                                          </p:stCondLst>
                                        </p:cTn>
                                        <p:tgtEl>
                                          <p:spTgt spid="171"/>
                                        </p:tgtEl>
                                        <p:attrNameLst>
                                          <p:attrName>style.visibility</p:attrName>
                                        </p:attrNameLst>
                                      </p:cBhvr>
                                      <p:to>
                                        <p:strVal val="visible"/>
                                      </p:to>
                                    </p:set>
                                    <p:animEffect transition="in" filter="fade">
                                      <p:cBhvr>
                                        <p:cTn id="510" dur="500"/>
                                        <p:tgtEl>
                                          <p:spTgt spid="171"/>
                                        </p:tgtEl>
                                      </p:cBhvr>
                                    </p:animEffect>
                                  </p:childTnLst>
                                </p:cTn>
                              </p:par>
                              <p:par>
                                <p:cTn id="511" presetID="10" presetClass="entr" presetSubtype="0" fill="hold" grpId="0" nodeType="withEffect">
                                  <p:stCondLst>
                                    <p:cond delay="0"/>
                                  </p:stCondLst>
                                  <p:childTnLst>
                                    <p:set>
                                      <p:cBhvr>
                                        <p:cTn id="512" dur="1" fill="hold">
                                          <p:stCondLst>
                                            <p:cond delay="0"/>
                                          </p:stCondLst>
                                        </p:cTn>
                                        <p:tgtEl>
                                          <p:spTgt spid="172"/>
                                        </p:tgtEl>
                                        <p:attrNameLst>
                                          <p:attrName>style.visibility</p:attrName>
                                        </p:attrNameLst>
                                      </p:cBhvr>
                                      <p:to>
                                        <p:strVal val="visible"/>
                                      </p:to>
                                    </p:set>
                                    <p:animEffect transition="in" filter="fade">
                                      <p:cBhvr>
                                        <p:cTn id="513" dur="500"/>
                                        <p:tgtEl>
                                          <p:spTgt spid="172"/>
                                        </p:tgtEl>
                                      </p:cBhvr>
                                    </p:animEffect>
                                  </p:childTnLst>
                                </p:cTn>
                              </p:par>
                              <p:par>
                                <p:cTn id="514" presetID="10" presetClass="entr" presetSubtype="0" fill="hold" grpId="0" nodeType="withEffect">
                                  <p:stCondLst>
                                    <p:cond delay="0"/>
                                  </p:stCondLst>
                                  <p:childTnLst>
                                    <p:set>
                                      <p:cBhvr>
                                        <p:cTn id="515" dur="1" fill="hold">
                                          <p:stCondLst>
                                            <p:cond delay="0"/>
                                          </p:stCondLst>
                                        </p:cTn>
                                        <p:tgtEl>
                                          <p:spTgt spid="173"/>
                                        </p:tgtEl>
                                        <p:attrNameLst>
                                          <p:attrName>style.visibility</p:attrName>
                                        </p:attrNameLst>
                                      </p:cBhvr>
                                      <p:to>
                                        <p:strVal val="visible"/>
                                      </p:to>
                                    </p:set>
                                    <p:animEffect transition="in" filter="fade">
                                      <p:cBhvr>
                                        <p:cTn id="516" dur="500"/>
                                        <p:tgtEl>
                                          <p:spTgt spid="173"/>
                                        </p:tgtEl>
                                      </p:cBhvr>
                                    </p:animEffect>
                                  </p:childTnLst>
                                </p:cTn>
                              </p:par>
                              <p:par>
                                <p:cTn id="517" presetID="10" presetClass="entr" presetSubtype="0" fill="hold" grpId="0" nodeType="withEffect">
                                  <p:stCondLst>
                                    <p:cond delay="0"/>
                                  </p:stCondLst>
                                  <p:childTnLst>
                                    <p:set>
                                      <p:cBhvr>
                                        <p:cTn id="518" dur="1" fill="hold">
                                          <p:stCondLst>
                                            <p:cond delay="0"/>
                                          </p:stCondLst>
                                        </p:cTn>
                                        <p:tgtEl>
                                          <p:spTgt spid="174"/>
                                        </p:tgtEl>
                                        <p:attrNameLst>
                                          <p:attrName>style.visibility</p:attrName>
                                        </p:attrNameLst>
                                      </p:cBhvr>
                                      <p:to>
                                        <p:strVal val="visible"/>
                                      </p:to>
                                    </p:set>
                                    <p:animEffect transition="in" filter="fade">
                                      <p:cBhvr>
                                        <p:cTn id="519" dur="500"/>
                                        <p:tgtEl>
                                          <p:spTgt spid="174"/>
                                        </p:tgtEl>
                                      </p:cBhvr>
                                    </p:animEffect>
                                  </p:childTnLst>
                                </p:cTn>
                              </p:par>
                              <p:par>
                                <p:cTn id="520" presetID="10" presetClass="entr" presetSubtype="0" fill="hold" grpId="0" nodeType="withEffect">
                                  <p:stCondLst>
                                    <p:cond delay="0"/>
                                  </p:stCondLst>
                                  <p:childTnLst>
                                    <p:set>
                                      <p:cBhvr>
                                        <p:cTn id="521" dur="1" fill="hold">
                                          <p:stCondLst>
                                            <p:cond delay="0"/>
                                          </p:stCondLst>
                                        </p:cTn>
                                        <p:tgtEl>
                                          <p:spTgt spid="175"/>
                                        </p:tgtEl>
                                        <p:attrNameLst>
                                          <p:attrName>style.visibility</p:attrName>
                                        </p:attrNameLst>
                                      </p:cBhvr>
                                      <p:to>
                                        <p:strVal val="visible"/>
                                      </p:to>
                                    </p:set>
                                    <p:animEffect transition="in" filter="fade">
                                      <p:cBhvr>
                                        <p:cTn id="522" dur="500"/>
                                        <p:tgtEl>
                                          <p:spTgt spid="175"/>
                                        </p:tgtEl>
                                      </p:cBhvr>
                                    </p:animEffect>
                                  </p:childTnLst>
                                </p:cTn>
                              </p:par>
                              <p:par>
                                <p:cTn id="523" presetID="10" presetClass="entr" presetSubtype="0" fill="hold" grpId="0" nodeType="withEffect">
                                  <p:stCondLst>
                                    <p:cond delay="0"/>
                                  </p:stCondLst>
                                  <p:childTnLst>
                                    <p:set>
                                      <p:cBhvr>
                                        <p:cTn id="524" dur="1" fill="hold">
                                          <p:stCondLst>
                                            <p:cond delay="0"/>
                                          </p:stCondLst>
                                        </p:cTn>
                                        <p:tgtEl>
                                          <p:spTgt spid="176"/>
                                        </p:tgtEl>
                                        <p:attrNameLst>
                                          <p:attrName>style.visibility</p:attrName>
                                        </p:attrNameLst>
                                      </p:cBhvr>
                                      <p:to>
                                        <p:strVal val="visible"/>
                                      </p:to>
                                    </p:set>
                                    <p:animEffect transition="in" filter="fade">
                                      <p:cBhvr>
                                        <p:cTn id="525" dur="500"/>
                                        <p:tgtEl>
                                          <p:spTgt spid="176"/>
                                        </p:tgtEl>
                                      </p:cBhvr>
                                    </p:animEffect>
                                  </p:childTnLst>
                                </p:cTn>
                              </p:par>
                              <p:par>
                                <p:cTn id="526" presetID="10" presetClass="entr" presetSubtype="0" fill="hold" grpId="0" nodeType="withEffect">
                                  <p:stCondLst>
                                    <p:cond delay="0"/>
                                  </p:stCondLst>
                                  <p:childTnLst>
                                    <p:set>
                                      <p:cBhvr>
                                        <p:cTn id="527" dur="1" fill="hold">
                                          <p:stCondLst>
                                            <p:cond delay="0"/>
                                          </p:stCondLst>
                                        </p:cTn>
                                        <p:tgtEl>
                                          <p:spTgt spid="177"/>
                                        </p:tgtEl>
                                        <p:attrNameLst>
                                          <p:attrName>style.visibility</p:attrName>
                                        </p:attrNameLst>
                                      </p:cBhvr>
                                      <p:to>
                                        <p:strVal val="visible"/>
                                      </p:to>
                                    </p:set>
                                    <p:animEffect transition="in" filter="fade">
                                      <p:cBhvr>
                                        <p:cTn id="528" dur="500"/>
                                        <p:tgtEl>
                                          <p:spTgt spid="177"/>
                                        </p:tgtEl>
                                      </p:cBhvr>
                                    </p:animEffect>
                                  </p:childTnLst>
                                </p:cTn>
                              </p:par>
                              <p:par>
                                <p:cTn id="529" presetID="10" presetClass="entr" presetSubtype="0" fill="hold" grpId="0" nodeType="withEffect">
                                  <p:stCondLst>
                                    <p:cond delay="0"/>
                                  </p:stCondLst>
                                  <p:childTnLst>
                                    <p:set>
                                      <p:cBhvr>
                                        <p:cTn id="530" dur="1" fill="hold">
                                          <p:stCondLst>
                                            <p:cond delay="0"/>
                                          </p:stCondLst>
                                        </p:cTn>
                                        <p:tgtEl>
                                          <p:spTgt spid="178"/>
                                        </p:tgtEl>
                                        <p:attrNameLst>
                                          <p:attrName>style.visibility</p:attrName>
                                        </p:attrNameLst>
                                      </p:cBhvr>
                                      <p:to>
                                        <p:strVal val="visible"/>
                                      </p:to>
                                    </p:set>
                                    <p:animEffect transition="in" filter="fade">
                                      <p:cBhvr>
                                        <p:cTn id="531" dur="500"/>
                                        <p:tgtEl>
                                          <p:spTgt spid="178"/>
                                        </p:tgtEl>
                                      </p:cBhvr>
                                    </p:animEffect>
                                  </p:childTnLst>
                                </p:cTn>
                              </p:par>
                              <p:par>
                                <p:cTn id="532" presetID="10" presetClass="entr" presetSubtype="0" fill="hold" grpId="0" nodeType="withEffect">
                                  <p:stCondLst>
                                    <p:cond delay="0"/>
                                  </p:stCondLst>
                                  <p:childTnLst>
                                    <p:set>
                                      <p:cBhvr>
                                        <p:cTn id="533" dur="1" fill="hold">
                                          <p:stCondLst>
                                            <p:cond delay="0"/>
                                          </p:stCondLst>
                                        </p:cTn>
                                        <p:tgtEl>
                                          <p:spTgt spid="179"/>
                                        </p:tgtEl>
                                        <p:attrNameLst>
                                          <p:attrName>style.visibility</p:attrName>
                                        </p:attrNameLst>
                                      </p:cBhvr>
                                      <p:to>
                                        <p:strVal val="visible"/>
                                      </p:to>
                                    </p:set>
                                    <p:animEffect transition="in" filter="fade">
                                      <p:cBhvr>
                                        <p:cTn id="534" dur="500"/>
                                        <p:tgtEl>
                                          <p:spTgt spid="179"/>
                                        </p:tgtEl>
                                      </p:cBhvr>
                                    </p:animEffect>
                                  </p:childTnLst>
                                </p:cTn>
                              </p:par>
                              <p:par>
                                <p:cTn id="535" presetID="10" presetClass="entr" presetSubtype="0" fill="hold" grpId="0" nodeType="withEffect">
                                  <p:stCondLst>
                                    <p:cond delay="0"/>
                                  </p:stCondLst>
                                  <p:childTnLst>
                                    <p:set>
                                      <p:cBhvr>
                                        <p:cTn id="536" dur="1" fill="hold">
                                          <p:stCondLst>
                                            <p:cond delay="0"/>
                                          </p:stCondLst>
                                        </p:cTn>
                                        <p:tgtEl>
                                          <p:spTgt spid="180"/>
                                        </p:tgtEl>
                                        <p:attrNameLst>
                                          <p:attrName>style.visibility</p:attrName>
                                        </p:attrNameLst>
                                      </p:cBhvr>
                                      <p:to>
                                        <p:strVal val="visible"/>
                                      </p:to>
                                    </p:set>
                                    <p:animEffect transition="in" filter="fade">
                                      <p:cBhvr>
                                        <p:cTn id="537" dur="500"/>
                                        <p:tgtEl>
                                          <p:spTgt spid="180"/>
                                        </p:tgtEl>
                                      </p:cBhvr>
                                    </p:animEffect>
                                  </p:childTnLst>
                                </p:cTn>
                              </p:par>
                              <p:par>
                                <p:cTn id="538" presetID="10" presetClass="entr" presetSubtype="0" fill="hold" grpId="0" nodeType="withEffect">
                                  <p:stCondLst>
                                    <p:cond delay="0"/>
                                  </p:stCondLst>
                                  <p:childTnLst>
                                    <p:set>
                                      <p:cBhvr>
                                        <p:cTn id="539" dur="1" fill="hold">
                                          <p:stCondLst>
                                            <p:cond delay="0"/>
                                          </p:stCondLst>
                                        </p:cTn>
                                        <p:tgtEl>
                                          <p:spTgt spid="181"/>
                                        </p:tgtEl>
                                        <p:attrNameLst>
                                          <p:attrName>style.visibility</p:attrName>
                                        </p:attrNameLst>
                                      </p:cBhvr>
                                      <p:to>
                                        <p:strVal val="visible"/>
                                      </p:to>
                                    </p:set>
                                    <p:animEffect transition="in" filter="fade">
                                      <p:cBhvr>
                                        <p:cTn id="540" dur="500"/>
                                        <p:tgtEl>
                                          <p:spTgt spid="181"/>
                                        </p:tgtEl>
                                      </p:cBhvr>
                                    </p:animEffect>
                                  </p:childTnLst>
                                </p:cTn>
                              </p:par>
                              <p:par>
                                <p:cTn id="541" presetID="10" presetClass="entr" presetSubtype="0" fill="hold" grpId="0" nodeType="withEffect">
                                  <p:stCondLst>
                                    <p:cond delay="0"/>
                                  </p:stCondLst>
                                  <p:childTnLst>
                                    <p:set>
                                      <p:cBhvr>
                                        <p:cTn id="542" dur="1" fill="hold">
                                          <p:stCondLst>
                                            <p:cond delay="0"/>
                                          </p:stCondLst>
                                        </p:cTn>
                                        <p:tgtEl>
                                          <p:spTgt spid="182"/>
                                        </p:tgtEl>
                                        <p:attrNameLst>
                                          <p:attrName>style.visibility</p:attrName>
                                        </p:attrNameLst>
                                      </p:cBhvr>
                                      <p:to>
                                        <p:strVal val="visible"/>
                                      </p:to>
                                    </p:set>
                                    <p:animEffect transition="in" filter="fade">
                                      <p:cBhvr>
                                        <p:cTn id="543" dur="500"/>
                                        <p:tgtEl>
                                          <p:spTgt spid="182"/>
                                        </p:tgtEl>
                                      </p:cBhvr>
                                    </p:animEffect>
                                  </p:childTnLst>
                                </p:cTn>
                              </p:par>
                              <p:par>
                                <p:cTn id="544" presetID="10" presetClass="entr" presetSubtype="0" fill="hold" grpId="0" nodeType="withEffect">
                                  <p:stCondLst>
                                    <p:cond delay="0"/>
                                  </p:stCondLst>
                                  <p:childTnLst>
                                    <p:set>
                                      <p:cBhvr>
                                        <p:cTn id="545" dur="1" fill="hold">
                                          <p:stCondLst>
                                            <p:cond delay="0"/>
                                          </p:stCondLst>
                                        </p:cTn>
                                        <p:tgtEl>
                                          <p:spTgt spid="183"/>
                                        </p:tgtEl>
                                        <p:attrNameLst>
                                          <p:attrName>style.visibility</p:attrName>
                                        </p:attrNameLst>
                                      </p:cBhvr>
                                      <p:to>
                                        <p:strVal val="visible"/>
                                      </p:to>
                                    </p:set>
                                    <p:animEffect transition="in" filter="fade">
                                      <p:cBhvr>
                                        <p:cTn id="546" dur="500"/>
                                        <p:tgtEl>
                                          <p:spTgt spid="183"/>
                                        </p:tgtEl>
                                      </p:cBhvr>
                                    </p:animEffect>
                                  </p:childTnLst>
                                </p:cTn>
                              </p:par>
                              <p:par>
                                <p:cTn id="547" presetID="10" presetClass="entr" presetSubtype="0" fill="hold" grpId="0" nodeType="withEffect">
                                  <p:stCondLst>
                                    <p:cond delay="0"/>
                                  </p:stCondLst>
                                  <p:childTnLst>
                                    <p:set>
                                      <p:cBhvr>
                                        <p:cTn id="548" dur="1" fill="hold">
                                          <p:stCondLst>
                                            <p:cond delay="0"/>
                                          </p:stCondLst>
                                        </p:cTn>
                                        <p:tgtEl>
                                          <p:spTgt spid="184"/>
                                        </p:tgtEl>
                                        <p:attrNameLst>
                                          <p:attrName>style.visibility</p:attrName>
                                        </p:attrNameLst>
                                      </p:cBhvr>
                                      <p:to>
                                        <p:strVal val="visible"/>
                                      </p:to>
                                    </p:set>
                                    <p:animEffect transition="in" filter="fade">
                                      <p:cBhvr>
                                        <p:cTn id="549" dur="500"/>
                                        <p:tgtEl>
                                          <p:spTgt spid="184"/>
                                        </p:tgtEl>
                                      </p:cBhvr>
                                    </p:animEffect>
                                  </p:childTnLst>
                                </p:cTn>
                              </p:par>
                              <p:par>
                                <p:cTn id="550" presetID="10" presetClass="entr" presetSubtype="0" fill="hold" grpId="0" nodeType="withEffect">
                                  <p:stCondLst>
                                    <p:cond delay="0"/>
                                  </p:stCondLst>
                                  <p:childTnLst>
                                    <p:set>
                                      <p:cBhvr>
                                        <p:cTn id="551" dur="1" fill="hold">
                                          <p:stCondLst>
                                            <p:cond delay="0"/>
                                          </p:stCondLst>
                                        </p:cTn>
                                        <p:tgtEl>
                                          <p:spTgt spid="185"/>
                                        </p:tgtEl>
                                        <p:attrNameLst>
                                          <p:attrName>style.visibility</p:attrName>
                                        </p:attrNameLst>
                                      </p:cBhvr>
                                      <p:to>
                                        <p:strVal val="visible"/>
                                      </p:to>
                                    </p:set>
                                    <p:animEffect transition="in" filter="fade">
                                      <p:cBhvr>
                                        <p:cTn id="552" dur="500"/>
                                        <p:tgtEl>
                                          <p:spTgt spid="185"/>
                                        </p:tgtEl>
                                      </p:cBhvr>
                                    </p:animEffect>
                                  </p:childTnLst>
                                </p:cTn>
                              </p:par>
                              <p:par>
                                <p:cTn id="553" presetID="10" presetClass="entr" presetSubtype="0" fill="hold" grpId="0" nodeType="withEffect">
                                  <p:stCondLst>
                                    <p:cond delay="0"/>
                                  </p:stCondLst>
                                  <p:childTnLst>
                                    <p:set>
                                      <p:cBhvr>
                                        <p:cTn id="554" dur="1" fill="hold">
                                          <p:stCondLst>
                                            <p:cond delay="0"/>
                                          </p:stCondLst>
                                        </p:cTn>
                                        <p:tgtEl>
                                          <p:spTgt spid="186"/>
                                        </p:tgtEl>
                                        <p:attrNameLst>
                                          <p:attrName>style.visibility</p:attrName>
                                        </p:attrNameLst>
                                      </p:cBhvr>
                                      <p:to>
                                        <p:strVal val="visible"/>
                                      </p:to>
                                    </p:set>
                                    <p:animEffect transition="in" filter="fade">
                                      <p:cBhvr>
                                        <p:cTn id="555" dur="500"/>
                                        <p:tgtEl>
                                          <p:spTgt spid="186"/>
                                        </p:tgtEl>
                                      </p:cBhvr>
                                    </p:animEffect>
                                  </p:childTnLst>
                                </p:cTn>
                              </p:par>
                              <p:par>
                                <p:cTn id="556" presetID="10" presetClass="entr" presetSubtype="0" fill="hold" grpId="0" nodeType="withEffect">
                                  <p:stCondLst>
                                    <p:cond delay="0"/>
                                  </p:stCondLst>
                                  <p:childTnLst>
                                    <p:set>
                                      <p:cBhvr>
                                        <p:cTn id="557" dur="1" fill="hold">
                                          <p:stCondLst>
                                            <p:cond delay="0"/>
                                          </p:stCondLst>
                                        </p:cTn>
                                        <p:tgtEl>
                                          <p:spTgt spid="187"/>
                                        </p:tgtEl>
                                        <p:attrNameLst>
                                          <p:attrName>style.visibility</p:attrName>
                                        </p:attrNameLst>
                                      </p:cBhvr>
                                      <p:to>
                                        <p:strVal val="visible"/>
                                      </p:to>
                                    </p:set>
                                    <p:animEffect transition="in" filter="fade">
                                      <p:cBhvr>
                                        <p:cTn id="558" dur="500"/>
                                        <p:tgtEl>
                                          <p:spTgt spid="187"/>
                                        </p:tgtEl>
                                      </p:cBhvr>
                                    </p:animEffect>
                                  </p:childTnLst>
                                </p:cTn>
                              </p:par>
                              <p:par>
                                <p:cTn id="559" presetID="10" presetClass="entr" presetSubtype="0" fill="hold" grpId="0" nodeType="withEffect">
                                  <p:stCondLst>
                                    <p:cond delay="0"/>
                                  </p:stCondLst>
                                  <p:childTnLst>
                                    <p:set>
                                      <p:cBhvr>
                                        <p:cTn id="560" dur="1" fill="hold">
                                          <p:stCondLst>
                                            <p:cond delay="0"/>
                                          </p:stCondLst>
                                        </p:cTn>
                                        <p:tgtEl>
                                          <p:spTgt spid="188"/>
                                        </p:tgtEl>
                                        <p:attrNameLst>
                                          <p:attrName>style.visibility</p:attrName>
                                        </p:attrNameLst>
                                      </p:cBhvr>
                                      <p:to>
                                        <p:strVal val="visible"/>
                                      </p:to>
                                    </p:set>
                                    <p:animEffect transition="in" filter="fade">
                                      <p:cBhvr>
                                        <p:cTn id="561" dur="500"/>
                                        <p:tgtEl>
                                          <p:spTgt spid="188"/>
                                        </p:tgtEl>
                                      </p:cBhvr>
                                    </p:animEffect>
                                  </p:childTnLst>
                                </p:cTn>
                              </p:par>
                              <p:par>
                                <p:cTn id="562" presetID="10" presetClass="entr" presetSubtype="0" fill="hold" grpId="0" nodeType="withEffect">
                                  <p:stCondLst>
                                    <p:cond delay="0"/>
                                  </p:stCondLst>
                                  <p:childTnLst>
                                    <p:set>
                                      <p:cBhvr>
                                        <p:cTn id="563" dur="1" fill="hold">
                                          <p:stCondLst>
                                            <p:cond delay="0"/>
                                          </p:stCondLst>
                                        </p:cTn>
                                        <p:tgtEl>
                                          <p:spTgt spid="189"/>
                                        </p:tgtEl>
                                        <p:attrNameLst>
                                          <p:attrName>style.visibility</p:attrName>
                                        </p:attrNameLst>
                                      </p:cBhvr>
                                      <p:to>
                                        <p:strVal val="visible"/>
                                      </p:to>
                                    </p:set>
                                    <p:animEffect transition="in" filter="fade">
                                      <p:cBhvr>
                                        <p:cTn id="564" dur="500"/>
                                        <p:tgtEl>
                                          <p:spTgt spid="189"/>
                                        </p:tgtEl>
                                      </p:cBhvr>
                                    </p:animEffect>
                                  </p:childTnLst>
                                </p:cTn>
                              </p:par>
                              <p:par>
                                <p:cTn id="565" presetID="10" presetClass="entr" presetSubtype="0" fill="hold" grpId="0" nodeType="withEffect">
                                  <p:stCondLst>
                                    <p:cond delay="0"/>
                                  </p:stCondLst>
                                  <p:childTnLst>
                                    <p:set>
                                      <p:cBhvr>
                                        <p:cTn id="566" dur="1" fill="hold">
                                          <p:stCondLst>
                                            <p:cond delay="0"/>
                                          </p:stCondLst>
                                        </p:cTn>
                                        <p:tgtEl>
                                          <p:spTgt spid="190"/>
                                        </p:tgtEl>
                                        <p:attrNameLst>
                                          <p:attrName>style.visibility</p:attrName>
                                        </p:attrNameLst>
                                      </p:cBhvr>
                                      <p:to>
                                        <p:strVal val="visible"/>
                                      </p:to>
                                    </p:set>
                                    <p:animEffect transition="in" filter="fade">
                                      <p:cBhvr>
                                        <p:cTn id="567" dur="500"/>
                                        <p:tgtEl>
                                          <p:spTgt spid="190"/>
                                        </p:tgtEl>
                                      </p:cBhvr>
                                    </p:animEffect>
                                  </p:childTnLst>
                                </p:cTn>
                              </p:par>
                              <p:par>
                                <p:cTn id="568" presetID="10" presetClass="entr" presetSubtype="0" fill="hold" grpId="0" nodeType="withEffect">
                                  <p:stCondLst>
                                    <p:cond delay="0"/>
                                  </p:stCondLst>
                                  <p:childTnLst>
                                    <p:set>
                                      <p:cBhvr>
                                        <p:cTn id="569" dur="1" fill="hold">
                                          <p:stCondLst>
                                            <p:cond delay="0"/>
                                          </p:stCondLst>
                                        </p:cTn>
                                        <p:tgtEl>
                                          <p:spTgt spid="191"/>
                                        </p:tgtEl>
                                        <p:attrNameLst>
                                          <p:attrName>style.visibility</p:attrName>
                                        </p:attrNameLst>
                                      </p:cBhvr>
                                      <p:to>
                                        <p:strVal val="visible"/>
                                      </p:to>
                                    </p:set>
                                    <p:animEffect transition="in" filter="fade">
                                      <p:cBhvr>
                                        <p:cTn id="570" dur="500"/>
                                        <p:tgtEl>
                                          <p:spTgt spid="191"/>
                                        </p:tgtEl>
                                      </p:cBhvr>
                                    </p:animEffect>
                                  </p:childTnLst>
                                </p:cTn>
                              </p:par>
                              <p:par>
                                <p:cTn id="571" presetID="10" presetClass="entr" presetSubtype="0" fill="hold" grpId="0" nodeType="withEffect">
                                  <p:stCondLst>
                                    <p:cond delay="0"/>
                                  </p:stCondLst>
                                  <p:childTnLst>
                                    <p:set>
                                      <p:cBhvr>
                                        <p:cTn id="572" dur="1" fill="hold">
                                          <p:stCondLst>
                                            <p:cond delay="0"/>
                                          </p:stCondLst>
                                        </p:cTn>
                                        <p:tgtEl>
                                          <p:spTgt spid="192"/>
                                        </p:tgtEl>
                                        <p:attrNameLst>
                                          <p:attrName>style.visibility</p:attrName>
                                        </p:attrNameLst>
                                      </p:cBhvr>
                                      <p:to>
                                        <p:strVal val="visible"/>
                                      </p:to>
                                    </p:set>
                                    <p:animEffect transition="in" filter="fade">
                                      <p:cBhvr>
                                        <p:cTn id="573" dur="500"/>
                                        <p:tgtEl>
                                          <p:spTgt spid="192"/>
                                        </p:tgtEl>
                                      </p:cBhvr>
                                    </p:animEffect>
                                  </p:childTnLst>
                                </p:cTn>
                              </p:par>
                              <p:par>
                                <p:cTn id="574" presetID="10" presetClass="entr" presetSubtype="0" fill="hold" grpId="0" nodeType="withEffect">
                                  <p:stCondLst>
                                    <p:cond delay="0"/>
                                  </p:stCondLst>
                                  <p:childTnLst>
                                    <p:set>
                                      <p:cBhvr>
                                        <p:cTn id="575" dur="1" fill="hold">
                                          <p:stCondLst>
                                            <p:cond delay="0"/>
                                          </p:stCondLst>
                                        </p:cTn>
                                        <p:tgtEl>
                                          <p:spTgt spid="193"/>
                                        </p:tgtEl>
                                        <p:attrNameLst>
                                          <p:attrName>style.visibility</p:attrName>
                                        </p:attrNameLst>
                                      </p:cBhvr>
                                      <p:to>
                                        <p:strVal val="visible"/>
                                      </p:to>
                                    </p:set>
                                    <p:animEffect transition="in" filter="fade">
                                      <p:cBhvr>
                                        <p:cTn id="576" dur="500"/>
                                        <p:tgtEl>
                                          <p:spTgt spid="193"/>
                                        </p:tgtEl>
                                      </p:cBhvr>
                                    </p:animEffect>
                                  </p:childTnLst>
                                </p:cTn>
                              </p:par>
                              <p:par>
                                <p:cTn id="577" presetID="10" presetClass="entr" presetSubtype="0" fill="hold" grpId="0" nodeType="withEffect">
                                  <p:stCondLst>
                                    <p:cond delay="0"/>
                                  </p:stCondLst>
                                  <p:childTnLst>
                                    <p:set>
                                      <p:cBhvr>
                                        <p:cTn id="578" dur="1" fill="hold">
                                          <p:stCondLst>
                                            <p:cond delay="0"/>
                                          </p:stCondLst>
                                        </p:cTn>
                                        <p:tgtEl>
                                          <p:spTgt spid="194"/>
                                        </p:tgtEl>
                                        <p:attrNameLst>
                                          <p:attrName>style.visibility</p:attrName>
                                        </p:attrNameLst>
                                      </p:cBhvr>
                                      <p:to>
                                        <p:strVal val="visible"/>
                                      </p:to>
                                    </p:set>
                                    <p:animEffect transition="in" filter="fade">
                                      <p:cBhvr>
                                        <p:cTn id="579" dur="500"/>
                                        <p:tgtEl>
                                          <p:spTgt spid="194"/>
                                        </p:tgtEl>
                                      </p:cBhvr>
                                    </p:animEffect>
                                  </p:childTnLst>
                                </p:cTn>
                              </p:par>
                              <p:par>
                                <p:cTn id="580" presetID="10" presetClass="entr" presetSubtype="0" fill="hold" grpId="0" nodeType="withEffect">
                                  <p:stCondLst>
                                    <p:cond delay="0"/>
                                  </p:stCondLst>
                                  <p:childTnLst>
                                    <p:set>
                                      <p:cBhvr>
                                        <p:cTn id="581" dur="1" fill="hold">
                                          <p:stCondLst>
                                            <p:cond delay="0"/>
                                          </p:stCondLst>
                                        </p:cTn>
                                        <p:tgtEl>
                                          <p:spTgt spid="195"/>
                                        </p:tgtEl>
                                        <p:attrNameLst>
                                          <p:attrName>style.visibility</p:attrName>
                                        </p:attrNameLst>
                                      </p:cBhvr>
                                      <p:to>
                                        <p:strVal val="visible"/>
                                      </p:to>
                                    </p:set>
                                    <p:animEffect transition="in" filter="fade">
                                      <p:cBhvr>
                                        <p:cTn id="582" dur="500"/>
                                        <p:tgtEl>
                                          <p:spTgt spid="195"/>
                                        </p:tgtEl>
                                      </p:cBhvr>
                                    </p:animEffect>
                                  </p:childTnLst>
                                </p:cTn>
                              </p:par>
                              <p:par>
                                <p:cTn id="583" presetID="10" presetClass="entr" presetSubtype="0" fill="hold" grpId="0" nodeType="withEffect">
                                  <p:stCondLst>
                                    <p:cond delay="0"/>
                                  </p:stCondLst>
                                  <p:childTnLst>
                                    <p:set>
                                      <p:cBhvr>
                                        <p:cTn id="584" dur="1" fill="hold">
                                          <p:stCondLst>
                                            <p:cond delay="0"/>
                                          </p:stCondLst>
                                        </p:cTn>
                                        <p:tgtEl>
                                          <p:spTgt spid="196"/>
                                        </p:tgtEl>
                                        <p:attrNameLst>
                                          <p:attrName>style.visibility</p:attrName>
                                        </p:attrNameLst>
                                      </p:cBhvr>
                                      <p:to>
                                        <p:strVal val="visible"/>
                                      </p:to>
                                    </p:set>
                                    <p:animEffect transition="in" filter="fade">
                                      <p:cBhvr>
                                        <p:cTn id="585" dur="500"/>
                                        <p:tgtEl>
                                          <p:spTgt spid="196"/>
                                        </p:tgtEl>
                                      </p:cBhvr>
                                    </p:animEffect>
                                  </p:childTnLst>
                                </p:cTn>
                              </p:par>
                              <p:par>
                                <p:cTn id="586" presetID="10" presetClass="entr" presetSubtype="0" fill="hold" grpId="0" nodeType="withEffect">
                                  <p:stCondLst>
                                    <p:cond delay="0"/>
                                  </p:stCondLst>
                                  <p:childTnLst>
                                    <p:set>
                                      <p:cBhvr>
                                        <p:cTn id="587" dur="1" fill="hold">
                                          <p:stCondLst>
                                            <p:cond delay="0"/>
                                          </p:stCondLst>
                                        </p:cTn>
                                        <p:tgtEl>
                                          <p:spTgt spid="197"/>
                                        </p:tgtEl>
                                        <p:attrNameLst>
                                          <p:attrName>style.visibility</p:attrName>
                                        </p:attrNameLst>
                                      </p:cBhvr>
                                      <p:to>
                                        <p:strVal val="visible"/>
                                      </p:to>
                                    </p:set>
                                    <p:animEffect transition="in" filter="fade">
                                      <p:cBhvr>
                                        <p:cTn id="588" dur="500"/>
                                        <p:tgtEl>
                                          <p:spTgt spid="197"/>
                                        </p:tgtEl>
                                      </p:cBhvr>
                                    </p:animEffect>
                                  </p:childTnLst>
                                </p:cTn>
                              </p:par>
                              <p:par>
                                <p:cTn id="589" presetID="10" presetClass="entr" presetSubtype="0" fill="hold" grpId="0" nodeType="withEffect">
                                  <p:stCondLst>
                                    <p:cond delay="0"/>
                                  </p:stCondLst>
                                  <p:childTnLst>
                                    <p:set>
                                      <p:cBhvr>
                                        <p:cTn id="590" dur="1" fill="hold">
                                          <p:stCondLst>
                                            <p:cond delay="0"/>
                                          </p:stCondLst>
                                        </p:cTn>
                                        <p:tgtEl>
                                          <p:spTgt spid="198"/>
                                        </p:tgtEl>
                                        <p:attrNameLst>
                                          <p:attrName>style.visibility</p:attrName>
                                        </p:attrNameLst>
                                      </p:cBhvr>
                                      <p:to>
                                        <p:strVal val="visible"/>
                                      </p:to>
                                    </p:set>
                                    <p:animEffect transition="in" filter="fade">
                                      <p:cBhvr>
                                        <p:cTn id="591" dur="500"/>
                                        <p:tgtEl>
                                          <p:spTgt spid="198"/>
                                        </p:tgtEl>
                                      </p:cBhvr>
                                    </p:animEffect>
                                  </p:childTnLst>
                                </p:cTn>
                              </p:par>
                              <p:par>
                                <p:cTn id="592" presetID="10" presetClass="entr" presetSubtype="0" fill="hold" grpId="0" nodeType="withEffect">
                                  <p:stCondLst>
                                    <p:cond delay="0"/>
                                  </p:stCondLst>
                                  <p:childTnLst>
                                    <p:set>
                                      <p:cBhvr>
                                        <p:cTn id="593" dur="1" fill="hold">
                                          <p:stCondLst>
                                            <p:cond delay="0"/>
                                          </p:stCondLst>
                                        </p:cTn>
                                        <p:tgtEl>
                                          <p:spTgt spid="199"/>
                                        </p:tgtEl>
                                        <p:attrNameLst>
                                          <p:attrName>style.visibility</p:attrName>
                                        </p:attrNameLst>
                                      </p:cBhvr>
                                      <p:to>
                                        <p:strVal val="visible"/>
                                      </p:to>
                                    </p:set>
                                    <p:animEffect transition="in" filter="fade">
                                      <p:cBhvr>
                                        <p:cTn id="594" dur="500"/>
                                        <p:tgtEl>
                                          <p:spTgt spid="199"/>
                                        </p:tgtEl>
                                      </p:cBhvr>
                                    </p:animEffect>
                                  </p:childTnLst>
                                </p:cTn>
                              </p:par>
                              <p:par>
                                <p:cTn id="595" presetID="10" presetClass="entr" presetSubtype="0" fill="hold" grpId="0" nodeType="withEffect">
                                  <p:stCondLst>
                                    <p:cond delay="0"/>
                                  </p:stCondLst>
                                  <p:childTnLst>
                                    <p:set>
                                      <p:cBhvr>
                                        <p:cTn id="596" dur="1" fill="hold">
                                          <p:stCondLst>
                                            <p:cond delay="0"/>
                                          </p:stCondLst>
                                        </p:cTn>
                                        <p:tgtEl>
                                          <p:spTgt spid="200"/>
                                        </p:tgtEl>
                                        <p:attrNameLst>
                                          <p:attrName>style.visibility</p:attrName>
                                        </p:attrNameLst>
                                      </p:cBhvr>
                                      <p:to>
                                        <p:strVal val="visible"/>
                                      </p:to>
                                    </p:set>
                                    <p:animEffect transition="in" filter="fade">
                                      <p:cBhvr>
                                        <p:cTn id="597" dur="500"/>
                                        <p:tgtEl>
                                          <p:spTgt spid="200"/>
                                        </p:tgtEl>
                                      </p:cBhvr>
                                    </p:animEffect>
                                  </p:childTnLst>
                                </p:cTn>
                              </p:par>
                              <p:par>
                                <p:cTn id="598" presetID="10" presetClass="entr" presetSubtype="0" fill="hold" grpId="0" nodeType="withEffect">
                                  <p:stCondLst>
                                    <p:cond delay="0"/>
                                  </p:stCondLst>
                                  <p:childTnLst>
                                    <p:set>
                                      <p:cBhvr>
                                        <p:cTn id="599" dur="1" fill="hold">
                                          <p:stCondLst>
                                            <p:cond delay="0"/>
                                          </p:stCondLst>
                                        </p:cTn>
                                        <p:tgtEl>
                                          <p:spTgt spid="201"/>
                                        </p:tgtEl>
                                        <p:attrNameLst>
                                          <p:attrName>style.visibility</p:attrName>
                                        </p:attrNameLst>
                                      </p:cBhvr>
                                      <p:to>
                                        <p:strVal val="visible"/>
                                      </p:to>
                                    </p:set>
                                    <p:animEffect transition="in" filter="fade">
                                      <p:cBhvr>
                                        <p:cTn id="600" dur="500"/>
                                        <p:tgtEl>
                                          <p:spTgt spid="201"/>
                                        </p:tgtEl>
                                      </p:cBhvr>
                                    </p:animEffect>
                                  </p:childTnLst>
                                </p:cTn>
                              </p:par>
                              <p:par>
                                <p:cTn id="601" presetID="10" presetClass="entr" presetSubtype="0" fill="hold" grpId="0" nodeType="withEffect">
                                  <p:stCondLst>
                                    <p:cond delay="0"/>
                                  </p:stCondLst>
                                  <p:childTnLst>
                                    <p:set>
                                      <p:cBhvr>
                                        <p:cTn id="602" dur="1" fill="hold">
                                          <p:stCondLst>
                                            <p:cond delay="0"/>
                                          </p:stCondLst>
                                        </p:cTn>
                                        <p:tgtEl>
                                          <p:spTgt spid="202"/>
                                        </p:tgtEl>
                                        <p:attrNameLst>
                                          <p:attrName>style.visibility</p:attrName>
                                        </p:attrNameLst>
                                      </p:cBhvr>
                                      <p:to>
                                        <p:strVal val="visible"/>
                                      </p:to>
                                    </p:set>
                                    <p:animEffect transition="in" filter="fade">
                                      <p:cBhvr>
                                        <p:cTn id="603" dur="500"/>
                                        <p:tgtEl>
                                          <p:spTgt spid="202"/>
                                        </p:tgtEl>
                                      </p:cBhvr>
                                    </p:animEffect>
                                  </p:childTnLst>
                                </p:cTn>
                              </p:par>
                              <p:par>
                                <p:cTn id="604" presetID="10" presetClass="entr" presetSubtype="0" fill="hold" grpId="0" nodeType="withEffect">
                                  <p:stCondLst>
                                    <p:cond delay="0"/>
                                  </p:stCondLst>
                                  <p:childTnLst>
                                    <p:set>
                                      <p:cBhvr>
                                        <p:cTn id="605" dur="1" fill="hold">
                                          <p:stCondLst>
                                            <p:cond delay="0"/>
                                          </p:stCondLst>
                                        </p:cTn>
                                        <p:tgtEl>
                                          <p:spTgt spid="203"/>
                                        </p:tgtEl>
                                        <p:attrNameLst>
                                          <p:attrName>style.visibility</p:attrName>
                                        </p:attrNameLst>
                                      </p:cBhvr>
                                      <p:to>
                                        <p:strVal val="visible"/>
                                      </p:to>
                                    </p:set>
                                    <p:animEffect transition="in" filter="fade">
                                      <p:cBhvr>
                                        <p:cTn id="606" dur="500"/>
                                        <p:tgtEl>
                                          <p:spTgt spid="203"/>
                                        </p:tgtEl>
                                      </p:cBhvr>
                                    </p:animEffect>
                                  </p:childTnLst>
                                </p:cTn>
                              </p:par>
                              <p:par>
                                <p:cTn id="607" presetID="10" presetClass="entr" presetSubtype="0" fill="hold" grpId="0" nodeType="withEffect">
                                  <p:stCondLst>
                                    <p:cond delay="0"/>
                                  </p:stCondLst>
                                  <p:childTnLst>
                                    <p:set>
                                      <p:cBhvr>
                                        <p:cTn id="608" dur="1" fill="hold">
                                          <p:stCondLst>
                                            <p:cond delay="0"/>
                                          </p:stCondLst>
                                        </p:cTn>
                                        <p:tgtEl>
                                          <p:spTgt spid="204"/>
                                        </p:tgtEl>
                                        <p:attrNameLst>
                                          <p:attrName>style.visibility</p:attrName>
                                        </p:attrNameLst>
                                      </p:cBhvr>
                                      <p:to>
                                        <p:strVal val="visible"/>
                                      </p:to>
                                    </p:set>
                                    <p:animEffect transition="in" filter="fade">
                                      <p:cBhvr>
                                        <p:cTn id="609" dur="500"/>
                                        <p:tgtEl>
                                          <p:spTgt spid="204"/>
                                        </p:tgtEl>
                                      </p:cBhvr>
                                    </p:animEffect>
                                  </p:childTnLst>
                                </p:cTn>
                              </p:par>
                              <p:par>
                                <p:cTn id="610" presetID="10" presetClass="entr" presetSubtype="0" fill="hold" grpId="0" nodeType="withEffect">
                                  <p:stCondLst>
                                    <p:cond delay="0"/>
                                  </p:stCondLst>
                                  <p:childTnLst>
                                    <p:set>
                                      <p:cBhvr>
                                        <p:cTn id="611" dur="1" fill="hold">
                                          <p:stCondLst>
                                            <p:cond delay="0"/>
                                          </p:stCondLst>
                                        </p:cTn>
                                        <p:tgtEl>
                                          <p:spTgt spid="205"/>
                                        </p:tgtEl>
                                        <p:attrNameLst>
                                          <p:attrName>style.visibility</p:attrName>
                                        </p:attrNameLst>
                                      </p:cBhvr>
                                      <p:to>
                                        <p:strVal val="visible"/>
                                      </p:to>
                                    </p:set>
                                    <p:animEffect transition="in" filter="fade">
                                      <p:cBhvr>
                                        <p:cTn id="612" dur="500"/>
                                        <p:tgtEl>
                                          <p:spTgt spid="205"/>
                                        </p:tgtEl>
                                      </p:cBhvr>
                                    </p:animEffect>
                                  </p:childTnLst>
                                </p:cTn>
                              </p:par>
                              <p:par>
                                <p:cTn id="613" presetID="10" presetClass="entr" presetSubtype="0" fill="hold" grpId="0" nodeType="withEffect">
                                  <p:stCondLst>
                                    <p:cond delay="0"/>
                                  </p:stCondLst>
                                  <p:childTnLst>
                                    <p:set>
                                      <p:cBhvr>
                                        <p:cTn id="614" dur="1" fill="hold">
                                          <p:stCondLst>
                                            <p:cond delay="0"/>
                                          </p:stCondLst>
                                        </p:cTn>
                                        <p:tgtEl>
                                          <p:spTgt spid="206"/>
                                        </p:tgtEl>
                                        <p:attrNameLst>
                                          <p:attrName>style.visibility</p:attrName>
                                        </p:attrNameLst>
                                      </p:cBhvr>
                                      <p:to>
                                        <p:strVal val="visible"/>
                                      </p:to>
                                    </p:set>
                                    <p:animEffect transition="in" filter="fade">
                                      <p:cBhvr>
                                        <p:cTn id="615" dur="500"/>
                                        <p:tgtEl>
                                          <p:spTgt spid="206"/>
                                        </p:tgtEl>
                                      </p:cBhvr>
                                    </p:animEffect>
                                  </p:childTnLst>
                                </p:cTn>
                              </p:par>
                              <p:par>
                                <p:cTn id="616" presetID="10" presetClass="entr" presetSubtype="0" fill="hold" grpId="0" nodeType="withEffect">
                                  <p:stCondLst>
                                    <p:cond delay="0"/>
                                  </p:stCondLst>
                                  <p:childTnLst>
                                    <p:set>
                                      <p:cBhvr>
                                        <p:cTn id="617" dur="1" fill="hold">
                                          <p:stCondLst>
                                            <p:cond delay="0"/>
                                          </p:stCondLst>
                                        </p:cTn>
                                        <p:tgtEl>
                                          <p:spTgt spid="207"/>
                                        </p:tgtEl>
                                        <p:attrNameLst>
                                          <p:attrName>style.visibility</p:attrName>
                                        </p:attrNameLst>
                                      </p:cBhvr>
                                      <p:to>
                                        <p:strVal val="visible"/>
                                      </p:to>
                                    </p:set>
                                    <p:animEffect transition="in" filter="fade">
                                      <p:cBhvr>
                                        <p:cTn id="618" dur="500"/>
                                        <p:tgtEl>
                                          <p:spTgt spid="207"/>
                                        </p:tgtEl>
                                      </p:cBhvr>
                                    </p:animEffect>
                                  </p:childTnLst>
                                </p:cTn>
                              </p:par>
                              <p:par>
                                <p:cTn id="619" presetID="10" presetClass="entr" presetSubtype="0" fill="hold" grpId="0" nodeType="withEffect">
                                  <p:stCondLst>
                                    <p:cond delay="0"/>
                                  </p:stCondLst>
                                  <p:childTnLst>
                                    <p:set>
                                      <p:cBhvr>
                                        <p:cTn id="620" dur="1" fill="hold">
                                          <p:stCondLst>
                                            <p:cond delay="0"/>
                                          </p:stCondLst>
                                        </p:cTn>
                                        <p:tgtEl>
                                          <p:spTgt spid="208"/>
                                        </p:tgtEl>
                                        <p:attrNameLst>
                                          <p:attrName>style.visibility</p:attrName>
                                        </p:attrNameLst>
                                      </p:cBhvr>
                                      <p:to>
                                        <p:strVal val="visible"/>
                                      </p:to>
                                    </p:set>
                                    <p:animEffect transition="in" filter="fade">
                                      <p:cBhvr>
                                        <p:cTn id="621" dur="500"/>
                                        <p:tgtEl>
                                          <p:spTgt spid="208"/>
                                        </p:tgtEl>
                                      </p:cBhvr>
                                    </p:animEffect>
                                  </p:childTnLst>
                                </p:cTn>
                              </p:par>
                              <p:par>
                                <p:cTn id="622" presetID="10" presetClass="entr" presetSubtype="0" fill="hold" grpId="0" nodeType="withEffect">
                                  <p:stCondLst>
                                    <p:cond delay="0"/>
                                  </p:stCondLst>
                                  <p:childTnLst>
                                    <p:set>
                                      <p:cBhvr>
                                        <p:cTn id="623" dur="1" fill="hold">
                                          <p:stCondLst>
                                            <p:cond delay="0"/>
                                          </p:stCondLst>
                                        </p:cTn>
                                        <p:tgtEl>
                                          <p:spTgt spid="209"/>
                                        </p:tgtEl>
                                        <p:attrNameLst>
                                          <p:attrName>style.visibility</p:attrName>
                                        </p:attrNameLst>
                                      </p:cBhvr>
                                      <p:to>
                                        <p:strVal val="visible"/>
                                      </p:to>
                                    </p:set>
                                    <p:animEffect transition="in" filter="fade">
                                      <p:cBhvr>
                                        <p:cTn id="624" dur="500"/>
                                        <p:tgtEl>
                                          <p:spTgt spid="209"/>
                                        </p:tgtEl>
                                      </p:cBhvr>
                                    </p:animEffect>
                                  </p:childTnLst>
                                </p:cTn>
                              </p:par>
                              <p:par>
                                <p:cTn id="625" presetID="10" presetClass="entr" presetSubtype="0" fill="hold" grpId="0" nodeType="withEffect">
                                  <p:stCondLst>
                                    <p:cond delay="0"/>
                                  </p:stCondLst>
                                  <p:childTnLst>
                                    <p:set>
                                      <p:cBhvr>
                                        <p:cTn id="626" dur="1" fill="hold">
                                          <p:stCondLst>
                                            <p:cond delay="0"/>
                                          </p:stCondLst>
                                        </p:cTn>
                                        <p:tgtEl>
                                          <p:spTgt spid="210"/>
                                        </p:tgtEl>
                                        <p:attrNameLst>
                                          <p:attrName>style.visibility</p:attrName>
                                        </p:attrNameLst>
                                      </p:cBhvr>
                                      <p:to>
                                        <p:strVal val="visible"/>
                                      </p:to>
                                    </p:set>
                                    <p:animEffect transition="in" filter="fade">
                                      <p:cBhvr>
                                        <p:cTn id="627" dur="500"/>
                                        <p:tgtEl>
                                          <p:spTgt spid="210"/>
                                        </p:tgtEl>
                                      </p:cBhvr>
                                    </p:animEffect>
                                  </p:childTnLst>
                                </p:cTn>
                              </p:par>
                              <p:par>
                                <p:cTn id="628" presetID="10" presetClass="entr" presetSubtype="0" fill="hold" grpId="0" nodeType="withEffect">
                                  <p:stCondLst>
                                    <p:cond delay="0"/>
                                  </p:stCondLst>
                                  <p:childTnLst>
                                    <p:set>
                                      <p:cBhvr>
                                        <p:cTn id="629" dur="1" fill="hold">
                                          <p:stCondLst>
                                            <p:cond delay="0"/>
                                          </p:stCondLst>
                                        </p:cTn>
                                        <p:tgtEl>
                                          <p:spTgt spid="211"/>
                                        </p:tgtEl>
                                        <p:attrNameLst>
                                          <p:attrName>style.visibility</p:attrName>
                                        </p:attrNameLst>
                                      </p:cBhvr>
                                      <p:to>
                                        <p:strVal val="visible"/>
                                      </p:to>
                                    </p:set>
                                    <p:animEffect transition="in" filter="fade">
                                      <p:cBhvr>
                                        <p:cTn id="630" dur="500"/>
                                        <p:tgtEl>
                                          <p:spTgt spid="211"/>
                                        </p:tgtEl>
                                      </p:cBhvr>
                                    </p:animEffect>
                                  </p:childTnLst>
                                </p:cTn>
                              </p:par>
                              <p:par>
                                <p:cTn id="631" presetID="10" presetClass="entr" presetSubtype="0" fill="hold" grpId="0" nodeType="withEffect">
                                  <p:stCondLst>
                                    <p:cond delay="0"/>
                                  </p:stCondLst>
                                  <p:childTnLst>
                                    <p:set>
                                      <p:cBhvr>
                                        <p:cTn id="632" dur="1" fill="hold">
                                          <p:stCondLst>
                                            <p:cond delay="0"/>
                                          </p:stCondLst>
                                        </p:cTn>
                                        <p:tgtEl>
                                          <p:spTgt spid="212"/>
                                        </p:tgtEl>
                                        <p:attrNameLst>
                                          <p:attrName>style.visibility</p:attrName>
                                        </p:attrNameLst>
                                      </p:cBhvr>
                                      <p:to>
                                        <p:strVal val="visible"/>
                                      </p:to>
                                    </p:set>
                                    <p:animEffect transition="in" filter="fade">
                                      <p:cBhvr>
                                        <p:cTn id="633" dur="500"/>
                                        <p:tgtEl>
                                          <p:spTgt spid="212"/>
                                        </p:tgtEl>
                                      </p:cBhvr>
                                    </p:animEffect>
                                  </p:childTnLst>
                                </p:cTn>
                              </p:par>
                              <p:par>
                                <p:cTn id="634" presetID="10" presetClass="entr" presetSubtype="0" fill="hold" grpId="0" nodeType="withEffect">
                                  <p:stCondLst>
                                    <p:cond delay="0"/>
                                  </p:stCondLst>
                                  <p:childTnLst>
                                    <p:set>
                                      <p:cBhvr>
                                        <p:cTn id="635" dur="1" fill="hold">
                                          <p:stCondLst>
                                            <p:cond delay="0"/>
                                          </p:stCondLst>
                                        </p:cTn>
                                        <p:tgtEl>
                                          <p:spTgt spid="213"/>
                                        </p:tgtEl>
                                        <p:attrNameLst>
                                          <p:attrName>style.visibility</p:attrName>
                                        </p:attrNameLst>
                                      </p:cBhvr>
                                      <p:to>
                                        <p:strVal val="visible"/>
                                      </p:to>
                                    </p:set>
                                    <p:animEffect transition="in" filter="fade">
                                      <p:cBhvr>
                                        <p:cTn id="636" dur="500"/>
                                        <p:tgtEl>
                                          <p:spTgt spid="213"/>
                                        </p:tgtEl>
                                      </p:cBhvr>
                                    </p:animEffect>
                                  </p:childTnLst>
                                </p:cTn>
                              </p:par>
                              <p:par>
                                <p:cTn id="637" presetID="10" presetClass="entr" presetSubtype="0" fill="hold" grpId="0" nodeType="withEffect">
                                  <p:stCondLst>
                                    <p:cond delay="0"/>
                                  </p:stCondLst>
                                  <p:childTnLst>
                                    <p:set>
                                      <p:cBhvr>
                                        <p:cTn id="638" dur="1" fill="hold">
                                          <p:stCondLst>
                                            <p:cond delay="0"/>
                                          </p:stCondLst>
                                        </p:cTn>
                                        <p:tgtEl>
                                          <p:spTgt spid="214"/>
                                        </p:tgtEl>
                                        <p:attrNameLst>
                                          <p:attrName>style.visibility</p:attrName>
                                        </p:attrNameLst>
                                      </p:cBhvr>
                                      <p:to>
                                        <p:strVal val="visible"/>
                                      </p:to>
                                    </p:set>
                                    <p:animEffect transition="in" filter="fade">
                                      <p:cBhvr>
                                        <p:cTn id="639" dur="500"/>
                                        <p:tgtEl>
                                          <p:spTgt spid="214"/>
                                        </p:tgtEl>
                                      </p:cBhvr>
                                    </p:animEffect>
                                  </p:childTnLst>
                                </p:cTn>
                              </p:par>
                              <p:par>
                                <p:cTn id="640" presetID="10" presetClass="entr" presetSubtype="0" fill="hold" grpId="0" nodeType="withEffect">
                                  <p:stCondLst>
                                    <p:cond delay="0"/>
                                  </p:stCondLst>
                                  <p:childTnLst>
                                    <p:set>
                                      <p:cBhvr>
                                        <p:cTn id="641" dur="1" fill="hold">
                                          <p:stCondLst>
                                            <p:cond delay="0"/>
                                          </p:stCondLst>
                                        </p:cTn>
                                        <p:tgtEl>
                                          <p:spTgt spid="215"/>
                                        </p:tgtEl>
                                        <p:attrNameLst>
                                          <p:attrName>style.visibility</p:attrName>
                                        </p:attrNameLst>
                                      </p:cBhvr>
                                      <p:to>
                                        <p:strVal val="visible"/>
                                      </p:to>
                                    </p:set>
                                    <p:animEffect transition="in" filter="fade">
                                      <p:cBhvr>
                                        <p:cTn id="642" dur="500"/>
                                        <p:tgtEl>
                                          <p:spTgt spid="215"/>
                                        </p:tgtEl>
                                      </p:cBhvr>
                                    </p:animEffect>
                                  </p:childTnLst>
                                </p:cTn>
                              </p:par>
                              <p:par>
                                <p:cTn id="643" presetID="10" presetClass="entr" presetSubtype="0" fill="hold" grpId="0" nodeType="withEffect">
                                  <p:stCondLst>
                                    <p:cond delay="0"/>
                                  </p:stCondLst>
                                  <p:childTnLst>
                                    <p:set>
                                      <p:cBhvr>
                                        <p:cTn id="644" dur="1" fill="hold">
                                          <p:stCondLst>
                                            <p:cond delay="0"/>
                                          </p:stCondLst>
                                        </p:cTn>
                                        <p:tgtEl>
                                          <p:spTgt spid="216"/>
                                        </p:tgtEl>
                                        <p:attrNameLst>
                                          <p:attrName>style.visibility</p:attrName>
                                        </p:attrNameLst>
                                      </p:cBhvr>
                                      <p:to>
                                        <p:strVal val="visible"/>
                                      </p:to>
                                    </p:set>
                                    <p:animEffect transition="in" filter="fade">
                                      <p:cBhvr>
                                        <p:cTn id="645" dur="500"/>
                                        <p:tgtEl>
                                          <p:spTgt spid="216"/>
                                        </p:tgtEl>
                                      </p:cBhvr>
                                    </p:animEffect>
                                  </p:childTnLst>
                                </p:cTn>
                              </p:par>
                              <p:par>
                                <p:cTn id="646" presetID="10" presetClass="entr" presetSubtype="0" fill="hold" grpId="0" nodeType="withEffect">
                                  <p:stCondLst>
                                    <p:cond delay="0"/>
                                  </p:stCondLst>
                                  <p:childTnLst>
                                    <p:set>
                                      <p:cBhvr>
                                        <p:cTn id="647" dur="1" fill="hold">
                                          <p:stCondLst>
                                            <p:cond delay="0"/>
                                          </p:stCondLst>
                                        </p:cTn>
                                        <p:tgtEl>
                                          <p:spTgt spid="217"/>
                                        </p:tgtEl>
                                        <p:attrNameLst>
                                          <p:attrName>style.visibility</p:attrName>
                                        </p:attrNameLst>
                                      </p:cBhvr>
                                      <p:to>
                                        <p:strVal val="visible"/>
                                      </p:to>
                                    </p:set>
                                    <p:animEffect transition="in" filter="fade">
                                      <p:cBhvr>
                                        <p:cTn id="648" dur="500"/>
                                        <p:tgtEl>
                                          <p:spTgt spid="217"/>
                                        </p:tgtEl>
                                      </p:cBhvr>
                                    </p:animEffect>
                                  </p:childTnLst>
                                </p:cTn>
                              </p:par>
                              <p:par>
                                <p:cTn id="649" presetID="10" presetClass="entr" presetSubtype="0" fill="hold" grpId="0" nodeType="withEffect">
                                  <p:stCondLst>
                                    <p:cond delay="0"/>
                                  </p:stCondLst>
                                  <p:childTnLst>
                                    <p:set>
                                      <p:cBhvr>
                                        <p:cTn id="650" dur="1" fill="hold">
                                          <p:stCondLst>
                                            <p:cond delay="0"/>
                                          </p:stCondLst>
                                        </p:cTn>
                                        <p:tgtEl>
                                          <p:spTgt spid="218"/>
                                        </p:tgtEl>
                                        <p:attrNameLst>
                                          <p:attrName>style.visibility</p:attrName>
                                        </p:attrNameLst>
                                      </p:cBhvr>
                                      <p:to>
                                        <p:strVal val="visible"/>
                                      </p:to>
                                    </p:set>
                                    <p:animEffect transition="in" filter="fade">
                                      <p:cBhvr>
                                        <p:cTn id="651" dur="500"/>
                                        <p:tgtEl>
                                          <p:spTgt spid="218"/>
                                        </p:tgtEl>
                                      </p:cBhvr>
                                    </p:animEffect>
                                  </p:childTnLst>
                                </p:cTn>
                              </p:par>
                              <p:par>
                                <p:cTn id="652" presetID="10" presetClass="entr" presetSubtype="0" fill="hold" grpId="0" nodeType="withEffect">
                                  <p:stCondLst>
                                    <p:cond delay="0"/>
                                  </p:stCondLst>
                                  <p:childTnLst>
                                    <p:set>
                                      <p:cBhvr>
                                        <p:cTn id="653" dur="1" fill="hold">
                                          <p:stCondLst>
                                            <p:cond delay="0"/>
                                          </p:stCondLst>
                                        </p:cTn>
                                        <p:tgtEl>
                                          <p:spTgt spid="219"/>
                                        </p:tgtEl>
                                        <p:attrNameLst>
                                          <p:attrName>style.visibility</p:attrName>
                                        </p:attrNameLst>
                                      </p:cBhvr>
                                      <p:to>
                                        <p:strVal val="visible"/>
                                      </p:to>
                                    </p:set>
                                    <p:animEffect transition="in" filter="fade">
                                      <p:cBhvr>
                                        <p:cTn id="654" dur="500"/>
                                        <p:tgtEl>
                                          <p:spTgt spid="219"/>
                                        </p:tgtEl>
                                      </p:cBhvr>
                                    </p:animEffect>
                                  </p:childTnLst>
                                </p:cTn>
                              </p:par>
                              <p:par>
                                <p:cTn id="655" presetID="10" presetClass="entr" presetSubtype="0" fill="hold" grpId="0" nodeType="withEffect">
                                  <p:stCondLst>
                                    <p:cond delay="0"/>
                                  </p:stCondLst>
                                  <p:childTnLst>
                                    <p:set>
                                      <p:cBhvr>
                                        <p:cTn id="656" dur="1" fill="hold">
                                          <p:stCondLst>
                                            <p:cond delay="0"/>
                                          </p:stCondLst>
                                        </p:cTn>
                                        <p:tgtEl>
                                          <p:spTgt spid="220"/>
                                        </p:tgtEl>
                                        <p:attrNameLst>
                                          <p:attrName>style.visibility</p:attrName>
                                        </p:attrNameLst>
                                      </p:cBhvr>
                                      <p:to>
                                        <p:strVal val="visible"/>
                                      </p:to>
                                    </p:set>
                                    <p:animEffect transition="in" filter="fade">
                                      <p:cBhvr>
                                        <p:cTn id="657" dur="500"/>
                                        <p:tgtEl>
                                          <p:spTgt spid="220"/>
                                        </p:tgtEl>
                                      </p:cBhvr>
                                    </p:animEffect>
                                  </p:childTnLst>
                                </p:cTn>
                              </p:par>
                              <p:par>
                                <p:cTn id="658" presetID="10" presetClass="entr" presetSubtype="0" fill="hold" grpId="0" nodeType="withEffect">
                                  <p:stCondLst>
                                    <p:cond delay="0"/>
                                  </p:stCondLst>
                                  <p:childTnLst>
                                    <p:set>
                                      <p:cBhvr>
                                        <p:cTn id="659" dur="1" fill="hold">
                                          <p:stCondLst>
                                            <p:cond delay="0"/>
                                          </p:stCondLst>
                                        </p:cTn>
                                        <p:tgtEl>
                                          <p:spTgt spid="221"/>
                                        </p:tgtEl>
                                        <p:attrNameLst>
                                          <p:attrName>style.visibility</p:attrName>
                                        </p:attrNameLst>
                                      </p:cBhvr>
                                      <p:to>
                                        <p:strVal val="visible"/>
                                      </p:to>
                                    </p:set>
                                    <p:animEffect transition="in" filter="fade">
                                      <p:cBhvr>
                                        <p:cTn id="660" dur="500"/>
                                        <p:tgtEl>
                                          <p:spTgt spid="221"/>
                                        </p:tgtEl>
                                      </p:cBhvr>
                                    </p:animEffect>
                                  </p:childTnLst>
                                </p:cTn>
                              </p:par>
                              <p:par>
                                <p:cTn id="661" presetID="10" presetClass="entr" presetSubtype="0" fill="hold" grpId="0" nodeType="withEffect">
                                  <p:stCondLst>
                                    <p:cond delay="0"/>
                                  </p:stCondLst>
                                  <p:childTnLst>
                                    <p:set>
                                      <p:cBhvr>
                                        <p:cTn id="662" dur="1" fill="hold">
                                          <p:stCondLst>
                                            <p:cond delay="0"/>
                                          </p:stCondLst>
                                        </p:cTn>
                                        <p:tgtEl>
                                          <p:spTgt spid="222"/>
                                        </p:tgtEl>
                                        <p:attrNameLst>
                                          <p:attrName>style.visibility</p:attrName>
                                        </p:attrNameLst>
                                      </p:cBhvr>
                                      <p:to>
                                        <p:strVal val="visible"/>
                                      </p:to>
                                    </p:set>
                                    <p:animEffect transition="in" filter="fade">
                                      <p:cBhvr>
                                        <p:cTn id="663" dur="500"/>
                                        <p:tgtEl>
                                          <p:spTgt spid="222"/>
                                        </p:tgtEl>
                                      </p:cBhvr>
                                    </p:animEffect>
                                  </p:childTnLst>
                                </p:cTn>
                              </p:par>
                              <p:par>
                                <p:cTn id="664" presetID="10" presetClass="entr" presetSubtype="0" fill="hold" grpId="0" nodeType="withEffect">
                                  <p:stCondLst>
                                    <p:cond delay="0"/>
                                  </p:stCondLst>
                                  <p:childTnLst>
                                    <p:set>
                                      <p:cBhvr>
                                        <p:cTn id="665" dur="1" fill="hold">
                                          <p:stCondLst>
                                            <p:cond delay="0"/>
                                          </p:stCondLst>
                                        </p:cTn>
                                        <p:tgtEl>
                                          <p:spTgt spid="223"/>
                                        </p:tgtEl>
                                        <p:attrNameLst>
                                          <p:attrName>style.visibility</p:attrName>
                                        </p:attrNameLst>
                                      </p:cBhvr>
                                      <p:to>
                                        <p:strVal val="visible"/>
                                      </p:to>
                                    </p:set>
                                    <p:animEffect transition="in" filter="fade">
                                      <p:cBhvr>
                                        <p:cTn id="666" dur="500"/>
                                        <p:tgtEl>
                                          <p:spTgt spid="223"/>
                                        </p:tgtEl>
                                      </p:cBhvr>
                                    </p:animEffect>
                                  </p:childTnLst>
                                </p:cTn>
                              </p:par>
                              <p:par>
                                <p:cTn id="667" presetID="10" presetClass="entr" presetSubtype="0" fill="hold" grpId="0" nodeType="withEffect">
                                  <p:stCondLst>
                                    <p:cond delay="0"/>
                                  </p:stCondLst>
                                  <p:childTnLst>
                                    <p:set>
                                      <p:cBhvr>
                                        <p:cTn id="668" dur="1" fill="hold">
                                          <p:stCondLst>
                                            <p:cond delay="0"/>
                                          </p:stCondLst>
                                        </p:cTn>
                                        <p:tgtEl>
                                          <p:spTgt spid="224"/>
                                        </p:tgtEl>
                                        <p:attrNameLst>
                                          <p:attrName>style.visibility</p:attrName>
                                        </p:attrNameLst>
                                      </p:cBhvr>
                                      <p:to>
                                        <p:strVal val="visible"/>
                                      </p:to>
                                    </p:set>
                                    <p:animEffect transition="in" filter="fade">
                                      <p:cBhvr>
                                        <p:cTn id="669" dur="500"/>
                                        <p:tgtEl>
                                          <p:spTgt spid="224"/>
                                        </p:tgtEl>
                                      </p:cBhvr>
                                    </p:animEffect>
                                  </p:childTnLst>
                                </p:cTn>
                              </p:par>
                              <p:par>
                                <p:cTn id="670" presetID="10" presetClass="entr" presetSubtype="0" fill="hold" grpId="0" nodeType="withEffect">
                                  <p:stCondLst>
                                    <p:cond delay="0"/>
                                  </p:stCondLst>
                                  <p:childTnLst>
                                    <p:set>
                                      <p:cBhvr>
                                        <p:cTn id="671" dur="1" fill="hold">
                                          <p:stCondLst>
                                            <p:cond delay="0"/>
                                          </p:stCondLst>
                                        </p:cTn>
                                        <p:tgtEl>
                                          <p:spTgt spid="225"/>
                                        </p:tgtEl>
                                        <p:attrNameLst>
                                          <p:attrName>style.visibility</p:attrName>
                                        </p:attrNameLst>
                                      </p:cBhvr>
                                      <p:to>
                                        <p:strVal val="visible"/>
                                      </p:to>
                                    </p:set>
                                    <p:animEffect transition="in" filter="fade">
                                      <p:cBhvr>
                                        <p:cTn id="672" dur="500"/>
                                        <p:tgtEl>
                                          <p:spTgt spid="225"/>
                                        </p:tgtEl>
                                      </p:cBhvr>
                                    </p:animEffect>
                                  </p:childTnLst>
                                </p:cTn>
                              </p:par>
                              <p:par>
                                <p:cTn id="673" presetID="10" presetClass="entr" presetSubtype="0" fill="hold" grpId="0" nodeType="withEffect">
                                  <p:stCondLst>
                                    <p:cond delay="0"/>
                                  </p:stCondLst>
                                  <p:childTnLst>
                                    <p:set>
                                      <p:cBhvr>
                                        <p:cTn id="674" dur="1" fill="hold">
                                          <p:stCondLst>
                                            <p:cond delay="0"/>
                                          </p:stCondLst>
                                        </p:cTn>
                                        <p:tgtEl>
                                          <p:spTgt spid="226"/>
                                        </p:tgtEl>
                                        <p:attrNameLst>
                                          <p:attrName>style.visibility</p:attrName>
                                        </p:attrNameLst>
                                      </p:cBhvr>
                                      <p:to>
                                        <p:strVal val="visible"/>
                                      </p:to>
                                    </p:set>
                                    <p:animEffect transition="in" filter="fade">
                                      <p:cBhvr>
                                        <p:cTn id="675" dur="500"/>
                                        <p:tgtEl>
                                          <p:spTgt spid="226"/>
                                        </p:tgtEl>
                                      </p:cBhvr>
                                    </p:animEffect>
                                  </p:childTnLst>
                                </p:cTn>
                              </p:par>
                              <p:par>
                                <p:cTn id="676" presetID="10" presetClass="entr" presetSubtype="0" fill="hold" grpId="0" nodeType="withEffect">
                                  <p:stCondLst>
                                    <p:cond delay="0"/>
                                  </p:stCondLst>
                                  <p:childTnLst>
                                    <p:set>
                                      <p:cBhvr>
                                        <p:cTn id="677" dur="1" fill="hold">
                                          <p:stCondLst>
                                            <p:cond delay="0"/>
                                          </p:stCondLst>
                                        </p:cTn>
                                        <p:tgtEl>
                                          <p:spTgt spid="227"/>
                                        </p:tgtEl>
                                        <p:attrNameLst>
                                          <p:attrName>style.visibility</p:attrName>
                                        </p:attrNameLst>
                                      </p:cBhvr>
                                      <p:to>
                                        <p:strVal val="visible"/>
                                      </p:to>
                                    </p:set>
                                    <p:animEffect transition="in" filter="fade">
                                      <p:cBhvr>
                                        <p:cTn id="678" dur="500"/>
                                        <p:tgtEl>
                                          <p:spTgt spid="227"/>
                                        </p:tgtEl>
                                      </p:cBhvr>
                                    </p:animEffect>
                                  </p:childTnLst>
                                </p:cTn>
                              </p:par>
                              <p:par>
                                <p:cTn id="679" presetID="10" presetClass="entr" presetSubtype="0" fill="hold" grpId="0" nodeType="withEffect">
                                  <p:stCondLst>
                                    <p:cond delay="0"/>
                                  </p:stCondLst>
                                  <p:childTnLst>
                                    <p:set>
                                      <p:cBhvr>
                                        <p:cTn id="680" dur="1" fill="hold">
                                          <p:stCondLst>
                                            <p:cond delay="0"/>
                                          </p:stCondLst>
                                        </p:cTn>
                                        <p:tgtEl>
                                          <p:spTgt spid="228"/>
                                        </p:tgtEl>
                                        <p:attrNameLst>
                                          <p:attrName>style.visibility</p:attrName>
                                        </p:attrNameLst>
                                      </p:cBhvr>
                                      <p:to>
                                        <p:strVal val="visible"/>
                                      </p:to>
                                    </p:set>
                                    <p:animEffect transition="in" filter="fade">
                                      <p:cBhvr>
                                        <p:cTn id="681" dur="500"/>
                                        <p:tgtEl>
                                          <p:spTgt spid="228"/>
                                        </p:tgtEl>
                                      </p:cBhvr>
                                    </p:animEffect>
                                  </p:childTnLst>
                                </p:cTn>
                              </p:par>
                              <p:par>
                                <p:cTn id="682" presetID="10" presetClass="entr" presetSubtype="0" fill="hold" grpId="0" nodeType="withEffect">
                                  <p:stCondLst>
                                    <p:cond delay="0"/>
                                  </p:stCondLst>
                                  <p:childTnLst>
                                    <p:set>
                                      <p:cBhvr>
                                        <p:cTn id="683" dur="1" fill="hold">
                                          <p:stCondLst>
                                            <p:cond delay="0"/>
                                          </p:stCondLst>
                                        </p:cTn>
                                        <p:tgtEl>
                                          <p:spTgt spid="229"/>
                                        </p:tgtEl>
                                        <p:attrNameLst>
                                          <p:attrName>style.visibility</p:attrName>
                                        </p:attrNameLst>
                                      </p:cBhvr>
                                      <p:to>
                                        <p:strVal val="visible"/>
                                      </p:to>
                                    </p:set>
                                    <p:animEffect transition="in" filter="fade">
                                      <p:cBhvr>
                                        <p:cTn id="684" dur="500"/>
                                        <p:tgtEl>
                                          <p:spTgt spid="229"/>
                                        </p:tgtEl>
                                      </p:cBhvr>
                                    </p:animEffect>
                                  </p:childTnLst>
                                </p:cTn>
                              </p:par>
                              <p:par>
                                <p:cTn id="685" presetID="10" presetClass="entr" presetSubtype="0" fill="hold" grpId="0" nodeType="withEffect">
                                  <p:stCondLst>
                                    <p:cond delay="0"/>
                                  </p:stCondLst>
                                  <p:childTnLst>
                                    <p:set>
                                      <p:cBhvr>
                                        <p:cTn id="686" dur="1" fill="hold">
                                          <p:stCondLst>
                                            <p:cond delay="0"/>
                                          </p:stCondLst>
                                        </p:cTn>
                                        <p:tgtEl>
                                          <p:spTgt spid="230"/>
                                        </p:tgtEl>
                                        <p:attrNameLst>
                                          <p:attrName>style.visibility</p:attrName>
                                        </p:attrNameLst>
                                      </p:cBhvr>
                                      <p:to>
                                        <p:strVal val="visible"/>
                                      </p:to>
                                    </p:set>
                                    <p:animEffect transition="in" filter="fade">
                                      <p:cBhvr>
                                        <p:cTn id="687" dur="500"/>
                                        <p:tgtEl>
                                          <p:spTgt spid="230"/>
                                        </p:tgtEl>
                                      </p:cBhvr>
                                    </p:animEffect>
                                  </p:childTnLst>
                                </p:cTn>
                              </p:par>
                              <p:par>
                                <p:cTn id="688" presetID="10" presetClass="entr" presetSubtype="0" fill="hold" grpId="0" nodeType="withEffect">
                                  <p:stCondLst>
                                    <p:cond delay="0"/>
                                  </p:stCondLst>
                                  <p:childTnLst>
                                    <p:set>
                                      <p:cBhvr>
                                        <p:cTn id="689" dur="1" fill="hold">
                                          <p:stCondLst>
                                            <p:cond delay="0"/>
                                          </p:stCondLst>
                                        </p:cTn>
                                        <p:tgtEl>
                                          <p:spTgt spid="231"/>
                                        </p:tgtEl>
                                        <p:attrNameLst>
                                          <p:attrName>style.visibility</p:attrName>
                                        </p:attrNameLst>
                                      </p:cBhvr>
                                      <p:to>
                                        <p:strVal val="visible"/>
                                      </p:to>
                                    </p:set>
                                    <p:animEffect transition="in" filter="fade">
                                      <p:cBhvr>
                                        <p:cTn id="690" dur="500"/>
                                        <p:tgtEl>
                                          <p:spTgt spid="231"/>
                                        </p:tgtEl>
                                      </p:cBhvr>
                                    </p:animEffect>
                                  </p:childTnLst>
                                </p:cTn>
                              </p:par>
                              <p:par>
                                <p:cTn id="691" presetID="10" presetClass="entr" presetSubtype="0" fill="hold" grpId="0" nodeType="withEffect">
                                  <p:stCondLst>
                                    <p:cond delay="0"/>
                                  </p:stCondLst>
                                  <p:childTnLst>
                                    <p:set>
                                      <p:cBhvr>
                                        <p:cTn id="692" dur="1" fill="hold">
                                          <p:stCondLst>
                                            <p:cond delay="0"/>
                                          </p:stCondLst>
                                        </p:cTn>
                                        <p:tgtEl>
                                          <p:spTgt spid="232"/>
                                        </p:tgtEl>
                                        <p:attrNameLst>
                                          <p:attrName>style.visibility</p:attrName>
                                        </p:attrNameLst>
                                      </p:cBhvr>
                                      <p:to>
                                        <p:strVal val="visible"/>
                                      </p:to>
                                    </p:set>
                                    <p:animEffect transition="in" filter="fade">
                                      <p:cBhvr>
                                        <p:cTn id="693" dur="500"/>
                                        <p:tgtEl>
                                          <p:spTgt spid="232"/>
                                        </p:tgtEl>
                                      </p:cBhvr>
                                    </p:animEffect>
                                  </p:childTnLst>
                                </p:cTn>
                              </p:par>
                              <p:par>
                                <p:cTn id="694" presetID="10" presetClass="entr" presetSubtype="0" fill="hold" grpId="0" nodeType="withEffect">
                                  <p:stCondLst>
                                    <p:cond delay="0"/>
                                  </p:stCondLst>
                                  <p:childTnLst>
                                    <p:set>
                                      <p:cBhvr>
                                        <p:cTn id="695" dur="1" fill="hold">
                                          <p:stCondLst>
                                            <p:cond delay="0"/>
                                          </p:stCondLst>
                                        </p:cTn>
                                        <p:tgtEl>
                                          <p:spTgt spid="233"/>
                                        </p:tgtEl>
                                        <p:attrNameLst>
                                          <p:attrName>style.visibility</p:attrName>
                                        </p:attrNameLst>
                                      </p:cBhvr>
                                      <p:to>
                                        <p:strVal val="visible"/>
                                      </p:to>
                                    </p:set>
                                    <p:animEffect transition="in" filter="fade">
                                      <p:cBhvr>
                                        <p:cTn id="696" dur="500"/>
                                        <p:tgtEl>
                                          <p:spTgt spid="233"/>
                                        </p:tgtEl>
                                      </p:cBhvr>
                                    </p:animEffect>
                                  </p:childTnLst>
                                </p:cTn>
                              </p:par>
                              <p:par>
                                <p:cTn id="697" presetID="10" presetClass="entr" presetSubtype="0" fill="hold" grpId="0" nodeType="withEffect">
                                  <p:stCondLst>
                                    <p:cond delay="0"/>
                                  </p:stCondLst>
                                  <p:childTnLst>
                                    <p:set>
                                      <p:cBhvr>
                                        <p:cTn id="698" dur="1" fill="hold">
                                          <p:stCondLst>
                                            <p:cond delay="0"/>
                                          </p:stCondLst>
                                        </p:cTn>
                                        <p:tgtEl>
                                          <p:spTgt spid="234"/>
                                        </p:tgtEl>
                                        <p:attrNameLst>
                                          <p:attrName>style.visibility</p:attrName>
                                        </p:attrNameLst>
                                      </p:cBhvr>
                                      <p:to>
                                        <p:strVal val="visible"/>
                                      </p:to>
                                    </p:set>
                                    <p:animEffect transition="in" filter="fade">
                                      <p:cBhvr>
                                        <p:cTn id="699" dur="500"/>
                                        <p:tgtEl>
                                          <p:spTgt spid="234"/>
                                        </p:tgtEl>
                                      </p:cBhvr>
                                    </p:animEffect>
                                  </p:childTnLst>
                                </p:cTn>
                              </p:par>
                              <p:par>
                                <p:cTn id="700" presetID="10" presetClass="entr" presetSubtype="0" fill="hold" grpId="0" nodeType="withEffect">
                                  <p:stCondLst>
                                    <p:cond delay="0"/>
                                  </p:stCondLst>
                                  <p:childTnLst>
                                    <p:set>
                                      <p:cBhvr>
                                        <p:cTn id="701" dur="1" fill="hold">
                                          <p:stCondLst>
                                            <p:cond delay="0"/>
                                          </p:stCondLst>
                                        </p:cTn>
                                        <p:tgtEl>
                                          <p:spTgt spid="235"/>
                                        </p:tgtEl>
                                        <p:attrNameLst>
                                          <p:attrName>style.visibility</p:attrName>
                                        </p:attrNameLst>
                                      </p:cBhvr>
                                      <p:to>
                                        <p:strVal val="visible"/>
                                      </p:to>
                                    </p:set>
                                    <p:animEffect transition="in" filter="fade">
                                      <p:cBhvr>
                                        <p:cTn id="702" dur="500"/>
                                        <p:tgtEl>
                                          <p:spTgt spid="235"/>
                                        </p:tgtEl>
                                      </p:cBhvr>
                                    </p:animEffect>
                                  </p:childTnLst>
                                </p:cTn>
                              </p:par>
                              <p:par>
                                <p:cTn id="703" presetID="10" presetClass="entr" presetSubtype="0" fill="hold" grpId="0" nodeType="withEffect">
                                  <p:stCondLst>
                                    <p:cond delay="0"/>
                                  </p:stCondLst>
                                  <p:childTnLst>
                                    <p:set>
                                      <p:cBhvr>
                                        <p:cTn id="704" dur="1" fill="hold">
                                          <p:stCondLst>
                                            <p:cond delay="0"/>
                                          </p:stCondLst>
                                        </p:cTn>
                                        <p:tgtEl>
                                          <p:spTgt spid="236"/>
                                        </p:tgtEl>
                                        <p:attrNameLst>
                                          <p:attrName>style.visibility</p:attrName>
                                        </p:attrNameLst>
                                      </p:cBhvr>
                                      <p:to>
                                        <p:strVal val="visible"/>
                                      </p:to>
                                    </p:set>
                                    <p:animEffect transition="in" filter="fade">
                                      <p:cBhvr>
                                        <p:cTn id="705" dur="500"/>
                                        <p:tgtEl>
                                          <p:spTgt spid="236"/>
                                        </p:tgtEl>
                                      </p:cBhvr>
                                    </p:animEffect>
                                  </p:childTnLst>
                                </p:cTn>
                              </p:par>
                              <p:par>
                                <p:cTn id="706" presetID="10" presetClass="entr" presetSubtype="0" fill="hold" grpId="0" nodeType="withEffect">
                                  <p:stCondLst>
                                    <p:cond delay="0"/>
                                  </p:stCondLst>
                                  <p:childTnLst>
                                    <p:set>
                                      <p:cBhvr>
                                        <p:cTn id="707" dur="1" fill="hold">
                                          <p:stCondLst>
                                            <p:cond delay="0"/>
                                          </p:stCondLst>
                                        </p:cTn>
                                        <p:tgtEl>
                                          <p:spTgt spid="237"/>
                                        </p:tgtEl>
                                        <p:attrNameLst>
                                          <p:attrName>style.visibility</p:attrName>
                                        </p:attrNameLst>
                                      </p:cBhvr>
                                      <p:to>
                                        <p:strVal val="visible"/>
                                      </p:to>
                                    </p:set>
                                    <p:animEffect transition="in" filter="fade">
                                      <p:cBhvr>
                                        <p:cTn id="708" dur="500"/>
                                        <p:tgtEl>
                                          <p:spTgt spid="237"/>
                                        </p:tgtEl>
                                      </p:cBhvr>
                                    </p:animEffect>
                                  </p:childTnLst>
                                </p:cTn>
                              </p:par>
                              <p:par>
                                <p:cTn id="709" presetID="10" presetClass="entr" presetSubtype="0" fill="hold" grpId="0" nodeType="withEffect">
                                  <p:stCondLst>
                                    <p:cond delay="0"/>
                                  </p:stCondLst>
                                  <p:childTnLst>
                                    <p:set>
                                      <p:cBhvr>
                                        <p:cTn id="710" dur="1" fill="hold">
                                          <p:stCondLst>
                                            <p:cond delay="0"/>
                                          </p:stCondLst>
                                        </p:cTn>
                                        <p:tgtEl>
                                          <p:spTgt spid="238"/>
                                        </p:tgtEl>
                                        <p:attrNameLst>
                                          <p:attrName>style.visibility</p:attrName>
                                        </p:attrNameLst>
                                      </p:cBhvr>
                                      <p:to>
                                        <p:strVal val="visible"/>
                                      </p:to>
                                    </p:set>
                                    <p:animEffect transition="in" filter="fade">
                                      <p:cBhvr>
                                        <p:cTn id="711" dur="500"/>
                                        <p:tgtEl>
                                          <p:spTgt spid="238"/>
                                        </p:tgtEl>
                                      </p:cBhvr>
                                    </p:animEffect>
                                  </p:childTnLst>
                                </p:cTn>
                              </p:par>
                              <p:par>
                                <p:cTn id="712" presetID="10" presetClass="entr" presetSubtype="0" fill="hold" grpId="0" nodeType="withEffect">
                                  <p:stCondLst>
                                    <p:cond delay="0"/>
                                  </p:stCondLst>
                                  <p:childTnLst>
                                    <p:set>
                                      <p:cBhvr>
                                        <p:cTn id="713" dur="1" fill="hold">
                                          <p:stCondLst>
                                            <p:cond delay="0"/>
                                          </p:stCondLst>
                                        </p:cTn>
                                        <p:tgtEl>
                                          <p:spTgt spid="239"/>
                                        </p:tgtEl>
                                        <p:attrNameLst>
                                          <p:attrName>style.visibility</p:attrName>
                                        </p:attrNameLst>
                                      </p:cBhvr>
                                      <p:to>
                                        <p:strVal val="visible"/>
                                      </p:to>
                                    </p:set>
                                    <p:animEffect transition="in" filter="fade">
                                      <p:cBhvr>
                                        <p:cTn id="714" dur="500"/>
                                        <p:tgtEl>
                                          <p:spTgt spid="239"/>
                                        </p:tgtEl>
                                      </p:cBhvr>
                                    </p:animEffect>
                                  </p:childTnLst>
                                </p:cTn>
                              </p:par>
                              <p:par>
                                <p:cTn id="715" presetID="10" presetClass="entr" presetSubtype="0" fill="hold" grpId="0" nodeType="withEffect">
                                  <p:stCondLst>
                                    <p:cond delay="0"/>
                                  </p:stCondLst>
                                  <p:childTnLst>
                                    <p:set>
                                      <p:cBhvr>
                                        <p:cTn id="716" dur="1" fill="hold">
                                          <p:stCondLst>
                                            <p:cond delay="0"/>
                                          </p:stCondLst>
                                        </p:cTn>
                                        <p:tgtEl>
                                          <p:spTgt spid="240"/>
                                        </p:tgtEl>
                                        <p:attrNameLst>
                                          <p:attrName>style.visibility</p:attrName>
                                        </p:attrNameLst>
                                      </p:cBhvr>
                                      <p:to>
                                        <p:strVal val="visible"/>
                                      </p:to>
                                    </p:set>
                                    <p:animEffect transition="in" filter="fade">
                                      <p:cBhvr>
                                        <p:cTn id="717" dur="500"/>
                                        <p:tgtEl>
                                          <p:spTgt spid="240"/>
                                        </p:tgtEl>
                                      </p:cBhvr>
                                    </p:animEffect>
                                  </p:childTnLst>
                                </p:cTn>
                              </p:par>
                              <p:par>
                                <p:cTn id="718" presetID="10" presetClass="entr" presetSubtype="0" fill="hold" grpId="0" nodeType="withEffect">
                                  <p:stCondLst>
                                    <p:cond delay="0"/>
                                  </p:stCondLst>
                                  <p:childTnLst>
                                    <p:set>
                                      <p:cBhvr>
                                        <p:cTn id="719" dur="1" fill="hold">
                                          <p:stCondLst>
                                            <p:cond delay="0"/>
                                          </p:stCondLst>
                                        </p:cTn>
                                        <p:tgtEl>
                                          <p:spTgt spid="241"/>
                                        </p:tgtEl>
                                        <p:attrNameLst>
                                          <p:attrName>style.visibility</p:attrName>
                                        </p:attrNameLst>
                                      </p:cBhvr>
                                      <p:to>
                                        <p:strVal val="visible"/>
                                      </p:to>
                                    </p:set>
                                    <p:animEffect transition="in" filter="fade">
                                      <p:cBhvr>
                                        <p:cTn id="720" dur="500"/>
                                        <p:tgtEl>
                                          <p:spTgt spid="241"/>
                                        </p:tgtEl>
                                      </p:cBhvr>
                                    </p:animEffect>
                                  </p:childTnLst>
                                </p:cTn>
                              </p:par>
                              <p:par>
                                <p:cTn id="721" presetID="10" presetClass="entr" presetSubtype="0" fill="hold" grpId="0" nodeType="withEffect">
                                  <p:stCondLst>
                                    <p:cond delay="0"/>
                                  </p:stCondLst>
                                  <p:childTnLst>
                                    <p:set>
                                      <p:cBhvr>
                                        <p:cTn id="722" dur="1" fill="hold">
                                          <p:stCondLst>
                                            <p:cond delay="0"/>
                                          </p:stCondLst>
                                        </p:cTn>
                                        <p:tgtEl>
                                          <p:spTgt spid="242"/>
                                        </p:tgtEl>
                                        <p:attrNameLst>
                                          <p:attrName>style.visibility</p:attrName>
                                        </p:attrNameLst>
                                      </p:cBhvr>
                                      <p:to>
                                        <p:strVal val="visible"/>
                                      </p:to>
                                    </p:set>
                                    <p:animEffect transition="in" filter="fade">
                                      <p:cBhvr>
                                        <p:cTn id="723" dur="500"/>
                                        <p:tgtEl>
                                          <p:spTgt spid="242"/>
                                        </p:tgtEl>
                                      </p:cBhvr>
                                    </p:animEffect>
                                  </p:childTnLst>
                                </p:cTn>
                              </p:par>
                              <p:par>
                                <p:cTn id="724" presetID="10" presetClass="entr" presetSubtype="0" fill="hold" grpId="0" nodeType="withEffect">
                                  <p:stCondLst>
                                    <p:cond delay="0"/>
                                  </p:stCondLst>
                                  <p:childTnLst>
                                    <p:set>
                                      <p:cBhvr>
                                        <p:cTn id="725" dur="1" fill="hold">
                                          <p:stCondLst>
                                            <p:cond delay="0"/>
                                          </p:stCondLst>
                                        </p:cTn>
                                        <p:tgtEl>
                                          <p:spTgt spid="243"/>
                                        </p:tgtEl>
                                        <p:attrNameLst>
                                          <p:attrName>style.visibility</p:attrName>
                                        </p:attrNameLst>
                                      </p:cBhvr>
                                      <p:to>
                                        <p:strVal val="visible"/>
                                      </p:to>
                                    </p:set>
                                    <p:animEffect transition="in" filter="fade">
                                      <p:cBhvr>
                                        <p:cTn id="726" dur="500"/>
                                        <p:tgtEl>
                                          <p:spTgt spid="243"/>
                                        </p:tgtEl>
                                      </p:cBhvr>
                                    </p:animEffect>
                                  </p:childTnLst>
                                </p:cTn>
                              </p:par>
                              <p:par>
                                <p:cTn id="727" presetID="10" presetClass="entr" presetSubtype="0" fill="hold" grpId="0" nodeType="withEffect">
                                  <p:stCondLst>
                                    <p:cond delay="0"/>
                                  </p:stCondLst>
                                  <p:childTnLst>
                                    <p:set>
                                      <p:cBhvr>
                                        <p:cTn id="728" dur="1" fill="hold">
                                          <p:stCondLst>
                                            <p:cond delay="0"/>
                                          </p:stCondLst>
                                        </p:cTn>
                                        <p:tgtEl>
                                          <p:spTgt spid="244"/>
                                        </p:tgtEl>
                                        <p:attrNameLst>
                                          <p:attrName>style.visibility</p:attrName>
                                        </p:attrNameLst>
                                      </p:cBhvr>
                                      <p:to>
                                        <p:strVal val="visible"/>
                                      </p:to>
                                    </p:set>
                                    <p:animEffect transition="in" filter="fade">
                                      <p:cBhvr>
                                        <p:cTn id="729" dur="500"/>
                                        <p:tgtEl>
                                          <p:spTgt spid="244"/>
                                        </p:tgtEl>
                                      </p:cBhvr>
                                    </p:animEffect>
                                  </p:childTnLst>
                                </p:cTn>
                              </p:par>
                              <p:par>
                                <p:cTn id="730" presetID="10" presetClass="entr" presetSubtype="0" fill="hold" grpId="0" nodeType="withEffect">
                                  <p:stCondLst>
                                    <p:cond delay="0"/>
                                  </p:stCondLst>
                                  <p:childTnLst>
                                    <p:set>
                                      <p:cBhvr>
                                        <p:cTn id="731" dur="1" fill="hold">
                                          <p:stCondLst>
                                            <p:cond delay="0"/>
                                          </p:stCondLst>
                                        </p:cTn>
                                        <p:tgtEl>
                                          <p:spTgt spid="245"/>
                                        </p:tgtEl>
                                        <p:attrNameLst>
                                          <p:attrName>style.visibility</p:attrName>
                                        </p:attrNameLst>
                                      </p:cBhvr>
                                      <p:to>
                                        <p:strVal val="visible"/>
                                      </p:to>
                                    </p:set>
                                    <p:animEffect transition="in" filter="fade">
                                      <p:cBhvr>
                                        <p:cTn id="732" dur="500"/>
                                        <p:tgtEl>
                                          <p:spTgt spid="245"/>
                                        </p:tgtEl>
                                      </p:cBhvr>
                                    </p:animEffect>
                                  </p:childTnLst>
                                </p:cTn>
                              </p:par>
                              <p:par>
                                <p:cTn id="733" presetID="10" presetClass="entr" presetSubtype="0" fill="hold" grpId="0" nodeType="withEffect">
                                  <p:stCondLst>
                                    <p:cond delay="0"/>
                                  </p:stCondLst>
                                  <p:childTnLst>
                                    <p:set>
                                      <p:cBhvr>
                                        <p:cTn id="734" dur="1" fill="hold">
                                          <p:stCondLst>
                                            <p:cond delay="0"/>
                                          </p:stCondLst>
                                        </p:cTn>
                                        <p:tgtEl>
                                          <p:spTgt spid="246"/>
                                        </p:tgtEl>
                                        <p:attrNameLst>
                                          <p:attrName>style.visibility</p:attrName>
                                        </p:attrNameLst>
                                      </p:cBhvr>
                                      <p:to>
                                        <p:strVal val="visible"/>
                                      </p:to>
                                    </p:set>
                                    <p:animEffect transition="in" filter="fade">
                                      <p:cBhvr>
                                        <p:cTn id="735" dur="500"/>
                                        <p:tgtEl>
                                          <p:spTgt spid="246"/>
                                        </p:tgtEl>
                                      </p:cBhvr>
                                    </p:animEffect>
                                  </p:childTnLst>
                                </p:cTn>
                              </p:par>
                              <p:par>
                                <p:cTn id="736" presetID="10" presetClass="entr" presetSubtype="0" fill="hold" grpId="0" nodeType="withEffect">
                                  <p:stCondLst>
                                    <p:cond delay="0"/>
                                  </p:stCondLst>
                                  <p:childTnLst>
                                    <p:set>
                                      <p:cBhvr>
                                        <p:cTn id="737" dur="1" fill="hold">
                                          <p:stCondLst>
                                            <p:cond delay="0"/>
                                          </p:stCondLst>
                                        </p:cTn>
                                        <p:tgtEl>
                                          <p:spTgt spid="247"/>
                                        </p:tgtEl>
                                        <p:attrNameLst>
                                          <p:attrName>style.visibility</p:attrName>
                                        </p:attrNameLst>
                                      </p:cBhvr>
                                      <p:to>
                                        <p:strVal val="visible"/>
                                      </p:to>
                                    </p:set>
                                    <p:animEffect transition="in" filter="fade">
                                      <p:cBhvr>
                                        <p:cTn id="738" dur="500"/>
                                        <p:tgtEl>
                                          <p:spTgt spid="247"/>
                                        </p:tgtEl>
                                      </p:cBhvr>
                                    </p:animEffect>
                                  </p:childTnLst>
                                </p:cTn>
                              </p:par>
                              <p:par>
                                <p:cTn id="739" presetID="10" presetClass="entr" presetSubtype="0" fill="hold" grpId="0" nodeType="withEffect">
                                  <p:stCondLst>
                                    <p:cond delay="0"/>
                                  </p:stCondLst>
                                  <p:childTnLst>
                                    <p:set>
                                      <p:cBhvr>
                                        <p:cTn id="740" dur="1" fill="hold">
                                          <p:stCondLst>
                                            <p:cond delay="0"/>
                                          </p:stCondLst>
                                        </p:cTn>
                                        <p:tgtEl>
                                          <p:spTgt spid="248"/>
                                        </p:tgtEl>
                                        <p:attrNameLst>
                                          <p:attrName>style.visibility</p:attrName>
                                        </p:attrNameLst>
                                      </p:cBhvr>
                                      <p:to>
                                        <p:strVal val="visible"/>
                                      </p:to>
                                    </p:set>
                                    <p:animEffect transition="in" filter="fade">
                                      <p:cBhvr>
                                        <p:cTn id="741" dur="500"/>
                                        <p:tgtEl>
                                          <p:spTgt spid="248"/>
                                        </p:tgtEl>
                                      </p:cBhvr>
                                    </p:animEffect>
                                  </p:childTnLst>
                                </p:cTn>
                              </p:par>
                              <p:par>
                                <p:cTn id="742" presetID="10" presetClass="entr" presetSubtype="0" fill="hold" grpId="0" nodeType="withEffect">
                                  <p:stCondLst>
                                    <p:cond delay="0"/>
                                  </p:stCondLst>
                                  <p:childTnLst>
                                    <p:set>
                                      <p:cBhvr>
                                        <p:cTn id="743" dur="1" fill="hold">
                                          <p:stCondLst>
                                            <p:cond delay="0"/>
                                          </p:stCondLst>
                                        </p:cTn>
                                        <p:tgtEl>
                                          <p:spTgt spid="249"/>
                                        </p:tgtEl>
                                        <p:attrNameLst>
                                          <p:attrName>style.visibility</p:attrName>
                                        </p:attrNameLst>
                                      </p:cBhvr>
                                      <p:to>
                                        <p:strVal val="visible"/>
                                      </p:to>
                                    </p:set>
                                    <p:animEffect transition="in" filter="fade">
                                      <p:cBhvr>
                                        <p:cTn id="744" dur="500"/>
                                        <p:tgtEl>
                                          <p:spTgt spid="249"/>
                                        </p:tgtEl>
                                      </p:cBhvr>
                                    </p:animEffect>
                                  </p:childTnLst>
                                </p:cTn>
                              </p:par>
                              <p:par>
                                <p:cTn id="745" presetID="10" presetClass="entr" presetSubtype="0" fill="hold" grpId="0" nodeType="withEffect">
                                  <p:stCondLst>
                                    <p:cond delay="0"/>
                                  </p:stCondLst>
                                  <p:childTnLst>
                                    <p:set>
                                      <p:cBhvr>
                                        <p:cTn id="746" dur="1" fill="hold">
                                          <p:stCondLst>
                                            <p:cond delay="0"/>
                                          </p:stCondLst>
                                        </p:cTn>
                                        <p:tgtEl>
                                          <p:spTgt spid="250"/>
                                        </p:tgtEl>
                                        <p:attrNameLst>
                                          <p:attrName>style.visibility</p:attrName>
                                        </p:attrNameLst>
                                      </p:cBhvr>
                                      <p:to>
                                        <p:strVal val="visible"/>
                                      </p:to>
                                    </p:set>
                                    <p:animEffect transition="in" filter="fade">
                                      <p:cBhvr>
                                        <p:cTn id="747" dur="500"/>
                                        <p:tgtEl>
                                          <p:spTgt spid="250"/>
                                        </p:tgtEl>
                                      </p:cBhvr>
                                    </p:animEffect>
                                  </p:childTnLst>
                                </p:cTn>
                              </p:par>
                              <p:par>
                                <p:cTn id="748" presetID="10" presetClass="entr" presetSubtype="0" fill="hold" grpId="0" nodeType="withEffect">
                                  <p:stCondLst>
                                    <p:cond delay="0"/>
                                  </p:stCondLst>
                                  <p:childTnLst>
                                    <p:set>
                                      <p:cBhvr>
                                        <p:cTn id="749" dur="1" fill="hold">
                                          <p:stCondLst>
                                            <p:cond delay="0"/>
                                          </p:stCondLst>
                                        </p:cTn>
                                        <p:tgtEl>
                                          <p:spTgt spid="251"/>
                                        </p:tgtEl>
                                        <p:attrNameLst>
                                          <p:attrName>style.visibility</p:attrName>
                                        </p:attrNameLst>
                                      </p:cBhvr>
                                      <p:to>
                                        <p:strVal val="visible"/>
                                      </p:to>
                                    </p:set>
                                    <p:animEffect transition="in" filter="fade">
                                      <p:cBhvr>
                                        <p:cTn id="750" dur="500"/>
                                        <p:tgtEl>
                                          <p:spTgt spid="251"/>
                                        </p:tgtEl>
                                      </p:cBhvr>
                                    </p:animEffect>
                                  </p:childTnLst>
                                </p:cTn>
                              </p:par>
                              <p:par>
                                <p:cTn id="751" presetID="10" presetClass="entr" presetSubtype="0" fill="hold" grpId="0" nodeType="withEffect">
                                  <p:stCondLst>
                                    <p:cond delay="0"/>
                                  </p:stCondLst>
                                  <p:childTnLst>
                                    <p:set>
                                      <p:cBhvr>
                                        <p:cTn id="752" dur="1" fill="hold">
                                          <p:stCondLst>
                                            <p:cond delay="0"/>
                                          </p:stCondLst>
                                        </p:cTn>
                                        <p:tgtEl>
                                          <p:spTgt spid="252"/>
                                        </p:tgtEl>
                                        <p:attrNameLst>
                                          <p:attrName>style.visibility</p:attrName>
                                        </p:attrNameLst>
                                      </p:cBhvr>
                                      <p:to>
                                        <p:strVal val="visible"/>
                                      </p:to>
                                    </p:set>
                                    <p:animEffect transition="in" filter="fade">
                                      <p:cBhvr>
                                        <p:cTn id="753" dur="500"/>
                                        <p:tgtEl>
                                          <p:spTgt spid="252"/>
                                        </p:tgtEl>
                                      </p:cBhvr>
                                    </p:animEffect>
                                  </p:childTnLst>
                                </p:cTn>
                              </p:par>
                              <p:par>
                                <p:cTn id="754" presetID="10" presetClass="entr" presetSubtype="0" fill="hold" grpId="0" nodeType="withEffect">
                                  <p:stCondLst>
                                    <p:cond delay="0"/>
                                  </p:stCondLst>
                                  <p:childTnLst>
                                    <p:set>
                                      <p:cBhvr>
                                        <p:cTn id="755" dur="1" fill="hold">
                                          <p:stCondLst>
                                            <p:cond delay="0"/>
                                          </p:stCondLst>
                                        </p:cTn>
                                        <p:tgtEl>
                                          <p:spTgt spid="253"/>
                                        </p:tgtEl>
                                        <p:attrNameLst>
                                          <p:attrName>style.visibility</p:attrName>
                                        </p:attrNameLst>
                                      </p:cBhvr>
                                      <p:to>
                                        <p:strVal val="visible"/>
                                      </p:to>
                                    </p:set>
                                    <p:animEffect transition="in" filter="fade">
                                      <p:cBhvr>
                                        <p:cTn id="756" dur="500"/>
                                        <p:tgtEl>
                                          <p:spTgt spid="253"/>
                                        </p:tgtEl>
                                      </p:cBhvr>
                                    </p:animEffect>
                                  </p:childTnLst>
                                </p:cTn>
                              </p:par>
                              <p:par>
                                <p:cTn id="757" presetID="10" presetClass="entr" presetSubtype="0" fill="hold" grpId="0" nodeType="withEffect">
                                  <p:stCondLst>
                                    <p:cond delay="0"/>
                                  </p:stCondLst>
                                  <p:childTnLst>
                                    <p:set>
                                      <p:cBhvr>
                                        <p:cTn id="758" dur="1" fill="hold">
                                          <p:stCondLst>
                                            <p:cond delay="0"/>
                                          </p:stCondLst>
                                        </p:cTn>
                                        <p:tgtEl>
                                          <p:spTgt spid="254"/>
                                        </p:tgtEl>
                                        <p:attrNameLst>
                                          <p:attrName>style.visibility</p:attrName>
                                        </p:attrNameLst>
                                      </p:cBhvr>
                                      <p:to>
                                        <p:strVal val="visible"/>
                                      </p:to>
                                    </p:set>
                                    <p:animEffect transition="in" filter="fade">
                                      <p:cBhvr>
                                        <p:cTn id="759" dur="500"/>
                                        <p:tgtEl>
                                          <p:spTgt spid="254"/>
                                        </p:tgtEl>
                                      </p:cBhvr>
                                    </p:animEffect>
                                  </p:childTnLst>
                                </p:cTn>
                              </p:par>
                              <p:par>
                                <p:cTn id="760" presetID="10" presetClass="entr" presetSubtype="0" fill="hold" grpId="0" nodeType="withEffect">
                                  <p:stCondLst>
                                    <p:cond delay="0"/>
                                  </p:stCondLst>
                                  <p:childTnLst>
                                    <p:set>
                                      <p:cBhvr>
                                        <p:cTn id="761" dur="1" fill="hold">
                                          <p:stCondLst>
                                            <p:cond delay="0"/>
                                          </p:stCondLst>
                                        </p:cTn>
                                        <p:tgtEl>
                                          <p:spTgt spid="255"/>
                                        </p:tgtEl>
                                        <p:attrNameLst>
                                          <p:attrName>style.visibility</p:attrName>
                                        </p:attrNameLst>
                                      </p:cBhvr>
                                      <p:to>
                                        <p:strVal val="visible"/>
                                      </p:to>
                                    </p:set>
                                    <p:animEffect transition="in" filter="fade">
                                      <p:cBhvr>
                                        <p:cTn id="762" dur="500"/>
                                        <p:tgtEl>
                                          <p:spTgt spid="255"/>
                                        </p:tgtEl>
                                      </p:cBhvr>
                                    </p:animEffect>
                                  </p:childTnLst>
                                </p:cTn>
                              </p:par>
                              <p:par>
                                <p:cTn id="763" presetID="10" presetClass="entr" presetSubtype="0" fill="hold" grpId="0" nodeType="withEffect">
                                  <p:stCondLst>
                                    <p:cond delay="0"/>
                                  </p:stCondLst>
                                  <p:childTnLst>
                                    <p:set>
                                      <p:cBhvr>
                                        <p:cTn id="764" dur="1" fill="hold">
                                          <p:stCondLst>
                                            <p:cond delay="0"/>
                                          </p:stCondLst>
                                        </p:cTn>
                                        <p:tgtEl>
                                          <p:spTgt spid="256"/>
                                        </p:tgtEl>
                                        <p:attrNameLst>
                                          <p:attrName>style.visibility</p:attrName>
                                        </p:attrNameLst>
                                      </p:cBhvr>
                                      <p:to>
                                        <p:strVal val="visible"/>
                                      </p:to>
                                    </p:set>
                                    <p:animEffect transition="in" filter="fade">
                                      <p:cBhvr>
                                        <p:cTn id="765" dur="500"/>
                                        <p:tgtEl>
                                          <p:spTgt spid="256"/>
                                        </p:tgtEl>
                                      </p:cBhvr>
                                    </p:animEffect>
                                  </p:childTnLst>
                                </p:cTn>
                              </p:par>
                              <p:par>
                                <p:cTn id="766" presetID="10" presetClass="entr" presetSubtype="0" fill="hold" grpId="0" nodeType="withEffect">
                                  <p:stCondLst>
                                    <p:cond delay="0"/>
                                  </p:stCondLst>
                                  <p:childTnLst>
                                    <p:set>
                                      <p:cBhvr>
                                        <p:cTn id="767" dur="1" fill="hold">
                                          <p:stCondLst>
                                            <p:cond delay="0"/>
                                          </p:stCondLst>
                                        </p:cTn>
                                        <p:tgtEl>
                                          <p:spTgt spid="257"/>
                                        </p:tgtEl>
                                        <p:attrNameLst>
                                          <p:attrName>style.visibility</p:attrName>
                                        </p:attrNameLst>
                                      </p:cBhvr>
                                      <p:to>
                                        <p:strVal val="visible"/>
                                      </p:to>
                                    </p:set>
                                    <p:animEffect transition="in" filter="fade">
                                      <p:cBhvr>
                                        <p:cTn id="768" dur="500"/>
                                        <p:tgtEl>
                                          <p:spTgt spid="257"/>
                                        </p:tgtEl>
                                      </p:cBhvr>
                                    </p:animEffect>
                                  </p:childTnLst>
                                </p:cTn>
                              </p:par>
                              <p:par>
                                <p:cTn id="769" presetID="10" presetClass="entr" presetSubtype="0" fill="hold" grpId="0" nodeType="withEffect">
                                  <p:stCondLst>
                                    <p:cond delay="0"/>
                                  </p:stCondLst>
                                  <p:childTnLst>
                                    <p:set>
                                      <p:cBhvr>
                                        <p:cTn id="770" dur="1" fill="hold">
                                          <p:stCondLst>
                                            <p:cond delay="0"/>
                                          </p:stCondLst>
                                        </p:cTn>
                                        <p:tgtEl>
                                          <p:spTgt spid="258"/>
                                        </p:tgtEl>
                                        <p:attrNameLst>
                                          <p:attrName>style.visibility</p:attrName>
                                        </p:attrNameLst>
                                      </p:cBhvr>
                                      <p:to>
                                        <p:strVal val="visible"/>
                                      </p:to>
                                    </p:set>
                                    <p:animEffect transition="in" filter="fade">
                                      <p:cBhvr>
                                        <p:cTn id="771" dur="500"/>
                                        <p:tgtEl>
                                          <p:spTgt spid="258"/>
                                        </p:tgtEl>
                                      </p:cBhvr>
                                    </p:animEffect>
                                  </p:childTnLst>
                                </p:cTn>
                              </p:par>
                              <p:par>
                                <p:cTn id="772" presetID="10" presetClass="entr" presetSubtype="0" fill="hold" grpId="0" nodeType="withEffect">
                                  <p:stCondLst>
                                    <p:cond delay="0"/>
                                  </p:stCondLst>
                                  <p:childTnLst>
                                    <p:set>
                                      <p:cBhvr>
                                        <p:cTn id="773" dur="1" fill="hold">
                                          <p:stCondLst>
                                            <p:cond delay="0"/>
                                          </p:stCondLst>
                                        </p:cTn>
                                        <p:tgtEl>
                                          <p:spTgt spid="259"/>
                                        </p:tgtEl>
                                        <p:attrNameLst>
                                          <p:attrName>style.visibility</p:attrName>
                                        </p:attrNameLst>
                                      </p:cBhvr>
                                      <p:to>
                                        <p:strVal val="visible"/>
                                      </p:to>
                                    </p:set>
                                    <p:animEffect transition="in" filter="fade">
                                      <p:cBhvr>
                                        <p:cTn id="774" dur="500"/>
                                        <p:tgtEl>
                                          <p:spTgt spid="259"/>
                                        </p:tgtEl>
                                      </p:cBhvr>
                                    </p:animEffect>
                                  </p:childTnLst>
                                </p:cTn>
                              </p:par>
                              <p:par>
                                <p:cTn id="775" presetID="10" presetClass="entr" presetSubtype="0" fill="hold" grpId="0" nodeType="withEffect">
                                  <p:stCondLst>
                                    <p:cond delay="0"/>
                                  </p:stCondLst>
                                  <p:childTnLst>
                                    <p:set>
                                      <p:cBhvr>
                                        <p:cTn id="776" dur="1" fill="hold">
                                          <p:stCondLst>
                                            <p:cond delay="0"/>
                                          </p:stCondLst>
                                        </p:cTn>
                                        <p:tgtEl>
                                          <p:spTgt spid="260"/>
                                        </p:tgtEl>
                                        <p:attrNameLst>
                                          <p:attrName>style.visibility</p:attrName>
                                        </p:attrNameLst>
                                      </p:cBhvr>
                                      <p:to>
                                        <p:strVal val="visible"/>
                                      </p:to>
                                    </p:set>
                                    <p:animEffect transition="in" filter="fade">
                                      <p:cBhvr>
                                        <p:cTn id="777" dur="500"/>
                                        <p:tgtEl>
                                          <p:spTgt spid="260"/>
                                        </p:tgtEl>
                                      </p:cBhvr>
                                    </p:animEffect>
                                  </p:childTnLst>
                                </p:cTn>
                              </p:par>
                              <p:par>
                                <p:cTn id="778" presetID="10" presetClass="entr" presetSubtype="0" fill="hold" grpId="0" nodeType="withEffect">
                                  <p:stCondLst>
                                    <p:cond delay="0"/>
                                  </p:stCondLst>
                                  <p:childTnLst>
                                    <p:set>
                                      <p:cBhvr>
                                        <p:cTn id="779" dur="1" fill="hold">
                                          <p:stCondLst>
                                            <p:cond delay="0"/>
                                          </p:stCondLst>
                                        </p:cTn>
                                        <p:tgtEl>
                                          <p:spTgt spid="261"/>
                                        </p:tgtEl>
                                        <p:attrNameLst>
                                          <p:attrName>style.visibility</p:attrName>
                                        </p:attrNameLst>
                                      </p:cBhvr>
                                      <p:to>
                                        <p:strVal val="visible"/>
                                      </p:to>
                                    </p:set>
                                    <p:animEffect transition="in" filter="fade">
                                      <p:cBhvr>
                                        <p:cTn id="780" dur="500"/>
                                        <p:tgtEl>
                                          <p:spTgt spid="261"/>
                                        </p:tgtEl>
                                      </p:cBhvr>
                                    </p:animEffect>
                                  </p:childTnLst>
                                </p:cTn>
                              </p:par>
                              <p:par>
                                <p:cTn id="781" presetID="10" presetClass="entr" presetSubtype="0" fill="hold" grpId="0" nodeType="withEffect">
                                  <p:stCondLst>
                                    <p:cond delay="0"/>
                                  </p:stCondLst>
                                  <p:childTnLst>
                                    <p:set>
                                      <p:cBhvr>
                                        <p:cTn id="782" dur="1" fill="hold">
                                          <p:stCondLst>
                                            <p:cond delay="0"/>
                                          </p:stCondLst>
                                        </p:cTn>
                                        <p:tgtEl>
                                          <p:spTgt spid="262"/>
                                        </p:tgtEl>
                                        <p:attrNameLst>
                                          <p:attrName>style.visibility</p:attrName>
                                        </p:attrNameLst>
                                      </p:cBhvr>
                                      <p:to>
                                        <p:strVal val="visible"/>
                                      </p:to>
                                    </p:set>
                                    <p:animEffect transition="in" filter="fade">
                                      <p:cBhvr>
                                        <p:cTn id="783" dur="500"/>
                                        <p:tgtEl>
                                          <p:spTgt spid="262"/>
                                        </p:tgtEl>
                                      </p:cBhvr>
                                    </p:animEffect>
                                  </p:childTnLst>
                                </p:cTn>
                              </p:par>
                              <p:par>
                                <p:cTn id="784" presetID="10" presetClass="entr" presetSubtype="0" fill="hold" grpId="0" nodeType="withEffect">
                                  <p:stCondLst>
                                    <p:cond delay="0"/>
                                  </p:stCondLst>
                                  <p:childTnLst>
                                    <p:set>
                                      <p:cBhvr>
                                        <p:cTn id="785" dur="1" fill="hold">
                                          <p:stCondLst>
                                            <p:cond delay="0"/>
                                          </p:stCondLst>
                                        </p:cTn>
                                        <p:tgtEl>
                                          <p:spTgt spid="263"/>
                                        </p:tgtEl>
                                        <p:attrNameLst>
                                          <p:attrName>style.visibility</p:attrName>
                                        </p:attrNameLst>
                                      </p:cBhvr>
                                      <p:to>
                                        <p:strVal val="visible"/>
                                      </p:to>
                                    </p:set>
                                    <p:animEffect transition="in" filter="fade">
                                      <p:cBhvr>
                                        <p:cTn id="786" dur="500"/>
                                        <p:tgtEl>
                                          <p:spTgt spid="263"/>
                                        </p:tgtEl>
                                      </p:cBhvr>
                                    </p:animEffect>
                                  </p:childTnLst>
                                </p:cTn>
                              </p:par>
                              <p:par>
                                <p:cTn id="787" presetID="10" presetClass="entr" presetSubtype="0" fill="hold" grpId="0" nodeType="withEffect">
                                  <p:stCondLst>
                                    <p:cond delay="0"/>
                                  </p:stCondLst>
                                  <p:childTnLst>
                                    <p:set>
                                      <p:cBhvr>
                                        <p:cTn id="788" dur="1" fill="hold">
                                          <p:stCondLst>
                                            <p:cond delay="0"/>
                                          </p:stCondLst>
                                        </p:cTn>
                                        <p:tgtEl>
                                          <p:spTgt spid="264"/>
                                        </p:tgtEl>
                                        <p:attrNameLst>
                                          <p:attrName>style.visibility</p:attrName>
                                        </p:attrNameLst>
                                      </p:cBhvr>
                                      <p:to>
                                        <p:strVal val="visible"/>
                                      </p:to>
                                    </p:set>
                                    <p:animEffect transition="in" filter="fade">
                                      <p:cBhvr>
                                        <p:cTn id="789" dur="500"/>
                                        <p:tgtEl>
                                          <p:spTgt spid="264"/>
                                        </p:tgtEl>
                                      </p:cBhvr>
                                    </p:animEffect>
                                  </p:childTnLst>
                                </p:cTn>
                              </p:par>
                              <p:par>
                                <p:cTn id="790" presetID="10" presetClass="entr" presetSubtype="0" fill="hold" grpId="0" nodeType="withEffect">
                                  <p:stCondLst>
                                    <p:cond delay="0"/>
                                  </p:stCondLst>
                                  <p:childTnLst>
                                    <p:set>
                                      <p:cBhvr>
                                        <p:cTn id="791" dur="1" fill="hold">
                                          <p:stCondLst>
                                            <p:cond delay="0"/>
                                          </p:stCondLst>
                                        </p:cTn>
                                        <p:tgtEl>
                                          <p:spTgt spid="265"/>
                                        </p:tgtEl>
                                        <p:attrNameLst>
                                          <p:attrName>style.visibility</p:attrName>
                                        </p:attrNameLst>
                                      </p:cBhvr>
                                      <p:to>
                                        <p:strVal val="visible"/>
                                      </p:to>
                                    </p:set>
                                    <p:animEffect transition="in" filter="fade">
                                      <p:cBhvr>
                                        <p:cTn id="792" dur="500"/>
                                        <p:tgtEl>
                                          <p:spTgt spid="265"/>
                                        </p:tgtEl>
                                      </p:cBhvr>
                                    </p:animEffect>
                                  </p:childTnLst>
                                </p:cTn>
                              </p:par>
                              <p:par>
                                <p:cTn id="793" presetID="10" presetClass="entr" presetSubtype="0" fill="hold" grpId="0" nodeType="withEffect">
                                  <p:stCondLst>
                                    <p:cond delay="0"/>
                                  </p:stCondLst>
                                  <p:childTnLst>
                                    <p:set>
                                      <p:cBhvr>
                                        <p:cTn id="794" dur="1" fill="hold">
                                          <p:stCondLst>
                                            <p:cond delay="0"/>
                                          </p:stCondLst>
                                        </p:cTn>
                                        <p:tgtEl>
                                          <p:spTgt spid="276"/>
                                        </p:tgtEl>
                                        <p:attrNameLst>
                                          <p:attrName>style.visibility</p:attrName>
                                        </p:attrNameLst>
                                      </p:cBhvr>
                                      <p:to>
                                        <p:strVal val="visible"/>
                                      </p:to>
                                    </p:set>
                                    <p:animEffect transition="in" filter="fade">
                                      <p:cBhvr>
                                        <p:cTn id="795" dur="500"/>
                                        <p:tgtEl>
                                          <p:spTgt spid="276"/>
                                        </p:tgtEl>
                                      </p:cBhvr>
                                    </p:animEffect>
                                  </p:childTnLst>
                                </p:cTn>
                              </p:par>
                            </p:childTnLst>
                          </p:cTn>
                        </p:par>
                      </p:childTnLst>
                    </p:cTn>
                  </p:par>
                  <p:par>
                    <p:cTn id="796" fill="hold">
                      <p:stCondLst>
                        <p:cond delay="indefinite"/>
                      </p:stCondLst>
                      <p:childTnLst>
                        <p:par>
                          <p:cTn id="797" fill="hold">
                            <p:stCondLst>
                              <p:cond delay="0"/>
                            </p:stCondLst>
                            <p:childTnLst>
                              <p:par>
                                <p:cTn id="798" presetID="10" presetClass="entr" presetSubtype="0" fill="hold" grpId="0" nodeType="clickEffect">
                                  <p:stCondLst>
                                    <p:cond delay="0"/>
                                  </p:stCondLst>
                                  <p:childTnLst>
                                    <p:set>
                                      <p:cBhvr>
                                        <p:cTn id="799" dur="1" fill="hold">
                                          <p:stCondLst>
                                            <p:cond delay="0"/>
                                          </p:stCondLst>
                                        </p:cTn>
                                        <p:tgtEl>
                                          <p:spTgt spid="266"/>
                                        </p:tgtEl>
                                        <p:attrNameLst>
                                          <p:attrName>style.visibility</p:attrName>
                                        </p:attrNameLst>
                                      </p:cBhvr>
                                      <p:to>
                                        <p:strVal val="visible"/>
                                      </p:to>
                                    </p:set>
                                    <p:animEffect transition="in" filter="fade">
                                      <p:cBhvr>
                                        <p:cTn id="800" dur="500"/>
                                        <p:tgtEl>
                                          <p:spTgt spid="266"/>
                                        </p:tgtEl>
                                      </p:cBhvr>
                                    </p:animEffect>
                                  </p:childTnLst>
                                </p:cTn>
                              </p:par>
                              <p:par>
                                <p:cTn id="801" presetID="10" presetClass="entr" presetSubtype="0" fill="hold" grpId="0" nodeType="withEffect">
                                  <p:stCondLst>
                                    <p:cond delay="0"/>
                                  </p:stCondLst>
                                  <p:childTnLst>
                                    <p:set>
                                      <p:cBhvr>
                                        <p:cTn id="802" dur="1" fill="hold">
                                          <p:stCondLst>
                                            <p:cond delay="0"/>
                                          </p:stCondLst>
                                        </p:cTn>
                                        <p:tgtEl>
                                          <p:spTgt spid="267"/>
                                        </p:tgtEl>
                                        <p:attrNameLst>
                                          <p:attrName>style.visibility</p:attrName>
                                        </p:attrNameLst>
                                      </p:cBhvr>
                                      <p:to>
                                        <p:strVal val="visible"/>
                                      </p:to>
                                    </p:set>
                                    <p:animEffect transition="in" filter="fade">
                                      <p:cBhvr>
                                        <p:cTn id="803" dur="500"/>
                                        <p:tgtEl>
                                          <p:spTgt spid="267"/>
                                        </p:tgtEl>
                                      </p:cBhvr>
                                    </p:animEffect>
                                  </p:childTnLst>
                                </p:cTn>
                              </p:par>
                              <p:par>
                                <p:cTn id="804" presetID="10" presetClass="entr" presetSubtype="0" fill="hold" grpId="0" nodeType="withEffect">
                                  <p:stCondLst>
                                    <p:cond delay="0"/>
                                  </p:stCondLst>
                                  <p:childTnLst>
                                    <p:set>
                                      <p:cBhvr>
                                        <p:cTn id="805" dur="1" fill="hold">
                                          <p:stCondLst>
                                            <p:cond delay="0"/>
                                          </p:stCondLst>
                                        </p:cTn>
                                        <p:tgtEl>
                                          <p:spTgt spid="268"/>
                                        </p:tgtEl>
                                        <p:attrNameLst>
                                          <p:attrName>style.visibility</p:attrName>
                                        </p:attrNameLst>
                                      </p:cBhvr>
                                      <p:to>
                                        <p:strVal val="visible"/>
                                      </p:to>
                                    </p:set>
                                    <p:animEffect transition="in" filter="fade">
                                      <p:cBhvr>
                                        <p:cTn id="806" dur="500"/>
                                        <p:tgtEl>
                                          <p:spTgt spid="268"/>
                                        </p:tgtEl>
                                      </p:cBhvr>
                                    </p:animEffect>
                                  </p:childTnLst>
                                </p:cTn>
                              </p:par>
                              <p:par>
                                <p:cTn id="807" presetID="10" presetClass="entr" presetSubtype="0" fill="hold" grpId="0" nodeType="withEffect">
                                  <p:stCondLst>
                                    <p:cond delay="0"/>
                                  </p:stCondLst>
                                  <p:childTnLst>
                                    <p:set>
                                      <p:cBhvr>
                                        <p:cTn id="808" dur="1" fill="hold">
                                          <p:stCondLst>
                                            <p:cond delay="0"/>
                                          </p:stCondLst>
                                        </p:cTn>
                                        <p:tgtEl>
                                          <p:spTgt spid="269"/>
                                        </p:tgtEl>
                                        <p:attrNameLst>
                                          <p:attrName>style.visibility</p:attrName>
                                        </p:attrNameLst>
                                      </p:cBhvr>
                                      <p:to>
                                        <p:strVal val="visible"/>
                                      </p:to>
                                    </p:set>
                                    <p:animEffect transition="in" filter="fade">
                                      <p:cBhvr>
                                        <p:cTn id="809" dur="500"/>
                                        <p:tgtEl>
                                          <p:spTgt spid="269"/>
                                        </p:tgtEl>
                                      </p:cBhvr>
                                    </p:animEffect>
                                  </p:childTnLst>
                                </p:cTn>
                              </p:par>
                              <p:par>
                                <p:cTn id="810" presetID="10" presetClass="entr" presetSubtype="0" fill="hold" grpId="0" nodeType="withEffect">
                                  <p:stCondLst>
                                    <p:cond delay="0"/>
                                  </p:stCondLst>
                                  <p:childTnLst>
                                    <p:set>
                                      <p:cBhvr>
                                        <p:cTn id="811" dur="1" fill="hold">
                                          <p:stCondLst>
                                            <p:cond delay="0"/>
                                          </p:stCondLst>
                                        </p:cTn>
                                        <p:tgtEl>
                                          <p:spTgt spid="270"/>
                                        </p:tgtEl>
                                        <p:attrNameLst>
                                          <p:attrName>style.visibility</p:attrName>
                                        </p:attrNameLst>
                                      </p:cBhvr>
                                      <p:to>
                                        <p:strVal val="visible"/>
                                      </p:to>
                                    </p:set>
                                    <p:animEffect transition="in" filter="fade">
                                      <p:cBhvr>
                                        <p:cTn id="812" dur="500"/>
                                        <p:tgtEl>
                                          <p:spTgt spid="270"/>
                                        </p:tgtEl>
                                      </p:cBhvr>
                                    </p:animEffect>
                                  </p:childTnLst>
                                </p:cTn>
                              </p:par>
                              <p:par>
                                <p:cTn id="813" presetID="10" presetClass="entr" presetSubtype="0" fill="hold" grpId="0" nodeType="withEffect">
                                  <p:stCondLst>
                                    <p:cond delay="0"/>
                                  </p:stCondLst>
                                  <p:childTnLst>
                                    <p:set>
                                      <p:cBhvr>
                                        <p:cTn id="814" dur="1" fill="hold">
                                          <p:stCondLst>
                                            <p:cond delay="0"/>
                                          </p:stCondLst>
                                        </p:cTn>
                                        <p:tgtEl>
                                          <p:spTgt spid="271"/>
                                        </p:tgtEl>
                                        <p:attrNameLst>
                                          <p:attrName>style.visibility</p:attrName>
                                        </p:attrNameLst>
                                      </p:cBhvr>
                                      <p:to>
                                        <p:strVal val="visible"/>
                                      </p:to>
                                    </p:set>
                                    <p:animEffect transition="in" filter="fade">
                                      <p:cBhvr>
                                        <p:cTn id="815" dur="500"/>
                                        <p:tgtEl>
                                          <p:spTgt spid="271"/>
                                        </p:tgtEl>
                                      </p:cBhvr>
                                    </p:animEffect>
                                  </p:childTnLst>
                                </p:cTn>
                              </p:par>
                              <p:par>
                                <p:cTn id="816" presetID="10" presetClass="entr" presetSubtype="0" fill="hold" grpId="0" nodeType="withEffect">
                                  <p:stCondLst>
                                    <p:cond delay="0"/>
                                  </p:stCondLst>
                                  <p:childTnLst>
                                    <p:set>
                                      <p:cBhvr>
                                        <p:cTn id="817" dur="1" fill="hold">
                                          <p:stCondLst>
                                            <p:cond delay="0"/>
                                          </p:stCondLst>
                                        </p:cTn>
                                        <p:tgtEl>
                                          <p:spTgt spid="272"/>
                                        </p:tgtEl>
                                        <p:attrNameLst>
                                          <p:attrName>style.visibility</p:attrName>
                                        </p:attrNameLst>
                                      </p:cBhvr>
                                      <p:to>
                                        <p:strVal val="visible"/>
                                      </p:to>
                                    </p:set>
                                    <p:animEffect transition="in" filter="fade">
                                      <p:cBhvr>
                                        <p:cTn id="818" dur="500"/>
                                        <p:tgtEl>
                                          <p:spTgt spid="272"/>
                                        </p:tgtEl>
                                      </p:cBhvr>
                                    </p:animEffect>
                                  </p:childTnLst>
                                </p:cTn>
                              </p:par>
                              <p:par>
                                <p:cTn id="819" presetID="10" presetClass="entr" presetSubtype="0" fill="hold" grpId="0" nodeType="withEffect">
                                  <p:stCondLst>
                                    <p:cond delay="0"/>
                                  </p:stCondLst>
                                  <p:childTnLst>
                                    <p:set>
                                      <p:cBhvr>
                                        <p:cTn id="820" dur="1" fill="hold">
                                          <p:stCondLst>
                                            <p:cond delay="0"/>
                                          </p:stCondLst>
                                        </p:cTn>
                                        <p:tgtEl>
                                          <p:spTgt spid="273"/>
                                        </p:tgtEl>
                                        <p:attrNameLst>
                                          <p:attrName>style.visibility</p:attrName>
                                        </p:attrNameLst>
                                      </p:cBhvr>
                                      <p:to>
                                        <p:strVal val="visible"/>
                                      </p:to>
                                    </p:set>
                                    <p:animEffect transition="in" filter="fade">
                                      <p:cBhvr>
                                        <p:cTn id="821" dur="500"/>
                                        <p:tgtEl>
                                          <p:spTgt spid="273"/>
                                        </p:tgtEl>
                                      </p:cBhvr>
                                    </p:animEffect>
                                  </p:childTnLst>
                                </p:cTn>
                              </p:par>
                              <p:par>
                                <p:cTn id="822" presetID="10" presetClass="entr" presetSubtype="0" fill="hold" grpId="0" nodeType="withEffect">
                                  <p:stCondLst>
                                    <p:cond delay="0"/>
                                  </p:stCondLst>
                                  <p:childTnLst>
                                    <p:set>
                                      <p:cBhvr>
                                        <p:cTn id="823" dur="1" fill="hold">
                                          <p:stCondLst>
                                            <p:cond delay="0"/>
                                          </p:stCondLst>
                                        </p:cTn>
                                        <p:tgtEl>
                                          <p:spTgt spid="274"/>
                                        </p:tgtEl>
                                        <p:attrNameLst>
                                          <p:attrName>style.visibility</p:attrName>
                                        </p:attrNameLst>
                                      </p:cBhvr>
                                      <p:to>
                                        <p:strVal val="visible"/>
                                      </p:to>
                                    </p:set>
                                    <p:animEffect transition="in" filter="fade">
                                      <p:cBhvr>
                                        <p:cTn id="824" dur="500"/>
                                        <p:tgtEl>
                                          <p:spTgt spid="274"/>
                                        </p:tgtEl>
                                      </p:cBhvr>
                                    </p:animEffect>
                                  </p:childTnLst>
                                </p:cTn>
                              </p:par>
                              <p:par>
                                <p:cTn id="825" presetID="10" presetClass="entr" presetSubtype="0" fill="hold" grpId="0" nodeType="withEffect">
                                  <p:stCondLst>
                                    <p:cond delay="0"/>
                                  </p:stCondLst>
                                  <p:childTnLst>
                                    <p:set>
                                      <p:cBhvr>
                                        <p:cTn id="826" dur="1" fill="hold">
                                          <p:stCondLst>
                                            <p:cond delay="0"/>
                                          </p:stCondLst>
                                        </p:cTn>
                                        <p:tgtEl>
                                          <p:spTgt spid="277"/>
                                        </p:tgtEl>
                                        <p:attrNameLst>
                                          <p:attrName>style.visibility</p:attrName>
                                        </p:attrNameLst>
                                      </p:cBhvr>
                                      <p:to>
                                        <p:strVal val="visible"/>
                                      </p:to>
                                    </p:set>
                                    <p:animEffect transition="in" filter="fade">
                                      <p:cBhvr>
                                        <p:cTn id="827" dur="500"/>
                                        <p:tgtEl>
                                          <p:spTgt spid="277"/>
                                        </p:tgtEl>
                                      </p:cBhvr>
                                    </p:animEffect>
                                  </p:childTnLst>
                                </p:cTn>
                              </p:par>
                            </p:childTnLst>
                          </p:cTn>
                        </p:par>
                      </p:childTnLst>
                    </p:cTn>
                  </p:par>
                  <p:par>
                    <p:cTn id="828" fill="hold">
                      <p:stCondLst>
                        <p:cond delay="indefinite"/>
                      </p:stCondLst>
                      <p:childTnLst>
                        <p:par>
                          <p:cTn id="829" fill="hold">
                            <p:stCondLst>
                              <p:cond delay="0"/>
                            </p:stCondLst>
                            <p:childTnLst>
                              <p:par>
                                <p:cTn id="830" presetID="10" presetClass="entr" presetSubtype="0" fill="hold" grpId="0" nodeType="clickEffect">
                                  <p:stCondLst>
                                    <p:cond delay="0"/>
                                  </p:stCondLst>
                                  <p:childTnLst>
                                    <p:set>
                                      <p:cBhvr>
                                        <p:cTn id="831" dur="1" fill="hold">
                                          <p:stCondLst>
                                            <p:cond delay="0"/>
                                          </p:stCondLst>
                                        </p:cTn>
                                        <p:tgtEl>
                                          <p:spTgt spid="278"/>
                                        </p:tgtEl>
                                        <p:attrNameLst>
                                          <p:attrName>style.visibility</p:attrName>
                                        </p:attrNameLst>
                                      </p:cBhvr>
                                      <p:to>
                                        <p:strVal val="visible"/>
                                      </p:to>
                                    </p:set>
                                    <p:animEffect transition="in" filter="fade">
                                      <p:cBhvr>
                                        <p:cTn id="832" dur="500"/>
                                        <p:tgtEl>
                                          <p:spTgt spid="278"/>
                                        </p:tgtEl>
                                      </p:cBhvr>
                                    </p:animEffect>
                                  </p:childTnLst>
                                </p:cTn>
                              </p:par>
                              <p:par>
                                <p:cTn id="833" presetID="10" presetClass="entr" presetSubtype="0" fill="hold" grpId="0" nodeType="withEffect">
                                  <p:stCondLst>
                                    <p:cond delay="0"/>
                                  </p:stCondLst>
                                  <p:childTnLst>
                                    <p:set>
                                      <p:cBhvr>
                                        <p:cTn id="834" dur="1" fill="hold">
                                          <p:stCondLst>
                                            <p:cond delay="0"/>
                                          </p:stCondLst>
                                        </p:cTn>
                                        <p:tgtEl>
                                          <p:spTgt spid="279"/>
                                        </p:tgtEl>
                                        <p:attrNameLst>
                                          <p:attrName>style.visibility</p:attrName>
                                        </p:attrNameLst>
                                      </p:cBhvr>
                                      <p:to>
                                        <p:strVal val="visible"/>
                                      </p:to>
                                    </p:set>
                                    <p:animEffect transition="in" filter="fade">
                                      <p:cBhvr>
                                        <p:cTn id="835" dur="500"/>
                                        <p:tgtEl>
                                          <p:spTgt spid="279"/>
                                        </p:tgtEl>
                                      </p:cBhvr>
                                    </p:animEffect>
                                  </p:childTnLst>
                                </p:cTn>
                              </p:par>
                              <p:par>
                                <p:cTn id="836" presetID="22" presetClass="entr" presetSubtype="8" fill="hold" grpId="0" nodeType="withEffect">
                                  <p:stCondLst>
                                    <p:cond delay="0"/>
                                  </p:stCondLst>
                                  <p:childTnLst>
                                    <p:set>
                                      <p:cBhvr>
                                        <p:cTn id="837" dur="1" fill="hold">
                                          <p:stCondLst>
                                            <p:cond delay="0"/>
                                          </p:stCondLst>
                                        </p:cTn>
                                        <p:tgtEl>
                                          <p:spTgt spid="280"/>
                                        </p:tgtEl>
                                        <p:attrNameLst>
                                          <p:attrName>style.visibility</p:attrName>
                                        </p:attrNameLst>
                                      </p:cBhvr>
                                      <p:to>
                                        <p:strVal val="visible"/>
                                      </p:to>
                                    </p:set>
                                    <p:animEffect transition="in" filter="wipe(left)">
                                      <p:cBhvr>
                                        <p:cTn id="838" dur="800"/>
                                        <p:tgtEl>
                                          <p:spTgt spid="280"/>
                                        </p:tgtEl>
                                      </p:cBhvr>
                                    </p:animEffect>
                                  </p:childTnLst>
                                </p:cTn>
                              </p:par>
                            </p:childTnLst>
                          </p:cTn>
                        </p:par>
                        <p:par>
                          <p:cTn id="839" fill="hold">
                            <p:stCondLst>
                              <p:cond delay="800"/>
                            </p:stCondLst>
                            <p:childTnLst>
                              <p:par>
                                <p:cTn id="840" presetID="10" presetClass="entr" presetSubtype="0" fill="hold" grpId="0" nodeType="afterEffect">
                                  <p:stCondLst>
                                    <p:cond delay="0"/>
                                  </p:stCondLst>
                                  <p:childTnLst>
                                    <p:set>
                                      <p:cBhvr>
                                        <p:cTn id="841" dur="1" fill="hold">
                                          <p:stCondLst>
                                            <p:cond delay="0"/>
                                          </p:stCondLst>
                                        </p:cTn>
                                        <p:tgtEl>
                                          <p:spTgt spid="281"/>
                                        </p:tgtEl>
                                        <p:attrNameLst>
                                          <p:attrName>style.visibility</p:attrName>
                                        </p:attrNameLst>
                                      </p:cBhvr>
                                      <p:to>
                                        <p:strVal val="visible"/>
                                      </p:to>
                                    </p:set>
                                    <p:animEffect transition="in" filter="fade">
                                      <p:cBhvr>
                                        <p:cTn id="842" dur="500"/>
                                        <p:tgtEl>
                                          <p:spTgt spid="281"/>
                                        </p:tgtEl>
                                      </p:cBhvr>
                                    </p:animEffect>
                                  </p:childTnLst>
                                </p:cTn>
                              </p:par>
                              <p:par>
                                <p:cTn id="843" presetID="22" presetClass="entr" presetSubtype="8" fill="hold" grpId="0" nodeType="withEffect">
                                  <p:stCondLst>
                                    <p:cond delay="0"/>
                                  </p:stCondLst>
                                  <p:childTnLst>
                                    <p:set>
                                      <p:cBhvr>
                                        <p:cTn id="844" dur="1" fill="hold">
                                          <p:stCondLst>
                                            <p:cond delay="0"/>
                                          </p:stCondLst>
                                        </p:cTn>
                                        <p:tgtEl>
                                          <p:spTgt spid="282"/>
                                        </p:tgtEl>
                                        <p:attrNameLst>
                                          <p:attrName>style.visibility</p:attrName>
                                        </p:attrNameLst>
                                      </p:cBhvr>
                                      <p:to>
                                        <p:strVal val="visible"/>
                                      </p:to>
                                    </p:set>
                                    <p:animEffect transition="in" filter="wipe(left)">
                                      <p:cBhvr>
                                        <p:cTn id="845" dur="300"/>
                                        <p:tgtEl>
                                          <p:spTgt spid="282"/>
                                        </p:tgtEl>
                                      </p:cBhvr>
                                    </p:animEffect>
                                  </p:childTnLst>
                                </p:cTn>
                              </p:par>
                              <p:par>
                                <p:cTn id="846" presetID="10" presetClass="entr" presetSubtype="0" fill="hold" grpId="0" nodeType="withEffect">
                                  <p:stCondLst>
                                    <p:cond delay="0"/>
                                  </p:stCondLst>
                                  <p:childTnLst>
                                    <p:set>
                                      <p:cBhvr>
                                        <p:cTn id="847" dur="1" fill="hold">
                                          <p:stCondLst>
                                            <p:cond delay="0"/>
                                          </p:stCondLst>
                                        </p:cTn>
                                        <p:tgtEl>
                                          <p:spTgt spid="283"/>
                                        </p:tgtEl>
                                        <p:attrNameLst>
                                          <p:attrName>style.visibility</p:attrName>
                                        </p:attrNameLst>
                                      </p:cBhvr>
                                      <p:to>
                                        <p:strVal val="visible"/>
                                      </p:to>
                                    </p:set>
                                    <p:animEffect transition="in" filter="fade">
                                      <p:cBhvr>
                                        <p:cTn id="848" dur="500"/>
                                        <p:tgtEl>
                                          <p:spTgt spid="2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275"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P spid="70" grpId="0" animBg="1"/>
      <p:bldP spid="71" grpId="0" animBg="1"/>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P spid="102" grpId="0" animBg="1"/>
      <p:bldP spid="103" grpId="0" animBg="1"/>
      <p:bldP spid="104" grpId="0" animBg="1"/>
      <p:bldP spid="105" grpId="0" animBg="1"/>
      <p:bldP spid="106" grpId="0" animBg="1"/>
      <p:bldP spid="107" grpId="0" animBg="1"/>
      <p:bldP spid="108" grpId="0" animBg="1"/>
      <p:bldP spid="109" grpId="0" animBg="1"/>
      <p:bldP spid="110" grpId="0" animBg="1"/>
      <p:bldP spid="111" grpId="0" animBg="1"/>
      <p:bldP spid="112" grpId="0" animBg="1"/>
      <p:bldP spid="113" grpId="0" animBg="1"/>
      <p:bldP spid="114" grpId="0" animBg="1"/>
      <p:bldP spid="115" grpId="0" animBg="1"/>
      <p:bldP spid="116" grpId="0" animBg="1"/>
      <p:bldP spid="117" grpId="0" animBg="1"/>
      <p:bldP spid="118" grpId="0" animBg="1"/>
      <p:bldP spid="119" grpId="0" animBg="1"/>
      <p:bldP spid="120" grpId="0" animBg="1"/>
      <p:bldP spid="121" grpId="0" animBg="1"/>
      <p:bldP spid="122" grpId="0" animBg="1"/>
      <p:bldP spid="123" grpId="0" animBg="1"/>
      <p:bldP spid="124" grpId="0" animBg="1"/>
      <p:bldP spid="125" grpId="0" animBg="1"/>
      <p:bldP spid="126" grpId="0" animBg="1"/>
      <p:bldP spid="127" grpId="0" animBg="1"/>
      <p:bldP spid="128" grpId="0" animBg="1"/>
      <p:bldP spid="129" grpId="0" animBg="1"/>
      <p:bldP spid="130" grpId="0" animBg="1"/>
      <p:bldP spid="131" grpId="0" animBg="1"/>
      <p:bldP spid="132" grpId="0" animBg="1"/>
      <p:bldP spid="133" grpId="0" animBg="1"/>
      <p:bldP spid="134" grpId="0" animBg="1"/>
      <p:bldP spid="135" grpId="0" animBg="1"/>
      <p:bldP spid="136" grpId="0" animBg="1"/>
      <p:bldP spid="137" grpId="0" animBg="1"/>
      <p:bldP spid="138" grpId="0" animBg="1"/>
      <p:bldP spid="139" grpId="0" animBg="1"/>
      <p:bldP spid="140" grpId="0" animBg="1"/>
      <p:bldP spid="141" grpId="0" animBg="1"/>
      <p:bldP spid="142" grpId="0" animBg="1"/>
      <p:bldP spid="143" grpId="0" animBg="1"/>
      <p:bldP spid="144" grpId="0" animBg="1"/>
      <p:bldP spid="145" grpId="0" animBg="1"/>
      <p:bldP spid="146" grpId="0" animBg="1"/>
      <p:bldP spid="147" grpId="0" animBg="1"/>
      <p:bldP spid="148" grpId="0" animBg="1"/>
      <p:bldP spid="149" grpId="0" animBg="1"/>
      <p:bldP spid="150" grpId="0" animBg="1"/>
      <p:bldP spid="151" grpId="0" animBg="1"/>
      <p:bldP spid="152" grpId="0" animBg="1"/>
      <p:bldP spid="153" grpId="0" animBg="1"/>
      <p:bldP spid="154" grpId="0" animBg="1"/>
      <p:bldP spid="155" grpId="0" animBg="1"/>
      <p:bldP spid="156" grpId="0" animBg="1"/>
      <p:bldP spid="157" grpId="0" animBg="1"/>
      <p:bldP spid="158" grpId="0" animBg="1"/>
      <p:bldP spid="159" grpId="0" animBg="1"/>
      <p:bldP spid="160" grpId="0" animBg="1"/>
      <p:bldP spid="161" grpId="0" animBg="1"/>
      <p:bldP spid="162" grpId="0" animBg="1"/>
      <p:bldP spid="163" grpId="0" animBg="1"/>
      <p:bldP spid="164" grpId="0" animBg="1"/>
      <p:bldP spid="165" grpId="0" animBg="1"/>
      <p:bldP spid="166" grpId="0" animBg="1"/>
      <p:bldP spid="167" grpId="0" animBg="1"/>
      <p:bldP spid="168" grpId="0" animBg="1"/>
      <p:bldP spid="169" grpId="0" animBg="1"/>
      <p:bldP spid="170" grpId="0" animBg="1"/>
      <p:bldP spid="171" grpId="0" animBg="1"/>
      <p:bldP spid="172" grpId="0" animBg="1"/>
      <p:bldP spid="173" grpId="0" animBg="1"/>
      <p:bldP spid="174" grpId="0" animBg="1"/>
      <p:bldP spid="175" grpId="0" animBg="1"/>
      <p:bldP spid="176" grpId="0" animBg="1"/>
      <p:bldP spid="177" grpId="0" animBg="1"/>
      <p:bldP spid="178" grpId="0" animBg="1"/>
      <p:bldP spid="179" grpId="0" animBg="1"/>
      <p:bldP spid="180" grpId="0" animBg="1"/>
      <p:bldP spid="181" grpId="0" animBg="1"/>
      <p:bldP spid="182" grpId="0" animBg="1"/>
      <p:bldP spid="183" grpId="0" animBg="1"/>
      <p:bldP spid="184" grpId="0" animBg="1"/>
      <p:bldP spid="185" grpId="0" animBg="1"/>
      <p:bldP spid="186" grpId="0" animBg="1"/>
      <p:bldP spid="187" grpId="0" animBg="1"/>
      <p:bldP spid="188" grpId="0" animBg="1"/>
      <p:bldP spid="189" grpId="0" animBg="1"/>
      <p:bldP spid="190" grpId="0" animBg="1"/>
      <p:bldP spid="191" grpId="0" animBg="1"/>
      <p:bldP spid="192" grpId="0" animBg="1"/>
      <p:bldP spid="193" grpId="0" animBg="1"/>
      <p:bldP spid="194" grpId="0" animBg="1"/>
      <p:bldP spid="195" grpId="0" animBg="1"/>
      <p:bldP spid="196" grpId="0" animBg="1"/>
      <p:bldP spid="197" grpId="0" animBg="1"/>
      <p:bldP spid="198" grpId="0" animBg="1"/>
      <p:bldP spid="199" grpId="0" animBg="1"/>
      <p:bldP spid="200" grpId="0" animBg="1"/>
      <p:bldP spid="201" grpId="0" animBg="1"/>
      <p:bldP spid="202" grpId="0" animBg="1"/>
      <p:bldP spid="203" grpId="0" animBg="1"/>
      <p:bldP spid="204" grpId="0" animBg="1"/>
      <p:bldP spid="205" grpId="0" animBg="1"/>
      <p:bldP spid="206" grpId="0" animBg="1"/>
      <p:bldP spid="207"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19" grpId="0" animBg="1"/>
      <p:bldP spid="220" grpId="0" animBg="1"/>
      <p:bldP spid="221" grpId="0" animBg="1"/>
      <p:bldP spid="222" grpId="0" animBg="1"/>
      <p:bldP spid="223" grpId="0" animBg="1"/>
      <p:bldP spid="224" grpId="0" animBg="1"/>
      <p:bldP spid="225" grpId="0" animBg="1"/>
      <p:bldP spid="226" grpId="0" animBg="1"/>
      <p:bldP spid="227" grpId="0" animBg="1"/>
      <p:bldP spid="228" grpId="0" animBg="1"/>
      <p:bldP spid="229" grpId="0" animBg="1"/>
      <p:bldP spid="230" grpId="0" animBg="1"/>
      <p:bldP spid="231" grpId="0" animBg="1"/>
      <p:bldP spid="232" grpId="0" animBg="1"/>
      <p:bldP spid="233" grpId="0" animBg="1"/>
      <p:bldP spid="234" grpId="0" animBg="1"/>
      <p:bldP spid="235" grpId="0" animBg="1"/>
      <p:bldP spid="236" grpId="0" animBg="1"/>
      <p:bldP spid="237" grpId="0" animBg="1"/>
      <p:bldP spid="238" grpId="0" animBg="1"/>
      <p:bldP spid="239" grpId="0" animBg="1"/>
      <p:bldP spid="240" grpId="0" animBg="1"/>
      <p:bldP spid="241" grpId="0" animBg="1"/>
      <p:bldP spid="242" grpId="0" animBg="1"/>
      <p:bldP spid="243" grpId="0" animBg="1"/>
      <p:bldP spid="244" grpId="0" animBg="1"/>
      <p:bldP spid="245" grpId="0" animBg="1"/>
      <p:bldP spid="246" grpId="0" animBg="1"/>
      <p:bldP spid="247" grpId="0" animBg="1"/>
      <p:bldP spid="248" grpId="0" animBg="1"/>
      <p:bldP spid="249" grpId="0" animBg="1"/>
      <p:bldP spid="250" grpId="0" animBg="1"/>
      <p:bldP spid="251" grpId="0" animBg="1"/>
      <p:bldP spid="252" grpId="0" animBg="1"/>
      <p:bldP spid="253" grpId="0" animBg="1"/>
      <p:bldP spid="254" grpId="0" animBg="1"/>
      <p:bldP spid="255" grpId="0" animBg="1"/>
      <p:bldP spid="256" grpId="0" animBg="1"/>
      <p:bldP spid="257" grpId="0" animBg="1"/>
      <p:bldP spid="258" grpId="0" animBg="1"/>
      <p:bldP spid="259" grpId="0" animBg="1"/>
      <p:bldP spid="260" grpId="0" animBg="1"/>
      <p:bldP spid="261" grpId="0" animBg="1"/>
      <p:bldP spid="262" grpId="0" animBg="1"/>
      <p:bldP spid="263" grpId="0" animBg="1"/>
      <p:bldP spid="264" grpId="0" animBg="1"/>
      <p:bldP spid="265" grpId="0" animBg="1"/>
      <p:bldP spid="276" grpId="0" animBg="1"/>
      <p:bldP spid="266" grpId="0" animBg="1"/>
      <p:bldP spid="267" grpId="0" animBg="1"/>
      <p:bldP spid="268" grpId="0" animBg="1"/>
      <p:bldP spid="269" grpId="0" animBg="1"/>
      <p:bldP spid="270" grpId="0" animBg="1"/>
      <p:bldP spid="271" grpId="0" animBg="1"/>
      <p:bldP spid="272" grpId="0" animBg="1"/>
      <p:bldP spid="273" grpId="0" animBg="1"/>
      <p:bldP spid="274" grpId="0" animBg="1"/>
      <p:bldP spid="277" grpId="0" animBg="1"/>
      <p:bldP spid="278" grpId="0" animBg="1"/>
      <p:bldP spid="279" grpId="0" animBg="1"/>
      <p:bldP spid="280" grpId="0" animBg="1"/>
      <p:bldP spid="281" grpId="0" animBg="1"/>
      <p:bldP spid="282" grpId="0" animBg="1"/>
      <p:bldP spid="28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Why each token costs less</a:t>
            </a:r>
            <a:endParaRPr lang="en-US" sz="2800" dirty="0"/>
          </a:p>
        </p:txBody>
      </p:sp>
      <p:sp>
        <p:nvSpPr>
          <p:cNvPr id="3" name="lev a card"/>
          <p:cNvSpPr/>
          <p:nvPr/>
        </p:nvSpPr>
        <p:spPr>
          <a:xfrm>
            <a:off x="457200" y="1005840"/>
            <a:ext cx="4023360" cy="1508760"/>
          </a:xfrm>
          <a:prstGeom prst="roundRect">
            <a:avLst>
              <a:gd name="adj" fmla="val 4848"/>
            </a:avLst>
          </a:prstGeom>
          <a:solidFill>
            <a:schemeClr val="bg2"/>
          </a:solidFill>
          <a:ln w="12700">
            <a:solidFill>
              <a:schemeClr val="bg2"/>
            </a:solidFill>
            <a:prstDash val="solid"/>
          </a:ln>
        </p:spPr>
      </p:sp>
      <p:sp>
        <p:nvSpPr>
          <p:cNvPr id="4" name="lev a head"/>
          <p:cNvSpPr txBox="1"/>
          <p:nvPr/>
        </p:nvSpPr>
        <p:spPr>
          <a:xfrm>
            <a:off x="640080" y="1115568"/>
            <a:ext cx="3657600" cy="292608"/>
          </a:xfrm>
          <a:prstGeom prst="rect">
            <a:avLst/>
          </a:prstGeom>
          <a:noFill/>
          <a:ln/>
        </p:spPr>
        <p:txBody>
          <a:bodyPr wrap="square" lIns="0" tIns="0" rIns="0" bIns="0" rtlCol="0" anchor="t"/>
          <a:lstStyle/>
          <a:p>
            <a:pPr indent="0" marL="0">
              <a:buNone/>
            </a:pPr>
            <a:r>
              <a:rPr lang="en-US" sz="1500" b="1" dirty="0">
                <a:solidFill>
                  <a:schemeClr val="tx2"/>
                </a:solidFill>
              </a:rPr>
              <a:t>1 · Sparse experts</a:t>
            </a:r>
            <a:endParaRPr lang="en-US" sz="1500" dirty="0"/>
          </a:p>
        </p:txBody>
      </p:sp>
      <p:sp>
        <p:nvSpPr>
          <p:cNvPr id="5" name="lev a body"/>
          <p:cNvSpPr txBox="1"/>
          <p:nvPr/>
        </p:nvSpPr>
        <p:spPr>
          <a:xfrm>
            <a:off x="640080" y="1463040"/>
            <a:ext cx="2240280" cy="960120"/>
          </a:xfrm>
          <a:prstGeom prst="rect">
            <a:avLst/>
          </a:prstGeom>
          <a:noFill/>
          <a:ln/>
        </p:spPr>
        <p:txBody>
          <a:bodyPr wrap="square" lIns="0" tIns="0" rIns="0" bIns="0" rtlCol="0" anchor="t"/>
          <a:lstStyle/>
          <a:p>
            <a:pPr indent="0" marL="0">
              <a:buNone/>
            </a:pPr>
            <a:r>
              <a:rPr lang="en-US" sz="1200" dirty="0">
                <a:solidFill>
                  <a:schemeClr val="tx1"/>
                </a:solidFill>
              </a:rPr>
              <a:t>Only 8 of 256 experts run per token, so a 501B model computes like a ~23B one.</a:t>
            </a:r>
            <a:endParaRPr lang="en-US" sz="1200" dirty="0"/>
          </a:p>
        </p:txBody>
      </p:sp>
      <p:sp>
        <p:nvSpPr>
          <p:cNvPr id="6" name="lev a stat"/>
          <p:cNvSpPr txBox="1"/>
          <p:nvPr/>
        </p:nvSpPr>
        <p:spPr>
          <a:xfrm>
            <a:off x="2971800" y="1463040"/>
            <a:ext cx="1371600" cy="548640"/>
          </a:xfrm>
          <a:prstGeom prst="rect">
            <a:avLst/>
          </a:prstGeom>
          <a:noFill/>
          <a:ln/>
        </p:spPr>
        <p:txBody>
          <a:bodyPr wrap="square" lIns="0" tIns="0" rIns="0" bIns="0" rtlCol="0" anchor="t"/>
          <a:lstStyle/>
          <a:p>
            <a:pPr algn="ctr" indent="0" marL="0">
              <a:buNone/>
            </a:pPr>
            <a:r>
              <a:rPr lang="en-US" sz="3600" b="1" dirty="0">
                <a:solidFill>
                  <a:schemeClr val="accent1"/>
                </a:solidFill>
                <a:latin typeface="Arial" pitchFamily="34" charset="0"/>
                <a:ea typeface="Arial" pitchFamily="34" charset="-122"/>
                <a:cs typeface="Arial" pitchFamily="34" charset="-120"/>
              </a:rPr>
              <a:t>21×</a:t>
            </a:r>
            <a:endParaRPr lang="en-US" sz="3600" dirty="0"/>
          </a:p>
        </p:txBody>
      </p:sp>
      <p:sp>
        <p:nvSpPr>
          <p:cNvPr id="7" name="lev a stat label"/>
          <p:cNvSpPr txBox="1"/>
          <p:nvPr/>
        </p:nvSpPr>
        <p:spPr>
          <a:xfrm>
            <a:off x="2971800" y="2011680"/>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less compute</a:t>
            </a:r>
            <a:endParaRPr lang="en-US" sz="1200" dirty="0"/>
          </a:p>
        </p:txBody>
      </p:sp>
      <p:sp>
        <p:nvSpPr>
          <p:cNvPr id="8" name="lev b card"/>
          <p:cNvSpPr/>
          <p:nvPr/>
        </p:nvSpPr>
        <p:spPr>
          <a:xfrm>
            <a:off x="4663440" y="1005840"/>
            <a:ext cx="4023360" cy="1508760"/>
          </a:xfrm>
          <a:prstGeom prst="roundRect">
            <a:avLst>
              <a:gd name="adj" fmla="val 4848"/>
            </a:avLst>
          </a:prstGeom>
          <a:solidFill>
            <a:schemeClr val="bg2"/>
          </a:solidFill>
          <a:ln w="12700">
            <a:solidFill>
              <a:schemeClr val="bg2"/>
            </a:solidFill>
            <a:prstDash val="solid"/>
          </a:ln>
        </p:spPr>
      </p:sp>
      <p:sp>
        <p:nvSpPr>
          <p:cNvPr id="9" name="lev b head"/>
          <p:cNvSpPr txBox="1"/>
          <p:nvPr/>
        </p:nvSpPr>
        <p:spPr>
          <a:xfrm>
            <a:off x="4846320" y="1115568"/>
            <a:ext cx="3657600" cy="292608"/>
          </a:xfrm>
          <a:prstGeom prst="rect">
            <a:avLst/>
          </a:prstGeom>
          <a:noFill/>
          <a:ln/>
        </p:spPr>
        <p:txBody>
          <a:bodyPr wrap="square" lIns="0" tIns="0" rIns="0" bIns="0" rtlCol="0" anchor="t"/>
          <a:lstStyle/>
          <a:p>
            <a:pPr indent="0" marL="0">
              <a:buNone/>
            </a:pPr>
            <a:r>
              <a:rPr lang="en-US" sz="1500" b="1" dirty="0">
                <a:solidFill>
                  <a:schemeClr val="tx2"/>
                </a:solidFill>
              </a:rPr>
              <a:t>2 · Short memory in most layers</a:t>
            </a:r>
            <a:endParaRPr lang="en-US" sz="1500" dirty="0"/>
          </a:p>
        </p:txBody>
      </p:sp>
      <p:sp>
        <p:nvSpPr>
          <p:cNvPr id="10" name="lev b body"/>
          <p:cNvSpPr txBox="1"/>
          <p:nvPr/>
        </p:nvSpPr>
        <p:spPr>
          <a:xfrm>
            <a:off x="4846320" y="1463040"/>
            <a:ext cx="2240280" cy="960120"/>
          </a:xfrm>
          <a:prstGeom prst="rect">
            <a:avLst/>
          </a:prstGeom>
          <a:noFill/>
          <a:ln/>
        </p:spPr>
        <p:txBody>
          <a:bodyPr wrap="square" lIns="0" tIns="0" rIns="0" bIns="0" rtlCol="0" anchor="t"/>
          <a:lstStyle/>
          <a:p>
            <a:pPr indent="0" marL="0">
              <a:buNone/>
            </a:pPr>
            <a:r>
              <a:rPr lang="en-US" sz="1200" dirty="0">
                <a:solidFill>
                  <a:schemeClr val="tx1"/>
                </a:solidFill>
              </a:rPr>
              <a:t>43 of 52 layers only look at the last 512 tokens; just 9 read the whole context. Memory ≈ 17% of full attention.</a:t>
            </a:r>
            <a:endParaRPr lang="en-US" sz="1200" dirty="0"/>
          </a:p>
        </p:txBody>
      </p:sp>
      <p:sp>
        <p:nvSpPr>
          <p:cNvPr id="11" name="lev b block 0"/>
          <p:cNvSpPr/>
          <p:nvPr/>
        </p:nvSpPr>
        <p:spPr>
          <a:xfrm>
            <a:off x="7205472" y="1645920"/>
            <a:ext cx="109728" cy="274320"/>
          </a:xfrm>
          <a:prstGeom prst="rect">
            <a:avLst/>
          </a:prstGeom>
          <a:solidFill>
            <a:schemeClr val="accent3"/>
          </a:solidFill>
          <a:ln w="12700">
            <a:solidFill>
              <a:schemeClr val="accent3"/>
            </a:solidFill>
            <a:prstDash val="solid"/>
          </a:ln>
        </p:spPr>
      </p:sp>
      <p:sp>
        <p:nvSpPr>
          <p:cNvPr id="12" name="lev b block 1"/>
          <p:cNvSpPr/>
          <p:nvPr/>
        </p:nvSpPr>
        <p:spPr>
          <a:xfrm>
            <a:off x="7342632" y="1645920"/>
            <a:ext cx="109728" cy="274320"/>
          </a:xfrm>
          <a:prstGeom prst="rect">
            <a:avLst/>
          </a:prstGeom>
          <a:solidFill>
            <a:schemeClr val="accent3"/>
          </a:solidFill>
          <a:ln w="12700">
            <a:solidFill>
              <a:schemeClr val="accent3"/>
            </a:solidFill>
            <a:prstDash val="solid"/>
          </a:ln>
        </p:spPr>
      </p:sp>
      <p:sp>
        <p:nvSpPr>
          <p:cNvPr id="13" name="lev b block 2"/>
          <p:cNvSpPr/>
          <p:nvPr/>
        </p:nvSpPr>
        <p:spPr>
          <a:xfrm>
            <a:off x="7479792" y="1645920"/>
            <a:ext cx="109728" cy="274320"/>
          </a:xfrm>
          <a:prstGeom prst="rect">
            <a:avLst/>
          </a:prstGeom>
          <a:solidFill>
            <a:schemeClr val="accent3"/>
          </a:solidFill>
          <a:ln w="12700">
            <a:solidFill>
              <a:schemeClr val="accent3"/>
            </a:solidFill>
            <a:prstDash val="solid"/>
          </a:ln>
        </p:spPr>
      </p:sp>
      <p:sp>
        <p:nvSpPr>
          <p:cNvPr id="14" name="lev b block 3"/>
          <p:cNvSpPr/>
          <p:nvPr/>
        </p:nvSpPr>
        <p:spPr>
          <a:xfrm>
            <a:off x="7616952" y="1645920"/>
            <a:ext cx="109728" cy="274320"/>
          </a:xfrm>
          <a:prstGeom prst="rect">
            <a:avLst/>
          </a:prstGeom>
          <a:solidFill>
            <a:schemeClr val="accent3"/>
          </a:solidFill>
          <a:ln w="12700">
            <a:solidFill>
              <a:schemeClr val="accent3"/>
            </a:solidFill>
            <a:prstDash val="solid"/>
          </a:ln>
        </p:spPr>
      </p:sp>
      <p:sp>
        <p:nvSpPr>
          <p:cNvPr id="15" name="lev b block 4"/>
          <p:cNvSpPr/>
          <p:nvPr/>
        </p:nvSpPr>
        <p:spPr>
          <a:xfrm>
            <a:off x="7754112" y="1645920"/>
            <a:ext cx="109728" cy="274320"/>
          </a:xfrm>
          <a:prstGeom prst="rect">
            <a:avLst/>
          </a:prstGeom>
          <a:solidFill>
            <a:schemeClr val="accent3"/>
          </a:solidFill>
          <a:ln w="12700">
            <a:solidFill>
              <a:schemeClr val="accent3"/>
            </a:solidFill>
            <a:prstDash val="solid"/>
          </a:ln>
        </p:spPr>
      </p:sp>
      <p:sp>
        <p:nvSpPr>
          <p:cNvPr id="16" name="lev b block 5"/>
          <p:cNvSpPr/>
          <p:nvPr/>
        </p:nvSpPr>
        <p:spPr>
          <a:xfrm>
            <a:off x="7891272" y="1645920"/>
            <a:ext cx="109728" cy="274320"/>
          </a:xfrm>
          <a:prstGeom prst="rect">
            <a:avLst/>
          </a:prstGeom>
          <a:solidFill>
            <a:schemeClr val="accent3"/>
          </a:solidFill>
          <a:ln w="12700">
            <a:solidFill>
              <a:schemeClr val="accent3"/>
            </a:solidFill>
            <a:prstDash val="solid"/>
          </a:ln>
        </p:spPr>
      </p:sp>
      <p:sp>
        <p:nvSpPr>
          <p:cNvPr id="17" name="lev b block 6"/>
          <p:cNvSpPr/>
          <p:nvPr/>
        </p:nvSpPr>
        <p:spPr>
          <a:xfrm>
            <a:off x="8028432" y="1645920"/>
            <a:ext cx="109728" cy="274320"/>
          </a:xfrm>
          <a:prstGeom prst="rect">
            <a:avLst/>
          </a:prstGeom>
          <a:solidFill>
            <a:schemeClr val="accent3"/>
          </a:solidFill>
          <a:ln w="12700">
            <a:solidFill>
              <a:schemeClr val="accent3"/>
            </a:solidFill>
            <a:prstDash val="solid"/>
          </a:ln>
        </p:spPr>
      </p:sp>
      <p:sp>
        <p:nvSpPr>
          <p:cNvPr id="18" name="lev b block 7"/>
          <p:cNvSpPr/>
          <p:nvPr/>
        </p:nvSpPr>
        <p:spPr>
          <a:xfrm>
            <a:off x="8165592" y="1645920"/>
            <a:ext cx="109728" cy="274320"/>
          </a:xfrm>
          <a:prstGeom prst="rect">
            <a:avLst/>
          </a:prstGeom>
          <a:solidFill>
            <a:schemeClr val="accent3"/>
          </a:solidFill>
          <a:ln w="12700">
            <a:solidFill>
              <a:schemeClr val="accent3"/>
            </a:solidFill>
            <a:prstDash val="solid"/>
          </a:ln>
        </p:spPr>
      </p:sp>
      <p:sp>
        <p:nvSpPr>
          <p:cNvPr id="19" name="lev b block 8"/>
          <p:cNvSpPr/>
          <p:nvPr/>
        </p:nvSpPr>
        <p:spPr>
          <a:xfrm>
            <a:off x="8302752" y="1645920"/>
            <a:ext cx="109728" cy="274320"/>
          </a:xfrm>
          <a:prstGeom prst="rect">
            <a:avLst/>
          </a:prstGeom>
          <a:solidFill>
            <a:schemeClr val="accent3"/>
          </a:solidFill>
          <a:ln w="12700">
            <a:solidFill>
              <a:schemeClr val="accent3"/>
            </a:solidFill>
            <a:prstDash val="solid"/>
          </a:ln>
        </p:spPr>
      </p:sp>
      <p:sp>
        <p:nvSpPr>
          <p:cNvPr id="20" name="lev b block 9"/>
          <p:cNvSpPr/>
          <p:nvPr/>
        </p:nvSpPr>
        <p:spPr>
          <a:xfrm>
            <a:off x="8439912" y="1645920"/>
            <a:ext cx="109728" cy="274320"/>
          </a:xfrm>
          <a:prstGeom prst="rect">
            <a:avLst/>
          </a:prstGeom>
          <a:solidFill>
            <a:schemeClr val="accent3"/>
          </a:solidFill>
          <a:ln w="12700">
            <a:solidFill>
              <a:schemeClr val="accent3"/>
            </a:solidFill>
            <a:prstDash val="solid"/>
          </a:ln>
        </p:spPr>
      </p:sp>
      <p:sp>
        <p:nvSpPr>
          <p:cNvPr id="21" name="lev b window"/>
          <p:cNvSpPr/>
          <p:nvPr/>
        </p:nvSpPr>
        <p:spPr>
          <a:xfrm>
            <a:off x="7178040" y="1591056"/>
            <a:ext cx="411480" cy="384048"/>
          </a:xfrm>
          <a:prstGeom prst="rect">
            <a:avLst/>
          </a:prstGeom>
          <a:solidFill>
            <a:schemeClr val="accent1">
              <a:alpha val="45000"/>
            </a:schemeClr>
          </a:solidFill>
          <a:ln w="19050">
            <a:solidFill>
              <a:schemeClr val="accent1"/>
            </a:solidFill>
            <a:prstDash val="solid"/>
          </a:ln>
        </p:spPr>
      </p:sp>
      <p:sp>
        <p:nvSpPr>
          <p:cNvPr id="22" name="lev b caption"/>
          <p:cNvSpPr txBox="1"/>
          <p:nvPr/>
        </p:nvSpPr>
        <p:spPr>
          <a:xfrm>
            <a:off x="7114032" y="2057400"/>
            <a:ext cx="1554480" cy="274320"/>
          </a:xfrm>
          <a:prstGeom prst="rect">
            <a:avLst/>
          </a:prstGeom>
          <a:noFill/>
          <a:ln/>
        </p:spPr>
        <p:txBody>
          <a:bodyPr wrap="square" lIns="0" tIns="0" rIns="0" bIns="0" rtlCol="0" anchor="t"/>
          <a:lstStyle/>
          <a:p>
            <a:pPr algn="ctr" indent="0" marL="0">
              <a:buNone/>
            </a:pPr>
            <a:r>
              <a:rPr lang="en-US" sz="1000" dirty="0">
                <a:solidFill>
                  <a:schemeClr val="accent4"/>
                </a:solidFill>
              </a:rPr>
              <a:t>512-token window slides along</a:t>
            </a:r>
            <a:endParaRPr lang="en-US" sz="1000" dirty="0"/>
          </a:p>
        </p:txBody>
      </p:sp>
      <p:sp>
        <p:nvSpPr>
          <p:cNvPr id="23" name="lev c card"/>
          <p:cNvSpPr/>
          <p:nvPr/>
        </p:nvSpPr>
        <p:spPr>
          <a:xfrm>
            <a:off x="457200" y="2651760"/>
            <a:ext cx="4023360" cy="1508760"/>
          </a:xfrm>
          <a:prstGeom prst="roundRect">
            <a:avLst>
              <a:gd name="adj" fmla="val 4848"/>
            </a:avLst>
          </a:prstGeom>
          <a:solidFill>
            <a:schemeClr val="bg2"/>
          </a:solidFill>
          <a:ln w="12700">
            <a:solidFill>
              <a:schemeClr val="bg2"/>
            </a:solidFill>
            <a:prstDash val="solid"/>
          </a:ln>
        </p:spPr>
      </p:sp>
      <p:sp>
        <p:nvSpPr>
          <p:cNvPr id="24" name="lev c head"/>
          <p:cNvSpPr txBox="1"/>
          <p:nvPr/>
        </p:nvSpPr>
        <p:spPr>
          <a:xfrm>
            <a:off x="640080" y="2761488"/>
            <a:ext cx="3657600" cy="292608"/>
          </a:xfrm>
          <a:prstGeom prst="rect">
            <a:avLst/>
          </a:prstGeom>
          <a:noFill/>
          <a:ln/>
        </p:spPr>
        <p:txBody>
          <a:bodyPr wrap="square" lIns="0" tIns="0" rIns="0" bIns="0" rtlCol="0" anchor="t"/>
          <a:lstStyle/>
          <a:p>
            <a:pPr indent="0" marL="0">
              <a:buNone/>
            </a:pPr>
            <a:r>
              <a:rPr lang="en-US" sz="1500" b="1" dirty="0">
                <a:solidFill>
                  <a:schemeClr val="tx2"/>
                </a:solidFill>
              </a:rPr>
              <a:t>3 · 4-bit weights (NVFP4)</a:t>
            </a:r>
            <a:endParaRPr lang="en-US" sz="1500" dirty="0"/>
          </a:p>
        </p:txBody>
      </p:sp>
      <p:sp>
        <p:nvSpPr>
          <p:cNvPr id="25" name="lev c body"/>
          <p:cNvSpPr txBox="1"/>
          <p:nvPr/>
        </p:nvSpPr>
        <p:spPr>
          <a:xfrm>
            <a:off x="640080" y="3108960"/>
            <a:ext cx="2240280" cy="960120"/>
          </a:xfrm>
          <a:prstGeom prst="rect">
            <a:avLst/>
          </a:prstGeom>
          <a:noFill/>
          <a:ln/>
        </p:spPr>
        <p:txBody>
          <a:bodyPr wrap="square" lIns="0" tIns="0" rIns="0" bIns="0" rtlCol="0" anchor="t"/>
          <a:lstStyle/>
          <a:p>
            <a:pPr indent="0" marL="0">
              <a:buNone/>
            </a:pPr>
            <a:r>
              <a:rPr lang="en-US" sz="1200" dirty="0">
                <a:solidFill>
                  <a:schemeClr val="tx1"/>
                </a:solidFill>
              </a:rPr>
              <a:t>Weights shrink to ~0.28 TB and fit one 8-GPU server, losing ≤ 1.7 points on agentic benchmarks.</a:t>
            </a:r>
            <a:endParaRPr lang="en-US" sz="1200" dirty="0"/>
          </a:p>
        </p:txBody>
      </p:sp>
      <p:sp>
        <p:nvSpPr>
          <p:cNvPr id="26" name="lev c lbl1"/>
          <p:cNvSpPr txBox="1"/>
          <p:nvPr/>
        </p:nvSpPr>
        <p:spPr>
          <a:xfrm>
            <a:off x="2999232" y="3090672"/>
            <a:ext cx="1371600" cy="201168"/>
          </a:xfrm>
          <a:prstGeom prst="rect">
            <a:avLst/>
          </a:prstGeom>
          <a:noFill/>
          <a:ln/>
        </p:spPr>
        <p:txBody>
          <a:bodyPr wrap="square" lIns="0" tIns="0" rIns="0" bIns="0" rtlCol="0" anchor="t"/>
          <a:lstStyle/>
          <a:p>
            <a:pPr indent="0" marL="0">
              <a:buNone/>
            </a:pPr>
            <a:r>
              <a:rPr lang="en-US" sz="1000" dirty="0">
                <a:solidFill>
                  <a:schemeClr val="tx1"/>
                </a:solidFill>
              </a:rPr>
              <a:t>16-bit  1.0 TB</a:t>
            </a:r>
            <a:endParaRPr lang="en-US" sz="1000" dirty="0"/>
          </a:p>
        </p:txBody>
      </p:sp>
      <p:sp>
        <p:nvSpPr>
          <p:cNvPr id="27" name="lev c bar1"/>
          <p:cNvSpPr/>
          <p:nvPr/>
        </p:nvSpPr>
        <p:spPr>
          <a:xfrm>
            <a:off x="2999232" y="3310128"/>
            <a:ext cx="1325880" cy="164592"/>
          </a:xfrm>
          <a:prstGeom prst="rect">
            <a:avLst/>
          </a:prstGeom>
          <a:solidFill>
            <a:schemeClr val="accent4"/>
          </a:solidFill>
          <a:ln w="12700">
            <a:solidFill>
              <a:schemeClr val="accent4"/>
            </a:solidFill>
            <a:prstDash val="solid"/>
          </a:ln>
        </p:spPr>
      </p:sp>
      <p:sp>
        <p:nvSpPr>
          <p:cNvPr id="28" name="lev c lbl2"/>
          <p:cNvSpPr txBox="1"/>
          <p:nvPr/>
        </p:nvSpPr>
        <p:spPr>
          <a:xfrm>
            <a:off x="2999232" y="3547872"/>
            <a:ext cx="1371600" cy="201168"/>
          </a:xfrm>
          <a:prstGeom prst="rect">
            <a:avLst/>
          </a:prstGeom>
          <a:noFill/>
          <a:ln/>
        </p:spPr>
        <p:txBody>
          <a:bodyPr wrap="square" lIns="0" tIns="0" rIns="0" bIns="0" rtlCol="0" anchor="t"/>
          <a:lstStyle/>
          <a:p>
            <a:pPr indent="0" marL="0">
              <a:buNone/>
            </a:pPr>
            <a:r>
              <a:rPr lang="en-US" sz="1000" dirty="0">
                <a:solidFill>
                  <a:schemeClr val="tx1"/>
                </a:solidFill>
              </a:rPr>
              <a:t>4-bit  0.28 TB</a:t>
            </a:r>
            <a:endParaRPr lang="en-US" sz="1000" dirty="0"/>
          </a:p>
        </p:txBody>
      </p:sp>
      <p:sp>
        <p:nvSpPr>
          <p:cNvPr id="29" name="lev c bar2"/>
          <p:cNvSpPr/>
          <p:nvPr/>
        </p:nvSpPr>
        <p:spPr>
          <a:xfrm>
            <a:off x="2999232" y="3767328"/>
            <a:ext cx="371246" cy="164592"/>
          </a:xfrm>
          <a:prstGeom prst="rect">
            <a:avLst/>
          </a:prstGeom>
          <a:solidFill>
            <a:schemeClr val="accent1"/>
          </a:solidFill>
          <a:ln w="12700">
            <a:solidFill>
              <a:schemeClr val="accent1"/>
            </a:solidFill>
            <a:prstDash val="solid"/>
          </a:ln>
        </p:spPr>
      </p:sp>
      <p:sp>
        <p:nvSpPr>
          <p:cNvPr id="30" name="lev d card"/>
          <p:cNvSpPr/>
          <p:nvPr/>
        </p:nvSpPr>
        <p:spPr>
          <a:xfrm>
            <a:off x="4663440" y="2651760"/>
            <a:ext cx="4023360" cy="1508760"/>
          </a:xfrm>
          <a:prstGeom prst="roundRect">
            <a:avLst>
              <a:gd name="adj" fmla="val 4848"/>
            </a:avLst>
          </a:prstGeom>
          <a:solidFill>
            <a:schemeClr val="bg2"/>
          </a:solidFill>
          <a:ln w="12700">
            <a:solidFill>
              <a:schemeClr val="bg2"/>
            </a:solidFill>
            <a:prstDash val="solid"/>
          </a:ln>
        </p:spPr>
      </p:sp>
      <p:sp>
        <p:nvSpPr>
          <p:cNvPr id="31" name="lev d head"/>
          <p:cNvSpPr txBox="1"/>
          <p:nvPr/>
        </p:nvSpPr>
        <p:spPr>
          <a:xfrm>
            <a:off x="4846320" y="2761488"/>
            <a:ext cx="3657600" cy="292608"/>
          </a:xfrm>
          <a:prstGeom prst="rect">
            <a:avLst/>
          </a:prstGeom>
          <a:noFill/>
          <a:ln/>
        </p:spPr>
        <p:txBody>
          <a:bodyPr wrap="square" lIns="0" tIns="0" rIns="0" bIns="0" rtlCol="0" anchor="t"/>
          <a:lstStyle/>
          <a:p>
            <a:pPr indent="0" marL="0">
              <a:buNone/>
            </a:pPr>
            <a:r>
              <a:rPr lang="en-US" sz="1500" b="1" dirty="0">
                <a:solidFill>
                  <a:schemeClr val="tx2"/>
                </a:solidFill>
              </a:rPr>
              <a:t>4 · Fewer, faster tokens</a:t>
            </a:r>
            <a:endParaRPr lang="en-US" sz="1500" dirty="0"/>
          </a:p>
        </p:txBody>
      </p:sp>
      <p:sp>
        <p:nvSpPr>
          <p:cNvPr id="32" name="lev d body"/>
          <p:cNvSpPr txBox="1"/>
          <p:nvPr/>
        </p:nvSpPr>
        <p:spPr>
          <a:xfrm>
            <a:off x="4846320" y="3108960"/>
            <a:ext cx="2240280" cy="960120"/>
          </a:xfrm>
          <a:prstGeom prst="rect">
            <a:avLst/>
          </a:prstGeom>
          <a:noFill/>
          <a:ln/>
        </p:spPr>
        <p:txBody>
          <a:bodyPr wrap="square" lIns="0" tIns="0" rIns="0" bIns="0" rtlCol="0" anchor="t"/>
          <a:lstStyle/>
          <a:p>
            <a:pPr indent="0" marL="0">
              <a:buNone/>
            </a:pPr>
            <a:r>
              <a:rPr lang="en-US" sz="1200" dirty="0">
                <a:solidFill>
                  <a:schemeClr val="tx1"/>
                </a:solidFill>
              </a:rPr>
              <a:t>A 1.9B “drafter” guesses several tokens that Beam checks in one pass, and Beam uses ~40% fewer output tokens per task.</a:t>
            </a:r>
            <a:endParaRPr lang="en-US" sz="1200" dirty="0"/>
          </a:p>
        </p:txBody>
      </p:sp>
      <p:sp>
        <p:nvSpPr>
          <p:cNvPr id="33" name="lev d stat"/>
          <p:cNvSpPr txBox="1"/>
          <p:nvPr/>
        </p:nvSpPr>
        <p:spPr>
          <a:xfrm>
            <a:off x="7178040" y="3108960"/>
            <a:ext cx="1371600" cy="548640"/>
          </a:xfrm>
          <a:prstGeom prst="rect">
            <a:avLst/>
          </a:prstGeom>
          <a:noFill/>
          <a:ln/>
        </p:spPr>
        <p:txBody>
          <a:bodyPr wrap="square" lIns="0" tIns="0" rIns="0" bIns="0" rtlCol="0" anchor="t"/>
          <a:lstStyle/>
          <a:p>
            <a:pPr algn="ctr" indent="0" marL="0">
              <a:buNone/>
            </a:pPr>
            <a:r>
              <a:rPr lang="en-US" sz="3200" b="1" dirty="0">
                <a:solidFill>
                  <a:schemeClr val="accent1"/>
                </a:solidFill>
                <a:latin typeface="Arial" pitchFamily="34" charset="0"/>
                <a:ea typeface="Arial" pitchFamily="34" charset="-122"/>
                <a:cs typeface="Arial" pitchFamily="34" charset="-120"/>
              </a:rPr>
              <a:t>−40%</a:t>
            </a:r>
            <a:endParaRPr lang="en-US" sz="3200" dirty="0"/>
          </a:p>
        </p:txBody>
      </p:sp>
      <p:sp>
        <p:nvSpPr>
          <p:cNvPr id="34" name="lev d stat label"/>
          <p:cNvSpPr txBox="1"/>
          <p:nvPr/>
        </p:nvSpPr>
        <p:spPr>
          <a:xfrm>
            <a:off x="7178040" y="3657600"/>
            <a:ext cx="1371600" cy="274320"/>
          </a:xfrm>
          <a:prstGeom prst="rect">
            <a:avLst/>
          </a:prstGeom>
          <a:noFill/>
          <a:ln/>
        </p:spPr>
        <p:txBody>
          <a:bodyPr wrap="square" lIns="0" tIns="0" rIns="0" bIns="0" rtlCol="0" anchor="t"/>
          <a:lstStyle/>
          <a:p>
            <a:pPr algn="ctr" indent="0" marL="0">
              <a:buNone/>
            </a:pPr>
            <a:r>
              <a:rPr lang="en-US" sz="1200" dirty="0">
                <a:solidFill>
                  <a:schemeClr val="tx1"/>
                </a:solidFill>
              </a:rPr>
              <a:t>output tokens</a:t>
            </a:r>
            <a:endParaRPr lang="en-US" sz="1200" dirty="0"/>
          </a:p>
        </p:txBody>
      </p:sp>
      <p:sp>
        <p:nvSpPr>
          <p:cNvPr id="35" name="lev takeaway"/>
          <p:cNvSpPr txBox="1"/>
          <p:nvPr/>
        </p:nvSpPr>
        <p:spPr>
          <a:xfrm>
            <a:off x="457200" y="4315968"/>
            <a:ext cx="8229600" cy="384048"/>
          </a:xfrm>
          <a:prstGeom prst="rect">
            <a:avLst/>
          </a:prstGeom>
          <a:noFill/>
          <a:ln/>
        </p:spPr>
        <p:txBody>
          <a:bodyPr wrap="square" lIns="0" tIns="0" rIns="0" bIns="0" rtlCol="0" anchor="ctr"/>
          <a:lstStyle/>
          <a:p>
            <a:pPr indent="0" marL="0">
              <a:buNone/>
            </a:pPr>
            <a:r>
              <a:rPr lang="en-US" sz="1300" b="1" dirty="0">
                <a:solidFill>
                  <a:schemeClr val="accent2"/>
                </a:solidFill>
              </a:rPr>
              <a:t>The trade-off: </a:t>
            </a:r>
            <a:pPr indent="0" marL="0">
              <a:buNone/>
            </a:pPr>
            <a:r>
              <a:rPr lang="en-US" sz="1300" dirty="0">
                <a:solidFill>
                  <a:schemeClr val="tx1"/>
                </a:solidFill>
              </a:rPr>
              <a:t>frontier-scale knowledge at small-model running cost, but capability still trails the frontier (independent index 30 vs 58).</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5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5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5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500"/>
                                        <p:tgtEl>
                                          <p:spTgt spid="2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500"/>
                                        <p:tgtEl>
                                          <p:spTgt spid="2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500"/>
                                        <p:tgtEl>
                                          <p:spTgt spid="22"/>
                                        </p:tgtEl>
                                      </p:cBhvr>
                                    </p:animEffect>
                                  </p:childTnLst>
                                </p:cTn>
                              </p:par>
                            </p:childTnLst>
                          </p:cTn>
                        </p:par>
                        <p:par>
                          <p:cTn id="67" fill="hold">
                            <p:stCondLst>
                              <p:cond delay="600"/>
                            </p:stCondLst>
                            <p:childTnLst>
                              <p:par>
                                <p:cTn id="68" presetID="0" presetClass="path" presetSubtype="0" accel="50000" decel="50000" fill="hold" grpId="1" nodeType="afterEffect">
                                  <p:stCondLst>
                                    <p:cond delay="0"/>
                                  </p:stCondLst>
                                  <p:childTnLst>
                                    <p:animMotion origin="layout" path="M 0 0 L 0.105 0 E" pathEditMode="relative" ptsTypes="AA">
                                      <p:cBhvr>
                                        <p:cTn id="69" dur="2500" fill="hold"/>
                                        <p:tgtEl>
                                          <p:spTgt spid="21"/>
                                        </p:tgtEl>
                                        <p:attrNameLst>
                                          <p:attrName>ppt_x</p:attrName>
                                          <p:attrName>ppt_y</p:attrName>
                                        </p:attrNameLst>
                                      </p:cBhvr>
                                    </p:animMotion>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grpId="0" nodeType="clickEffect">
                                  <p:stCondLst>
                                    <p:cond delay="0"/>
                                  </p:stCondLst>
                                  <p:childTnLst>
                                    <p:set>
                                      <p:cBhvr>
                                        <p:cTn id="73" dur="1" fill="hold">
                                          <p:stCondLst>
                                            <p:cond delay="0"/>
                                          </p:stCondLst>
                                        </p:cTn>
                                        <p:tgtEl>
                                          <p:spTgt spid="23"/>
                                        </p:tgtEl>
                                        <p:attrNameLst>
                                          <p:attrName>style.visibility</p:attrName>
                                        </p:attrNameLst>
                                      </p:cBhvr>
                                      <p:to>
                                        <p:strVal val="visible"/>
                                      </p:to>
                                    </p:set>
                                    <p:animEffect transition="in" filter="fade">
                                      <p:cBhvr>
                                        <p:cTn id="74" dur="500"/>
                                        <p:tgtEl>
                                          <p:spTgt spid="2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500"/>
                                        <p:tgtEl>
                                          <p:spTgt spid="2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500"/>
                                        <p:tgtEl>
                                          <p:spTgt spid="2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500"/>
                                        <p:tgtEl>
                                          <p:spTgt spid="2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7"/>
                                        </p:tgtEl>
                                        <p:attrNameLst>
                                          <p:attrName>style.visibility</p:attrName>
                                        </p:attrNameLst>
                                      </p:cBhvr>
                                      <p:to>
                                        <p:strVal val="visible"/>
                                      </p:to>
                                    </p:set>
                                    <p:animEffect transition="in" filter="fade">
                                      <p:cBhvr>
                                        <p:cTn id="86" dur="500"/>
                                        <p:tgtEl>
                                          <p:spTgt spid="2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childTnLst>
                          </p:cTn>
                        </p:par>
                        <p:par>
                          <p:cTn id="90" fill="hold">
                            <p:stCondLst>
                              <p:cond delay="600"/>
                            </p:stCondLst>
                            <p:childTnLst>
                              <p:par>
                                <p:cTn id="91" presetID="22" presetClass="entr" presetSubtype="8" fill="hold" grpId="0" nodeType="afterEffect">
                                  <p:stCondLst>
                                    <p:cond delay="0"/>
                                  </p:stCondLst>
                                  <p:childTnLst>
                                    <p:set>
                                      <p:cBhvr>
                                        <p:cTn id="92" dur="1" fill="hold">
                                          <p:stCondLst>
                                            <p:cond delay="0"/>
                                          </p:stCondLst>
                                        </p:cTn>
                                        <p:tgtEl>
                                          <p:spTgt spid="29"/>
                                        </p:tgtEl>
                                        <p:attrNameLst>
                                          <p:attrName>style.visibility</p:attrName>
                                        </p:attrNameLst>
                                      </p:cBhvr>
                                      <p:to>
                                        <p:strVal val="visible"/>
                                      </p:to>
                                    </p:set>
                                    <p:animEffect transition="in" filter="wipe(left)">
                                      <p:cBhvr>
                                        <p:cTn id="93" dur="700"/>
                                        <p:tgtEl>
                                          <p:spTgt spid="29"/>
                                        </p:tgtEl>
                                      </p:cBhvr>
                                    </p:animEffect>
                                  </p:childTnLst>
                                </p:cTn>
                              </p:par>
                            </p:childTnLst>
                          </p:cTn>
                        </p:par>
                      </p:childTnLst>
                    </p:cTn>
                  </p:par>
                  <p:par>
                    <p:cTn id="94" fill="hold">
                      <p:stCondLst>
                        <p:cond delay="indefinite"/>
                      </p:stCondLst>
                      <p:childTnLst>
                        <p:par>
                          <p:cTn id="95" fill="hold">
                            <p:stCondLst>
                              <p:cond delay="0"/>
                            </p:stCondLst>
                            <p:childTnLst>
                              <p:par>
                                <p:cTn id="96" presetID="10" presetClass="entr" presetSubtype="0" fill="hold" grpId="0" nodeType="clickEffect">
                                  <p:stCondLst>
                                    <p:cond delay="0"/>
                                  </p:stCondLst>
                                  <p:childTnLst>
                                    <p:set>
                                      <p:cBhvr>
                                        <p:cTn id="97" dur="1" fill="hold">
                                          <p:stCondLst>
                                            <p:cond delay="0"/>
                                          </p:stCondLst>
                                        </p:cTn>
                                        <p:tgtEl>
                                          <p:spTgt spid="30"/>
                                        </p:tgtEl>
                                        <p:attrNameLst>
                                          <p:attrName>style.visibility</p:attrName>
                                        </p:attrNameLst>
                                      </p:cBhvr>
                                      <p:to>
                                        <p:strVal val="visible"/>
                                      </p:to>
                                    </p:set>
                                    <p:animEffect transition="in" filter="fade">
                                      <p:cBhvr>
                                        <p:cTn id="98" dur="500"/>
                                        <p:tgtEl>
                                          <p:spTgt spid="30"/>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1"/>
                                        </p:tgtEl>
                                        <p:attrNameLst>
                                          <p:attrName>style.visibility</p:attrName>
                                        </p:attrNameLst>
                                      </p:cBhvr>
                                      <p:to>
                                        <p:strVal val="visible"/>
                                      </p:to>
                                    </p:set>
                                    <p:animEffect transition="in" filter="fade">
                                      <p:cBhvr>
                                        <p:cTn id="101" dur="500"/>
                                        <p:tgtEl>
                                          <p:spTgt spid="31"/>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fade">
                                      <p:cBhvr>
                                        <p:cTn id="107" dur="500"/>
                                        <p:tgtEl>
                                          <p:spTgt spid="3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4"/>
                                        </p:tgtEl>
                                        <p:attrNameLst>
                                          <p:attrName>style.visibility</p:attrName>
                                        </p:attrNameLst>
                                      </p:cBhvr>
                                      <p:to>
                                        <p:strVal val="visible"/>
                                      </p:to>
                                    </p:set>
                                    <p:animEffect transition="in" filter="fade">
                                      <p:cBhvr>
                                        <p:cTn id="110" dur="500"/>
                                        <p:tgtEl>
                                          <p:spTgt spid="34"/>
                                        </p:tgtEl>
                                      </p:cBhvr>
                                    </p:animEffec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grpId="0" nodeType="click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fade">
                                      <p:cBhvr>
                                        <p:cTn id="115"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1" grpId="1"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Training: post-training is the big bill</a:t>
            </a:r>
            <a:endParaRPr lang="en-US" sz="2800" dirty="0"/>
          </a:p>
        </p:txBody>
      </p:sp>
      <p:sp>
        <p:nvSpPr>
          <p:cNvPr id="3" name="step 1"/>
          <p:cNvSpPr/>
          <p:nvPr/>
        </p:nvSpPr>
        <p:spPr>
          <a:xfrm>
            <a:off x="457200" y="1143000"/>
            <a:ext cx="1508760" cy="1600200"/>
          </a:xfrm>
          <a:prstGeom prst="roundRect">
            <a:avLst>
              <a:gd name="adj" fmla="val 4848"/>
            </a:avLst>
          </a:prstGeom>
          <a:solidFill>
            <a:schemeClr val="bg2"/>
          </a:solidFill>
          <a:ln w="12700">
            <a:solidFill>
              <a:schemeClr val="bg2"/>
            </a:solidFill>
            <a:prstDash val="solid"/>
          </a:ln>
        </p:spPr>
      </p:sp>
      <p:sp>
        <p:nvSpPr>
          <p:cNvPr id="4" name="Text 2"/>
          <p:cNvSpPr txBox="1"/>
          <p:nvPr/>
        </p:nvSpPr>
        <p:spPr>
          <a:xfrm>
            <a:off x="594360" y="125272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1</a:t>
            </a:r>
            <a:endParaRPr lang="en-US" sz="1800" dirty="0"/>
          </a:p>
        </p:txBody>
      </p:sp>
      <p:sp>
        <p:nvSpPr>
          <p:cNvPr id="5" name="Text 3"/>
          <p:cNvSpPr txBox="1"/>
          <p:nvPr/>
        </p:nvSpPr>
        <p:spPr>
          <a:xfrm>
            <a:off x="594360" y="1645920"/>
            <a:ext cx="1280160" cy="320040"/>
          </a:xfrm>
          <a:prstGeom prst="rect">
            <a:avLst/>
          </a:prstGeom>
          <a:noFill/>
          <a:ln/>
        </p:spPr>
        <p:txBody>
          <a:bodyPr wrap="square" lIns="0" tIns="0" rIns="0" bIns="0" rtlCol="0" anchor="t"/>
          <a:lstStyle/>
          <a:p>
            <a:pPr indent="0" marL="0">
              <a:buNone/>
            </a:pPr>
            <a:r>
              <a:rPr lang="en-US" sz="1500" b="1" dirty="0">
                <a:solidFill>
                  <a:schemeClr val="tx2"/>
                </a:solidFill>
              </a:rPr>
              <a:t>Curate</a:t>
            </a:r>
            <a:endParaRPr lang="en-US" sz="1500" dirty="0"/>
          </a:p>
        </p:txBody>
      </p:sp>
      <p:sp>
        <p:nvSpPr>
          <p:cNvPr id="6" name="Text 4"/>
          <p:cNvSpPr txBox="1"/>
          <p:nvPr/>
        </p:nvSpPr>
        <p:spPr>
          <a:xfrm>
            <a:off x="594360" y="1993392"/>
            <a:ext cx="1280160" cy="685800"/>
          </a:xfrm>
          <a:prstGeom prst="rect">
            <a:avLst/>
          </a:prstGeom>
          <a:noFill/>
          <a:ln/>
        </p:spPr>
        <p:txBody>
          <a:bodyPr wrap="square" lIns="0" tIns="0" rIns="0" bIns="0" rtlCol="0" anchor="t"/>
          <a:lstStyle/>
          <a:p>
            <a:pPr indent="0" marL="0">
              <a:buNone/>
            </a:pPr>
            <a:r>
              <a:rPr lang="en-US" sz="1200" dirty="0">
                <a:solidFill>
                  <a:schemeClr val="tx1"/>
                </a:solidFill>
              </a:rPr>
              <a:t>~95% of web text discarded</a:t>
            </a:r>
            <a:endParaRPr lang="en-US" sz="1200" dirty="0"/>
          </a:p>
        </p:txBody>
      </p:sp>
      <p:sp>
        <p:nvSpPr>
          <p:cNvPr id="7" name="step 2"/>
          <p:cNvSpPr/>
          <p:nvPr/>
        </p:nvSpPr>
        <p:spPr>
          <a:xfrm>
            <a:off x="2130552" y="1143000"/>
            <a:ext cx="1508760" cy="1600200"/>
          </a:xfrm>
          <a:prstGeom prst="roundRect">
            <a:avLst>
              <a:gd name="adj" fmla="val 4848"/>
            </a:avLst>
          </a:prstGeom>
          <a:solidFill>
            <a:schemeClr val="bg2"/>
          </a:solidFill>
          <a:ln w="12700">
            <a:solidFill>
              <a:schemeClr val="bg2"/>
            </a:solidFill>
            <a:prstDash val="solid"/>
          </a:ln>
        </p:spPr>
      </p:sp>
      <p:sp>
        <p:nvSpPr>
          <p:cNvPr id="8" name="Text 6"/>
          <p:cNvSpPr txBox="1"/>
          <p:nvPr/>
        </p:nvSpPr>
        <p:spPr>
          <a:xfrm>
            <a:off x="2267712" y="125272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2</a:t>
            </a:r>
            <a:endParaRPr lang="en-US" sz="1800" dirty="0"/>
          </a:p>
        </p:txBody>
      </p:sp>
      <p:sp>
        <p:nvSpPr>
          <p:cNvPr id="9" name="Text 7"/>
          <p:cNvSpPr txBox="1"/>
          <p:nvPr/>
        </p:nvSpPr>
        <p:spPr>
          <a:xfrm>
            <a:off x="2267712" y="1645920"/>
            <a:ext cx="1280160" cy="320040"/>
          </a:xfrm>
          <a:prstGeom prst="rect">
            <a:avLst/>
          </a:prstGeom>
          <a:noFill/>
          <a:ln/>
        </p:spPr>
        <p:txBody>
          <a:bodyPr wrap="square" lIns="0" tIns="0" rIns="0" bIns="0" rtlCol="0" anchor="t"/>
          <a:lstStyle/>
          <a:p>
            <a:pPr indent="0" marL="0">
              <a:buNone/>
            </a:pPr>
            <a:r>
              <a:rPr lang="en-US" sz="1500" b="1" dirty="0">
                <a:solidFill>
                  <a:schemeClr val="tx2"/>
                </a:solidFill>
              </a:rPr>
              <a:t>Pre-train</a:t>
            </a:r>
            <a:endParaRPr lang="en-US" sz="1500" dirty="0"/>
          </a:p>
        </p:txBody>
      </p:sp>
      <p:sp>
        <p:nvSpPr>
          <p:cNvPr id="10" name="Text 8"/>
          <p:cNvSpPr txBox="1"/>
          <p:nvPr/>
        </p:nvSpPr>
        <p:spPr>
          <a:xfrm>
            <a:off x="2267712" y="1993392"/>
            <a:ext cx="1280160" cy="685800"/>
          </a:xfrm>
          <a:prstGeom prst="rect">
            <a:avLst/>
          </a:prstGeom>
          <a:noFill/>
          <a:ln/>
        </p:spPr>
        <p:txBody>
          <a:bodyPr wrap="square" lIns="0" tIns="0" rIns="0" bIns="0" rtlCol="0" anchor="t"/>
          <a:lstStyle/>
          <a:p>
            <a:pPr indent="0" marL="0">
              <a:buNone/>
            </a:pPr>
            <a:r>
              <a:rPr lang="en-US" sz="1200" dirty="0">
                <a:solidFill>
                  <a:schemeClr val="tx1"/>
                </a:solidFill>
              </a:rPr>
              <a:t>23.8T tokens · 6,144 GB300 · &lt;4 wks</a:t>
            </a:r>
            <a:endParaRPr lang="en-US" sz="1200" dirty="0"/>
          </a:p>
        </p:txBody>
      </p:sp>
      <p:sp>
        <p:nvSpPr>
          <p:cNvPr id="11" name="step 3"/>
          <p:cNvSpPr/>
          <p:nvPr/>
        </p:nvSpPr>
        <p:spPr>
          <a:xfrm>
            <a:off x="3803904" y="1143000"/>
            <a:ext cx="1508760" cy="1600200"/>
          </a:xfrm>
          <a:prstGeom prst="roundRect">
            <a:avLst>
              <a:gd name="adj" fmla="val 4848"/>
            </a:avLst>
          </a:prstGeom>
          <a:solidFill>
            <a:schemeClr val="bg2"/>
          </a:solidFill>
          <a:ln w="12700">
            <a:solidFill>
              <a:schemeClr val="bg2"/>
            </a:solidFill>
            <a:prstDash val="solid"/>
          </a:ln>
        </p:spPr>
      </p:sp>
      <p:sp>
        <p:nvSpPr>
          <p:cNvPr id="12" name="Text 10"/>
          <p:cNvSpPr txBox="1"/>
          <p:nvPr/>
        </p:nvSpPr>
        <p:spPr>
          <a:xfrm>
            <a:off x="3941064" y="125272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3</a:t>
            </a:r>
            <a:endParaRPr lang="en-US" sz="1800" dirty="0"/>
          </a:p>
        </p:txBody>
      </p:sp>
      <p:sp>
        <p:nvSpPr>
          <p:cNvPr id="13" name="Text 11"/>
          <p:cNvSpPr txBox="1"/>
          <p:nvPr/>
        </p:nvSpPr>
        <p:spPr>
          <a:xfrm>
            <a:off x="3941064" y="1645920"/>
            <a:ext cx="1280160" cy="320040"/>
          </a:xfrm>
          <a:prstGeom prst="rect">
            <a:avLst/>
          </a:prstGeom>
          <a:noFill/>
          <a:ln/>
        </p:spPr>
        <p:txBody>
          <a:bodyPr wrap="square" lIns="0" tIns="0" rIns="0" bIns="0" rtlCol="0" anchor="t"/>
          <a:lstStyle/>
          <a:p>
            <a:pPr indent="0" marL="0">
              <a:buNone/>
            </a:pPr>
            <a:r>
              <a:rPr lang="en-US" sz="1500" b="1" dirty="0">
                <a:solidFill>
                  <a:schemeClr val="tx2"/>
                </a:solidFill>
              </a:rPr>
              <a:t>Mid-train</a:t>
            </a:r>
            <a:endParaRPr lang="en-US" sz="1500" dirty="0"/>
          </a:p>
        </p:txBody>
      </p:sp>
      <p:sp>
        <p:nvSpPr>
          <p:cNvPr id="14" name="Text 12"/>
          <p:cNvSpPr txBox="1"/>
          <p:nvPr/>
        </p:nvSpPr>
        <p:spPr>
          <a:xfrm>
            <a:off x="3941064" y="1993392"/>
            <a:ext cx="1280160" cy="685800"/>
          </a:xfrm>
          <a:prstGeom prst="rect">
            <a:avLst/>
          </a:prstGeom>
          <a:noFill/>
          <a:ln/>
        </p:spPr>
        <p:txBody>
          <a:bodyPr wrap="square" lIns="0" tIns="0" rIns="0" bIns="0" rtlCol="0" anchor="t"/>
          <a:lstStyle/>
          <a:p>
            <a:pPr indent="0" marL="0">
              <a:buNone/>
            </a:pPr>
            <a:r>
              <a:rPr lang="en-US" sz="1200" dirty="0">
                <a:solidFill>
                  <a:schemeClr val="tx1"/>
                </a:solidFill>
              </a:rPr>
              <a:t>Context to 1M tokens</a:t>
            </a:r>
            <a:endParaRPr lang="en-US" sz="1200" dirty="0"/>
          </a:p>
        </p:txBody>
      </p:sp>
      <p:sp>
        <p:nvSpPr>
          <p:cNvPr id="15" name="step 4"/>
          <p:cNvSpPr/>
          <p:nvPr/>
        </p:nvSpPr>
        <p:spPr>
          <a:xfrm>
            <a:off x="5477256" y="1143000"/>
            <a:ext cx="1508760" cy="1600200"/>
          </a:xfrm>
          <a:prstGeom prst="roundRect">
            <a:avLst>
              <a:gd name="adj" fmla="val 4848"/>
            </a:avLst>
          </a:prstGeom>
          <a:solidFill>
            <a:schemeClr val="bg2"/>
          </a:solidFill>
          <a:ln w="12700">
            <a:solidFill>
              <a:schemeClr val="bg2"/>
            </a:solidFill>
            <a:prstDash val="solid"/>
          </a:ln>
        </p:spPr>
      </p:sp>
      <p:sp>
        <p:nvSpPr>
          <p:cNvPr id="16" name="Text 14"/>
          <p:cNvSpPr txBox="1"/>
          <p:nvPr/>
        </p:nvSpPr>
        <p:spPr>
          <a:xfrm>
            <a:off x="5614416" y="125272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4</a:t>
            </a:r>
            <a:endParaRPr lang="en-US" sz="1800" dirty="0"/>
          </a:p>
        </p:txBody>
      </p:sp>
      <p:sp>
        <p:nvSpPr>
          <p:cNvPr id="17" name="Text 15"/>
          <p:cNvSpPr txBox="1"/>
          <p:nvPr/>
        </p:nvSpPr>
        <p:spPr>
          <a:xfrm>
            <a:off x="5614416" y="1645920"/>
            <a:ext cx="1280160" cy="320040"/>
          </a:xfrm>
          <a:prstGeom prst="rect">
            <a:avLst/>
          </a:prstGeom>
          <a:noFill/>
          <a:ln/>
        </p:spPr>
        <p:txBody>
          <a:bodyPr wrap="square" lIns="0" tIns="0" rIns="0" bIns="0" rtlCol="0" anchor="t"/>
          <a:lstStyle/>
          <a:p>
            <a:pPr indent="0" marL="0">
              <a:buNone/>
            </a:pPr>
            <a:r>
              <a:rPr lang="en-US" sz="1500" b="1" dirty="0">
                <a:solidFill>
                  <a:schemeClr val="tx2"/>
                </a:solidFill>
              </a:rPr>
              <a:t>SFT</a:t>
            </a:r>
            <a:endParaRPr lang="en-US" sz="1500" dirty="0"/>
          </a:p>
        </p:txBody>
      </p:sp>
      <p:sp>
        <p:nvSpPr>
          <p:cNvPr id="18" name="Text 16"/>
          <p:cNvSpPr txBox="1"/>
          <p:nvPr/>
        </p:nvSpPr>
        <p:spPr>
          <a:xfrm>
            <a:off x="5614416" y="1993392"/>
            <a:ext cx="1280160" cy="685800"/>
          </a:xfrm>
          <a:prstGeom prst="rect">
            <a:avLst/>
          </a:prstGeom>
          <a:noFill/>
          <a:ln/>
        </p:spPr>
        <p:txBody>
          <a:bodyPr wrap="square" lIns="0" tIns="0" rIns="0" bIns="0" rtlCol="0" anchor="t"/>
          <a:lstStyle/>
          <a:p>
            <a:pPr indent="0" marL="0">
              <a:buNone/>
            </a:pPr>
            <a:r>
              <a:rPr lang="en-US" sz="1200" dirty="0">
                <a:solidFill>
                  <a:schemeClr val="tx1"/>
                </a:solidFill>
              </a:rPr>
              <a:t>Tool use &amp; agent traces</a:t>
            </a:r>
            <a:endParaRPr lang="en-US" sz="1200" dirty="0"/>
          </a:p>
        </p:txBody>
      </p:sp>
      <p:sp>
        <p:nvSpPr>
          <p:cNvPr id="19" name="step 5"/>
          <p:cNvSpPr/>
          <p:nvPr/>
        </p:nvSpPr>
        <p:spPr>
          <a:xfrm>
            <a:off x="7150608" y="1143000"/>
            <a:ext cx="1508760" cy="1600200"/>
          </a:xfrm>
          <a:prstGeom prst="roundRect">
            <a:avLst>
              <a:gd name="adj" fmla="val 4848"/>
            </a:avLst>
          </a:prstGeom>
          <a:solidFill>
            <a:schemeClr val="tx2"/>
          </a:solidFill>
          <a:ln w="12700">
            <a:solidFill>
              <a:schemeClr val="tx2"/>
            </a:solidFill>
            <a:prstDash val="solid"/>
          </a:ln>
        </p:spPr>
      </p:sp>
      <p:sp>
        <p:nvSpPr>
          <p:cNvPr id="20" name="Text 18"/>
          <p:cNvSpPr txBox="1"/>
          <p:nvPr/>
        </p:nvSpPr>
        <p:spPr>
          <a:xfrm>
            <a:off x="7287768" y="1252728"/>
            <a:ext cx="457200" cy="365760"/>
          </a:xfrm>
          <a:prstGeom prst="rect">
            <a:avLst/>
          </a:prstGeom>
          <a:noFill/>
          <a:ln/>
        </p:spPr>
        <p:txBody>
          <a:bodyPr wrap="square" lIns="0" tIns="0" rIns="0" bIns="0" rtlCol="0" anchor="t"/>
          <a:lstStyle/>
          <a:p>
            <a:pPr indent="0" marL="0">
              <a:buNone/>
            </a:pPr>
            <a:r>
              <a:rPr lang="en-US" sz="1800" b="1" dirty="0">
                <a:solidFill>
                  <a:schemeClr val="accent1"/>
                </a:solidFill>
              </a:rPr>
              <a:t>5</a:t>
            </a:r>
            <a:endParaRPr lang="en-US" sz="1800" dirty="0"/>
          </a:p>
        </p:txBody>
      </p:sp>
      <p:sp>
        <p:nvSpPr>
          <p:cNvPr id="21" name="Text 19"/>
          <p:cNvSpPr txBox="1"/>
          <p:nvPr/>
        </p:nvSpPr>
        <p:spPr>
          <a:xfrm>
            <a:off x="7287768" y="1645920"/>
            <a:ext cx="1280160" cy="320040"/>
          </a:xfrm>
          <a:prstGeom prst="rect">
            <a:avLst/>
          </a:prstGeom>
          <a:noFill/>
          <a:ln/>
        </p:spPr>
        <p:txBody>
          <a:bodyPr wrap="square" lIns="0" tIns="0" rIns="0" bIns="0" rtlCol="0" anchor="t"/>
          <a:lstStyle/>
          <a:p>
            <a:pPr indent="0" marL="0">
              <a:buNone/>
            </a:pPr>
            <a:r>
              <a:rPr lang="en-US" sz="1500" b="1" dirty="0">
                <a:solidFill>
                  <a:schemeClr val="bg1"/>
                </a:solidFill>
              </a:rPr>
              <a:t>RL</a:t>
            </a:r>
            <a:endParaRPr lang="en-US" sz="1500" dirty="0"/>
          </a:p>
        </p:txBody>
      </p:sp>
      <p:sp>
        <p:nvSpPr>
          <p:cNvPr id="22" name="Text 20"/>
          <p:cNvSpPr txBox="1"/>
          <p:nvPr/>
        </p:nvSpPr>
        <p:spPr>
          <a:xfrm>
            <a:off x="7287768" y="1993392"/>
            <a:ext cx="1280160" cy="685800"/>
          </a:xfrm>
          <a:prstGeom prst="rect">
            <a:avLst/>
          </a:prstGeom>
          <a:noFill/>
          <a:ln/>
        </p:spPr>
        <p:txBody>
          <a:bodyPr wrap="square" lIns="0" tIns="0" rIns="0" bIns="0" rtlCol="0" anchor="t"/>
          <a:lstStyle/>
          <a:p>
            <a:pPr indent="0" marL="0">
              <a:buNone/>
            </a:pPr>
            <a:r>
              <a:rPr lang="en-US" sz="1200" dirty="0">
                <a:solidFill>
                  <a:schemeClr val="bg1"/>
                </a:solidFill>
              </a:rPr>
              <a:t>10,500 GB300 · 4 wks · 100M+ rollouts</a:t>
            </a:r>
            <a:endParaRPr lang="en-US" sz="1200" dirty="0"/>
          </a:p>
        </p:txBody>
      </p:sp>
      <p:graphicFrame>
        <p:nvGraphicFramePr>
          <p:cNvPr id="23" name="gpu hours chart" descr=""/>
          <p:cNvGraphicFramePr/>
          <p:nvPr/>
        </p:nvGraphicFramePr>
        <p:xfrm>
          <a:off x="457200" y="2926080"/>
          <a:ext cx="4754880" cy="1737360"/>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486400" y="3154680"/>
            <a:ext cx="3200400" cy="1371600"/>
          </a:xfrm>
          <a:prstGeom prst="rect">
            <a:avLst/>
          </a:prstGeom>
          <a:noFill/>
          <a:ln/>
        </p:spPr>
        <p:txBody>
          <a:bodyPr wrap="square" lIns="0" tIns="0" rIns="0" bIns="0" rtlCol="0" anchor="t"/>
          <a:lstStyle/>
          <a:p>
            <a:pPr indent="0" marL="0">
              <a:buNone/>
            </a:pPr>
            <a:r>
              <a:rPr lang="en-US" sz="1400" dirty="0">
                <a:solidFill>
                  <a:schemeClr val="tx1"/>
                </a:solidFill>
              </a:rPr>
              <a:t>RL used ~2–3× the GPU-hours of pre-training. Budget for an environment fleet (~1M tasks, ~1.3B sandboxes), not just a training cluster.</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On its own numbers, Beam trails open peers</a:t>
            </a:r>
            <a:endParaRPr lang="en-US" sz="2800" dirty="0"/>
          </a:p>
        </p:txBody>
      </p:sp>
      <p:graphicFrame>
        <p:nvGraphicFramePr>
          <p:cNvPr id="3" name="vendor benchmarks chart" descr=""/>
          <p:cNvGraphicFramePr/>
          <p:nvPr/>
        </p:nvGraphicFramePr>
        <p:xfrm>
          <a:off x="457200" y="1005840"/>
          <a:ext cx="5486400" cy="3611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217920" y="1097280"/>
            <a:ext cx="2468880" cy="3474720"/>
          </a:xfrm>
          <a:prstGeom prst="rect">
            <a:avLst/>
          </a:prstGeom>
          <a:noFill/>
          <a:ln/>
        </p:spPr>
        <p:txBody>
          <a:bodyPr wrap="square" lIns="0" tIns="0" rIns="0" bIns="0" rtlCol="0" anchor="t"/>
          <a:lstStyle/>
          <a:p>
            <a:pPr indent="0" marL="0">
              <a:buNone/>
            </a:pPr>
            <a:r>
              <a:rPr lang="en-US" sz="1400" b="1" dirty="0">
                <a:solidFill>
                  <a:schemeClr val="tx1"/>
                </a:solidFill>
              </a:rPr>
              <a:t>Reflection’s launch table (vendor-reported)</a:t>
            </a:r>
            <a:endParaRPr lang="en-US" sz="1400" dirty="0"/>
          </a:p>
          <a:p>
            <a:pPr indent="0" marL="0">
              <a:buNone/>
            </a:pPr>
            <a:r>
              <a:rPr lang="en-US" sz="1400" dirty="0">
                <a:solidFill>
                  <a:schemeClr val="tx1"/>
                </a:solidFill>
              </a:rPr>
              <a:t>Beam is roughly level with GLM-5.2 on agentic coding and science QA, but behind Kimi K3 and Qwen 3.8 Max on every shared benchmark.</a:t>
            </a:r>
            <a:endParaRPr lang="en-US" sz="1400" dirty="0"/>
          </a:p>
          <a:p>
            <a:pPr indent="0" marL="0">
              <a:buNone/>
            </a:pPr>
            <a:r>
              <a:rPr lang="en-US" sz="1400" dirty="0">
                <a:solidFill>
                  <a:schemeClr val="tx1"/>
                </a:solidFill>
              </a:rPr>
              <a:t> </a:t>
            </a:r>
            <a:endParaRPr lang="en-US" sz="1400" dirty="0"/>
          </a:p>
          <a:p>
            <a:pPr indent="0" marL="0">
              <a:buNone/>
            </a:pPr>
            <a:r>
              <a:rPr lang="en-US" sz="1400" dirty="0">
                <a:solidFill>
                  <a:schemeClr val="tx1"/>
                </a:solidFill>
              </a:rPr>
              <a:t>Its pitch is efficiency: similar quality with 23B active parameters vs. 40–95B for peers.</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Independent tests: a 28-point gap</a:t>
            </a:r>
            <a:endParaRPr lang="en-US" sz="2800" dirty="0"/>
          </a:p>
        </p:txBody>
      </p:sp>
      <p:graphicFrame>
        <p:nvGraphicFramePr>
          <p:cNvPr id="3" name="independent index chart" descr=""/>
          <p:cNvGraphicFramePr/>
          <p:nvPr/>
        </p:nvGraphicFramePr>
        <p:xfrm>
          <a:off x="457200" y="960120"/>
          <a:ext cx="5394960" cy="3703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126480" y="1097280"/>
            <a:ext cx="2560320" cy="34747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Artificial Analysis Intelligence Index, Oct 2026</a:t>
            </a:r>
            <a:endParaRPr lang="en-US" sz="1400" dirty="0"/>
          </a:p>
          <a:p>
            <a:pPr indent="0" marL="0">
              <a:spcAft>
                <a:spcPts val="400"/>
              </a:spcAft>
              <a:buNone/>
            </a:pPr>
            <a:r>
              <a:rPr lang="en-US" sz="1400" dirty="0">
                <a:solidFill>
                  <a:schemeClr val="tx1"/>
                </a:solidFill>
              </a:rPr>
              <a:t>One scale, one harness, 120 models.</a:t>
            </a:r>
            <a:endParaRPr lang="en-US" sz="1400" dirty="0"/>
          </a:p>
          <a:p>
            <a:pPr indent="0" marL="0">
              <a:spcAft>
                <a:spcPts val="400"/>
              </a:spcAft>
              <a:buNone/>
            </a:pPr>
            <a:r>
              <a:rPr lang="en-US" sz="1400" dirty="0">
                <a:solidFill>
                  <a:schemeClr val="tx1"/>
                </a:solidFill>
              </a:rPr>
              <a:t> </a:t>
            </a:r>
            <a:endParaRPr lang="en-US" sz="1400" dirty="0"/>
          </a:p>
          <a:p>
            <a:pPr marL="342900" indent="-342900">
              <a:spcAft>
                <a:spcPts val="400"/>
              </a:spcAft>
              <a:buSzPct val="100000"/>
              <a:buChar char="•"/>
            </a:pPr>
            <a:r>
              <a:rPr lang="en-US" sz="1400" dirty="0">
                <a:solidFill>
                  <a:schemeClr val="tx1"/>
                </a:solidFill>
              </a:rPr>
              <a:t>Closed frontier: 53–58</a:t>
            </a:r>
            <a:endParaRPr lang="en-US" sz="1400" dirty="0"/>
          </a:p>
          <a:p>
            <a:pPr marL="342900" indent="-342900">
              <a:spcAft>
                <a:spcPts val="400"/>
              </a:spcAft>
              <a:buSzPct val="100000"/>
              <a:buChar char="•"/>
            </a:pPr>
            <a:r>
              <a:rPr lang="en-US" sz="1400" dirty="0">
                <a:solidFill>
                  <a:schemeClr val="tx1"/>
                </a:solidFill>
              </a:rPr>
              <a:t>Grok and top Chinese open models: 44–46</a:t>
            </a:r>
            <a:endParaRPr lang="en-US" sz="1400" dirty="0"/>
          </a:p>
          <a:p>
            <a:pPr marL="342900" indent="-342900">
              <a:spcAft>
                <a:spcPts val="400"/>
              </a:spcAft>
              <a:buSzPct val="100000"/>
              <a:buChar char="•"/>
            </a:pPr>
            <a:r>
              <a:rPr lang="en-US" sz="1400" dirty="0">
                <a:solidFill>
                  <a:schemeClr val="tx1"/>
                </a:solidFill>
              </a:rPr>
              <a:t>Beam: 30, but ~40% fewer output tokens than the median</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The vendor landscape</a:t>
            </a:r>
            <a:endParaRPr lang="en-US" sz="2800" dirty="0"/>
          </a:p>
        </p:txBody>
      </p:sp>
      <p:graphicFrame>
        <p:nvGraphicFramePr>
          <p:cNvPr id="10" name="landscape table"/>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914400"/>
        </p:xfrm>
        <a:graphic>
          <a:graphicData uri="http://schemas.openxmlformats.org/drawingml/2006/table">
            <a:tbl>
              <a:tblPr/>
              <a:tblGrid>
                <a:gridCol w="1280160"/>
                <a:gridCol w="1737360"/>
                <a:gridCol w="960120"/>
                <a:gridCol w="822960"/>
                <a:gridCol w="868680"/>
                <a:gridCol w="2560320"/>
              </a:tblGrid>
              <a:tr h="365760">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Vendor</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Flagship</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Weights</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AA Index</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Output $/1M</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latin typeface="Calibri" pitchFamily="34" charset="0"/>
                          <a:ea typeface="Calibri" pitchFamily="34" charset="-122"/>
                          <a:cs typeface="Calibri" pitchFamily="34" charset="-120"/>
                        </a:rPr>
                        <a:t>Edge</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chemeClr val="tx2"/>
                    </a:solidFill>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Anthropic</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Claude Opus 5.5</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58</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$20</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Top capability; 40% enterprise share</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OpenAI</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GPT-6 Astra</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53</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Reach; reasoning</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Google</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Gemini 4 Argon</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52.6</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Multimodal; cloud; cheap Flash tier</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xAI</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Grok 4.7</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$6</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Price and speed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Meta</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Muse Spark / Llama 4</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Closed / open</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Distribution; Llama brand</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China open labs</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MiMo · GLM · Kimi</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44–46</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$0.28+</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Best open scores; lowest prices</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r h="365760">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Reflection</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Beam 1.0</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Open</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b="1" dirty="0">
                          <a:solidFill>
                            <a:schemeClr val="tx1"/>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Partner</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c>
                  <a:txBody>
                    <a:bodyPr/>
                    <a:lstStyle/>
                    <a:p>
                      <a:pPr indent="0" marL="0">
                        <a:buNone/>
                      </a:pPr>
                      <a:r>
                        <a:rPr lang="en-US" sz="1200" dirty="0">
                          <a:solidFill>
                            <a:schemeClr val="tx1"/>
                          </a:solidFill>
                          <a:latin typeface="Calibri" pitchFamily="34" charset="0"/>
                          <a:ea typeface="Calibri" pitchFamily="34" charset="-122"/>
                          <a:cs typeface="Calibri" pitchFamily="34" charset="-120"/>
                        </a:rPr>
                        <a:t>US provenance; efficiency</a:t>
                      </a:r>
                      <a:endParaRPr lang="en-US" sz="1200" dirty="0">
                        <a:latin typeface="Calibri" charset="0"/>
                        <a:ea typeface="Calibri" charset="0"/>
                        <a:cs typeface="Calibri" charset="0"/>
                      </a:endParaRPr>
                    </a:p>
                  </a:txBody>
                  <a:tcPr marL="91440" marR="91440" marT="45720" marB="4572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tcPr>
                </a:tc>
              </a:tr>
            </a:tbl>
          </a:graphicData>
        </a:graphic>
      </p:graphicFrame>
      <p:sp>
        <p:nvSpPr>
          <p:cNvPr id="4" name="Text 1"/>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000" i="1" dirty="0">
                <a:solidFill>
                  <a:schemeClr val="accent4"/>
                </a:solidFill>
              </a:rPr>
              <a:t>Weights “Open” for Reflection = Apache 2.0. Output prices per 1M tokens (aggregators, Oct 2026). Groq (inference hardware) hosts open models and is a deployment partner, not a model competitor.</a:t>
            </a:r>
            <a:endParaRPr lang="en-US" sz="10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Enterprise spend favours closed models</a:t>
            </a:r>
            <a:endParaRPr lang="en-US" sz="2800" dirty="0"/>
          </a:p>
        </p:txBody>
      </p:sp>
      <p:graphicFrame>
        <p:nvGraphicFramePr>
          <p:cNvPr id="3" name="market share chart" descr=""/>
          <p:cNvGraphicFramePr/>
          <p:nvPr/>
        </p:nvGraphicFramePr>
        <p:xfrm>
          <a:off x="457200" y="1005840"/>
          <a:ext cx="4937760" cy="274320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457200" y="3794760"/>
            <a:ext cx="4937760" cy="274320"/>
          </a:xfrm>
          <a:prstGeom prst="rect">
            <a:avLst/>
          </a:prstGeom>
          <a:noFill/>
          <a:ln/>
        </p:spPr>
        <p:txBody>
          <a:bodyPr wrap="square" lIns="0" tIns="0" rIns="0" bIns="0" rtlCol="0" anchor="t"/>
          <a:lstStyle/>
          <a:p>
            <a:pPr indent="0" marL="0">
              <a:buNone/>
            </a:pPr>
            <a:r>
              <a:rPr lang="en-US" sz="1000" i="1" dirty="0">
                <a:solidFill>
                  <a:schemeClr val="accent4"/>
                </a:solidFill>
              </a:rPr>
              <a:t>Source: Menlo Ventures, late 2025. “Google &amp; other closed” is the remainder.</a:t>
            </a:r>
            <a:endParaRPr lang="en-US" sz="1000" dirty="0"/>
          </a:p>
        </p:txBody>
      </p:sp>
      <p:sp>
        <p:nvSpPr>
          <p:cNvPr id="5" name="market stat 1"/>
          <p:cNvSpPr/>
          <p:nvPr/>
        </p:nvSpPr>
        <p:spPr>
          <a:xfrm>
            <a:off x="5760720" y="1051560"/>
            <a:ext cx="2926080" cy="128016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5897880" y="1188720"/>
            <a:ext cx="2651760" cy="54864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$37B</a:t>
            </a:r>
            <a:endParaRPr lang="en-US" sz="2600" dirty="0"/>
          </a:p>
        </p:txBody>
      </p:sp>
      <p:sp>
        <p:nvSpPr>
          <p:cNvPr id="7" name="Text 4"/>
          <p:cNvSpPr txBox="1"/>
          <p:nvPr/>
        </p:nvSpPr>
        <p:spPr>
          <a:xfrm>
            <a:off x="5897880" y="1783080"/>
            <a:ext cx="2651760" cy="457200"/>
          </a:xfrm>
          <a:prstGeom prst="rect">
            <a:avLst/>
          </a:prstGeom>
          <a:noFill/>
          <a:ln/>
        </p:spPr>
        <p:txBody>
          <a:bodyPr wrap="square" lIns="0" tIns="0" rIns="0" bIns="0" rtlCol="0" anchor="t"/>
          <a:lstStyle/>
          <a:p>
            <a:pPr indent="0" marL="0">
              <a:buNone/>
            </a:pPr>
            <a:r>
              <a:rPr lang="en-US" sz="1300" dirty="0">
                <a:solidFill>
                  <a:schemeClr val="tx1"/>
                </a:solidFill>
              </a:rPr>
              <a:t>enterprise gen-AI spend in 2025 (≈3× y/y)</a:t>
            </a:r>
            <a:endParaRPr lang="en-US" sz="1300" dirty="0"/>
          </a:p>
        </p:txBody>
      </p:sp>
      <p:sp>
        <p:nvSpPr>
          <p:cNvPr id="8" name="market stat 2"/>
          <p:cNvSpPr/>
          <p:nvPr/>
        </p:nvSpPr>
        <p:spPr>
          <a:xfrm>
            <a:off x="5760720" y="2514600"/>
            <a:ext cx="2926080" cy="1280160"/>
          </a:xfrm>
          <a:prstGeom prst="roundRect">
            <a:avLst>
              <a:gd name="adj" fmla="val 5714"/>
            </a:avLst>
          </a:prstGeom>
          <a:solidFill>
            <a:schemeClr val="bg2"/>
          </a:solidFill>
          <a:ln w="12700">
            <a:solidFill>
              <a:schemeClr val="bg2"/>
            </a:solidFill>
            <a:prstDash val="solid"/>
          </a:ln>
        </p:spPr>
      </p:sp>
      <p:sp>
        <p:nvSpPr>
          <p:cNvPr id="9" name="Text 6"/>
          <p:cNvSpPr txBox="1"/>
          <p:nvPr/>
        </p:nvSpPr>
        <p:spPr>
          <a:xfrm>
            <a:off x="5897880" y="2651760"/>
            <a:ext cx="2651760" cy="54864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19% → 11%</a:t>
            </a:r>
            <a:endParaRPr lang="en-US" sz="2600" dirty="0"/>
          </a:p>
        </p:txBody>
      </p:sp>
      <p:sp>
        <p:nvSpPr>
          <p:cNvPr id="10" name="Text 7"/>
          <p:cNvSpPr txBox="1"/>
          <p:nvPr/>
        </p:nvSpPr>
        <p:spPr>
          <a:xfrm>
            <a:off x="5897880" y="3246120"/>
            <a:ext cx="2651760" cy="457200"/>
          </a:xfrm>
          <a:prstGeom prst="rect">
            <a:avLst/>
          </a:prstGeom>
          <a:noFill/>
          <a:ln/>
        </p:spPr>
        <p:txBody>
          <a:bodyPr wrap="square" lIns="0" tIns="0" rIns="0" bIns="0" rtlCol="0" anchor="t"/>
          <a:lstStyle/>
          <a:p>
            <a:pPr indent="0" marL="0">
              <a:buNone/>
            </a:pPr>
            <a:r>
              <a:rPr lang="en-US" sz="1300" dirty="0">
                <a:solidFill>
                  <a:schemeClr val="tx1"/>
                </a:solidFill>
              </a:rPr>
              <a:t>open-weight share in one year</a:t>
            </a:r>
            <a:endParaRPr lang="en-US" sz="1300" dirty="0"/>
          </a:p>
        </p:txBody>
      </p:sp>
      <p:sp>
        <p:nvSpPr>
          <p:cNvPr id="11" name="Text 8"/>
          <p:cNvSpPr txBox="1"/>
          <p:nvPr/>
        </p:nvSpPr>
        <p:spPr>
          <a:xfrm>
            <a:off x="457200" y="4114800"/>
            <a:ext cx="8229600" cy="548640"/>
          </a:xfrm>
          <a:prstGeom prst="rect">
            <a:avLst/>
          </a:prstGeom>
          <a:noFill/>
          <a:ln/>
        </p:spPr>
        <p:txBody>
          <a:bodyPr wrap="square" lIns="0" tIns="0" rIns="0" bIns="0" rtlCol="0" anchor="t"/>
          <a:lstStyle/>
          <a:p>
            <a:pPr indent="0" marL="0">
              <a:buNone/>
            </a:pPr>
            <a:r>
              <a:rPr lang="en-US" sz="1400" b="1" dirty="0">
                <a:solidFill>
                  <a:schemeClr val="tx2"/>
                </a:solidFill>
              </a:rPr>
              <a:t>The market is growing fast, but buyers pay for the most capable closed models. An open model has to offer something closed APIs cannot.</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Where a new open model can win</a:t>
            </a:r>
            <a:endParaRPr lang="en-US" sz="2800" dirty="0"/>
          </a:p>
        </p:txBody>
      </p:sp>
      <p:sp>
        <p:nvSpPr>
          <p:cNvPr id="3" name="win card 1"/>
          <p:cNvSpPr/>
          <p:nvPr/>
        </p:nvSpPr>
        <p:spPr>
          <a:xfrm>
            <a:off x="457200" y="1051560"/>
            <a:ext cx="2606040" cy="1645920"/>
          </a:xfrm>
          <a:prstGeom prst="roundRect">
            <a:avLst>
              <a:gd name="adj" fmla="val 4444"/>
            </a:avLst>
          </a:prstGeom>
          <a:solidFill>
            <a:schemeClr val="bg2"/>
          </a:solidFill>
          <a:ln w="12700">
            <a:solidFill>
              <a:schemeClr val="bg2"/>
            </a:solidFill>
            <a:prstDash val="solid"/>
          </a:ln>
        </p:spPr>
      </p:sp>
      <p:sp>
        <p:nvSpPr>
          <p:cNvPr id="4" name="Sovereign &amp; government badge"/>
          <p:cNvSpPr/>
          <p:nvPr/>
        </p:nvSpPr>
        <p:spPr>
          <a:xfrm>
            <a:off x="594360" y="1188720"/>
            <a:ext cx="502920" cy="502920"/>
          </a:xfrm>
          <a:prstGeom prst="ellipse">
            <a:avLst/>
          </a:prstGeom>
          <a:solidFill>
            <a:schemeClr val="accent1"/>
          </a:solidFill>
          <a:ln w="12700">
            <a:solidFill>
              <a:schemeClr val="accent1"/>
            </a:solidFill>
            <a:prstDash val="solid"/>
          </a:ln>
        </p:spPr>
      </p:sp>
      <p:pic>
        <p:nvPicPr>
          <p:cNvPr id="5" name="Sovereign &amp; government icon" descr="preencoded.png">    </p:cNvPr>
          <p:cNvPicPr>
            <a:picLocks noChangeAspect="1"/>
          </p:cNvPicPr>
          <p:nvPr/>
        </p:nvPicPr>
        <p:blipFill>
          <a:blip r:embed="rId1"/>
          <a:stretch>
            <a:fillRect/>
          </a:stretch>
        </p:blipFill>
        <p:spPr>
          <a:xfrm>
            <a:off x="715061" y="1309421"/>
            <a:ext cx="261518" cy="261518"/>
          </a:xfrm>
          <a:prstGeom prst="rect">
            <a:avLst/>
          </a:prstGeom>
        </p:spPr>
      </p:pic>
      <p:sp>
        <p:nvSpPr>
          <p:cNvPr id="6" name="Text 3"/>
          <p:cNvSpPr txBox="1"/>
          <p:nvPr/>
        </p:nvSpPr>
        <p:spPr>
          <a:xfrm>
            <a:off x="1207008" y="123444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Sovereign &amp; government</a:t>
            </a:r>
            <a:endParaRPr lang="en-US" sz="1400" dirty="0"/>
          </a:p>
        </p:txBody>
      </p:sp>
      <p:sp>
        <p:nvSpPr>
          <p:cNvPr id="7" name="Text 4"/>
          <p:cNvSpPr txBox="1"/>
          <p:nvPr/>
        </p:nvSpPr>
        <p:spPr>
          <a:xfrm>
            <a:off x="594360" y="1801368"/>
            <a:ext cx="2377440" cy="822960"/>
          </a:xfrm>
          <a:prstGeom prst="rect">
            <a:avLst/>
          </a:prstGeom>
          <a:noFill/>
          <a:ln/>
        </p:spPr>
        <p:txBody>
          <a:bodyPr wrap="square" lIns="0" tIns="0" rIns="0" bIns="0" rtlCol="0" anchor="t"/>
          <a:lstStyle/>
          <a:p>
            <a:pPr indent="0" marL="0">
              <a:buNone/>
            </a:pPr>
            <a:r>
              <a:rPr lang="en-US" sz="1200" dirty="0">
                <a:solidFill>
                  <a:schemeClr val="tx1"/>
                </a:solidFill>
              </a:rPr>
              <a:t>Allies that cannot procure Chinese weights and need on-prem control</a:t>
            </a:r>
            <a:endParaRPr lang="en-US" sz="1200" dirty="0"/>
          </a:p>
        </p:txBody>
      </p:sp>
      <p:sp>
        <p:nvSpPr>
          <p:cNvPr id="8" name="win card 2"/>
          <p:cNvSpPr/>
          <p:nvPr/>
        </p:nvSpPr>
        <p:spPr>
          <a:xfrm>
            <a:off x="3246120" y="1051560"/>
            <a:ext cx="2606040" cy="1645920"/>
          </a:xfrm>
          <a:prstGeom prst="roundRect">
            <a:avLst>
              <a:gd name="adj" fmla="val 4444"/>
            </a:avLst>
          </a:prstGeom>
          <a:solidFill>
            <a:schemeClr val="bg2"/>
          </a:solidFill>
          <a:ln w="12700">
            <a:solidFill>
              <a:schemeClr val="bg2"/>
            </a:solidFill>
            <a:prstDash val="solid"/>
          </a:ln>
        </p:spPr>
      </p:sp>
      <p:sp>
        <p:nvSpPr>
          <p:cNvPr id="9" name="Regulated industries badge"/>
          <p:cNvSpPr/>
          <p:nvPr/>
        </p:nvSpPr>
        <p:spPr>
          <a:xfrm>
            <a:off x="3383280" y="1188720"/>
            <a:ext cx="502920" cy="502920"/>
          </a:xfrm>
          <a:prstGeom prst="ellipse">
            <a:avLst/>
          </a:prstGeom>
          <a:solidFill>
            <a:schemeClr val="accent1"/>
          </a:solidFill>
          <a:ln w="12700">
            <a:solidFill>
              <a:schemeClr val="accent1"/>
            </a:solidFill>
            <a:prstDash val="solid"/>
          </a:ln>
        </p:spPr>
      </p:sp>
      <p:pic>
        <p:nvPicPr>
          <p:cNvPr id="10" name="Regulated industries icon" descr="preencoded.png">    </p:cNvPr>
          <p:cNvPicPr>
            <a:picLocks noChangeAspect="1"/>
          </p:cNvPicPr>
          <p:nvPr/>
        </p:nvPicPr>
        <p:blipFill>
          <a:blip r:embed="rId2"/>
          <a:stretch>
            <a:fillRect/>
          </a:stretch>
        </p:blipFill>
        <p:spPr>
          <a:xfrm>
            <a:off x="3503981" y="1309421"/>
            <a:ext cx="261518" cy="261518"/>
          </a:xfrm>
          <a:prstGeom prst="rect">
            <a:avLst/>
          </a:prstGeom>
        </p:spPr>
      </p:pic>
      <p:sp>
        <p:nvSpPr>
          <p:cNvPr id="11" name="Text 7"/>
          <p:cNvSpPr txBox="1"/>
          <p:nvPr/>
        </p:nvSpPr>
        <p:spPr>
          <a:xfrm>
            <a:off x="3995928" y="123444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Regulated industries</a:t>
            </a:r>
            <a:endParaRPr lang="en-US" sz="1400" dirty="0"/>
          </a:p>
        </p:txBody>
      </p:sp>
      <p:sp>
        <p:nvSpPr>
          <p:cNvPr id="12" name="Text 8"/>
          <p:cNvSpPr txBox="1"/>
          <p:nvPr/>
        </p:nvSpPr>
        <p:spPr>
          <a:xfrm>
            <a:off x="3383280" y="1801368"/>
            <a:ext cx="2377440" cy="822960"/>
          </a:xfrm>
          <a:prstGeom prst="rect">
            <a:avLst/>
          </a:prstGeom>
          <a:noFill/>
          <a:ln/>
        </p:spPr>
        <p:txBody>
          <a:bodyPr wrap="square" lIns="0" tIns="0" rIns="0" bIns="0" rtlCol="0" anchor="t"/>
          <a:lstStyle/>
          <a:p>
            <a:pPr indent="0" marL="0">
              <a:buNone/>
            </a:pPr>
            <a:r>
              <a:rPr lang="en-US" sz="1200" dirty="0">
                <a:solidFill>
                  <a:schemeClr val="tx1"/>
                </a:solidFill>
              </a:rPr>
              <a:t>Finance, health, defence, legal: residency and audit beat a few index points</a:t>
            </a:r>
            <a:endParaRPr lang="en-US" sz="1200" dirty="0"/>
          </a:p>
        </p:txBody>
      </p:sp>
      <p:sp>
        <p:nvSpPr>
          <p:cNvPr id="13" name="win card 3"/>
          <p:cNvSpPr/>
          <p:nvPr/>
        </p:nvSpPr>
        <p:spPr>
          <a:xfrm>
            <a:off x="6035040" y="1051560"/>
            <a:ext cx="2606040" cy="1645920"/>
          </a:xfrm>
          <a:prstGeom prst="roundRect">
            <a:avLst>
              <a:gd name="adj" fmla="val 4444"/>
            </a:avLst>
          </a:prstGeom>
          <a:solidFill>
            <a:schemeClr val="bg2"/>
          </a:solidFill>
          <a:ln w="12700">
            <a:solidFill>
              <a:schemeClr val="bg2"/>
            </a:solidFill>
            <a:prstDash val="solid"/>
          </a:ln>
        </p:spPr>
      </p:sp>
      <p:sp>
        <p:nvSpPr>
          <p:cNvPr id="14" name="Vertical specialists badge"/>
          <p:cNvSpPr/>
          <p:nvPr/>
        </p:nvSpPr>
        <p:spPr>
          <a:xfrm>
            <a:off x="6172200" y="1188720"/>
            <a:ext cx="502920" cy="502920"/>
          </a:xfrm>
          <a:prstGeom prst="ellipse">
            <a:avLst/>
          </a:prstGeom>
          <a:solidFill>
            <a:schemeClr val="accent1"/>
          </a:solidFill>
          <a:ln w="12700">
            <a:solidFill>
              <a:schemeClr val="accent1"/>
            </a:solidFill>
            <a:prstDash val="solid"/>
          </a:ln>
        </p:spPr>
      </p:sp>
      <p:pic>
        <p:nvPicPr>
          <p:cNvPr id="15" name="Vertical specialists icon" descr="preencoded.png">    </p:cNvPr>
          <p:cNvPicPr>
            <a:picLocks noChangeAspect="1"/>
          </p:cNvPicPr>
          <p:nvPr/>
        </p:nvPicPr>
        <p:blipFill>
          <a:blip r:embed="rId3"/>
          <a:stretch>
            <a:fillRect/>
          </a:stretch>
        </p:blipFill>
        <p:spPr>
          <a:xfrm>
            <a:off x="6292901" y="1309421"/>
            <a:ext cx="261518" cy="261518"/>
          </a:xfrm>
          <a:prstGeom prst="rect">
            <a:avLst/>
          </a:prstGeom>
        </p:spPr>
      </p:pic>
      <p:sp>
        <p:nvSpPr>
          <p:cNvPr id="16" name="Text 11"/>
          <p:cNvSpPr txBox="1"/>
          <p:nvPr/>
        </p:nvSpPr>
        <p:spPr>
          <a:xfrm>
            <a:off x="6784848" y="123444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Vertical specialists</a:t>
            </a:r>
            <a:endParaRPr lang="en-US" sz="1400" dirty="0"/>
          </a:p>
        </p:txBody>
      </p:sp>
      <p:sp>
        <p:nvSpPr>
          <p:cNvPr id="17" name="Text 12"/>
          <p:cNvSpPr txBox="1"/>
          <p:nvPr/>
        </p:nvSpPr>
        <p:spPr>
          <a:xfrm>
            <a:off x="6172200" y="1801368"/>
            <a:ext cx="2377440" cy="822960"/>
          </a:xfrm>
          <a:prstGeom prst="rect">
            <a:avLst/>
          </a:prstGeom>
          <a:noFill/>
          <a:ln/>
        </p:spPr>
        <p:txBody>
          <a:bodyPr wrap="square" lIns="0" tIns="0" rIns="0" bIns="0" rtlCol="0" anchor="t"/>
          <a:lstStyle/>
          <a:p>
            <a:pPr indent="0" marL="0">
              <a:buNone/>
            </a:pPr>
            <a:r>
              <a:rPr lang="en-US" sz="1200" dirty="0">
                <a:solidFill>
                  <a:schemeClr val="tx1"/>
                </a:solidFill>
              </a:rPr>
              <a:t>Post-train on proprietary environments to beat general models on narrow tasks</a:t>
            </a:r>
            <a:endParaRPr lang="en-US" sz="1200" dirty="0"/>
          </a:p>
        </p:txBody>
      </p:sp>
      <p:sp>
        <p:nvSpPr>
          <p:cNvPr id="18" name="win card 4"/>
          <p:cNvSpPr/>
          <p:nvPr/>
        </p:nvSpPr>
        <p:spPr>
          <a:xfrm>
            <a:off x="457200" y="2834640"/>
            <a:ext cx="2606040" cy="1645920"/>
          </a:xfrm>
          <a:prstGeom prst="roundRect">
            <a:avLst>
              <a:gd name="adj" fmla="val 4444"/>
            </a:avLst>
          </a:prstGeom>
          <a:solidFill>
            <a:schemeClr val="bg2"/>
          </a:solidFill>
          <a:ln w="12700">
            <a:solidFill>
              <a:schemeClr val="bg2"/>
            </a:solidFill>
            <a:prstDash val="solid"/>
          </a:ln>
        </p:spPr>
      </p:sp>
      <p:sp>
        <p:nvSpPr>
          <p:cNvPr id="19" name="High-volume agents badge"/>
          <p:cNvSpPr/>
          <p:nvPr/>
        </p:nvSpPr>
        <p:spPr>
          <a:xfrm>
            <a:off x="594360" y="2971800"/>
            <a:ext cx="502920" cy="502920"/>
          </a:xfrm>
          <a:prstGeom prst="ellipse">
            <a:avLst/>
          </a:prstGeom>
          <a:solidFill>
            <a:schemeClr val="accent1"/>
          </a:solidFill>
          <a:ln w="12700">
            <a:solidFill>
              <a:schemeClr val="accent1"/>
            </a:solidFill>
            <a:prstDash val="solid"/>
          </a:ln>
        </p:spPr>
      </p:sp>
      <p:pic>
        <p:nvPicPr>
          <p:cNvPr id="20" name="High-volume agents icon" descr="preencoded.png">    </p:cNvPr>
          <p:cNvPicPr>
            <a:picLocks noChangeAspect="1"/>
          </p:cNvPicPr>
          <p:nvPr/>
        </p:nvPicPr>
        <p:blipFill>
          <a:blip r:embed="rId4"/>
          <a:stretch>
            <a:fillRect/>
          </a:stretch>
        </p:blipFill>
        <p:spPr>
          <a:xfrm>
            <a:off x="715061" y="3092501"/>
            <a:ext cx="261518" cy="261518"/>
          </a:xfrm>
          <a:prstGeom prst="rect">
            <a:avLst/>
          </a:prstGeom>
        </p:spPr>
      </p:pic>
      <p:sp>
        <p:nvSpPr>
          <p:cNvPr id="21" name="Text 15"/>
          <p:cNvSpPr txBox="1"/>
          <p:nvPr/>
        </p:nvSpPr>
        <p:spPr>
          <a:xfrm>
            <a:off x="1207008" y="301752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High-volume agents</a:t>
            </a:r>
            <a:endParaRPr lang="en-US" sz="1400" dirty="0"/>
          </a:p>
        </p:txBody>
      </p:sp>
      <p:sp>
        <p:nvSpPr>
          <p:cNvPr id="22" name="Text 16"/>
          <p:cNvSpPr txBox="1"/>
          <p:nvPr/>
        </p:nvSpPr>
        <p:spPr>
          <a:xfrm>
            <a:off x="594360" y="3584448"/>
            <a:ext cx="2377440" cy="822960"/>
          </a:xfrm>
          <a:prstGeom prst="rect">
            <a:avLst/>
          </a:prstGeom>
          <a:noFill/>
          <a:ln/>
        </p:spPr>
        <p:txBody>
          <a:bodyPr wrap="square" lIns="0" tIns="0" rIns="0" bIns="0" rtlCol="0" anchor="t"/>
          <a:lstStyle/>
          <a:p>
            <a:pPr indent="0" marL="0">
              <a:buNone/>
            </a:pPr>
            <a:r>
              <a:rPr lang="en-US" sz="1200" dirty="0">
                <a:solidFill>
                  <a:schemeClr val="tx1"/>
                </a:solidFill>
              </a:rPr>
              <a:t>Coding and automation agents where cost per token dominates</a:t>
            </a:r>
            <a:endParaRPr lang="en-US" sz="1200" dirty="0"/>
          </a:p>
        </p:txBody>
      </p:sp>
      <p:sp>
        <p:nvSpPr>
          <p:cNvPr id="23" name="win card 5"/>
          <p:cNvSpPr/>
          <p:nvPr/>
        </p:nvSpPr>
        <p:spPr>
          <a:xfrm>
            <a:off x="3246120" y="2834640"/>
            <a:ext cx="2606040" cy="1645920"/>
          </a:xfrm>
          <a:prstGeom prst="roundRect">
            <a:avLst>
              <a:gd name="adj" fmla="val 4444"/>
            </a:avLst>
          </a:prstGeom>
          <a:solidFill>
            <a:schemeClr val="bg2"/>
          </a:solidFill>
          <a:ln w="12700">
            <a:solidFill>
              <a:schemeClr val="bg2"/>
            </a:solidFill>
            <a:prstDash val="solid"/>
          </a:ln>
        </p:spPr>
      </p:sp>
      <p:sp>
        <p:nvSpPr>
          <p:cNvPr id="24" name="Under-served languages badge"/>
          <p:cNvSpPr/>
          <p:nvPr/>
        </p:nvSpPr>
        <p:spPr>
          <a:xfrm>
            <a:off x="3383280" y="2971800"/>
            <a:ext cx="502920" cy="502920"/>
          </a:xfrm>
          <a:prstGeom prst="ellipse">
            <a:avLst/>
          </a:prstGeom>
          <a:solidFill>
            <a:schemeClr val="accent1"/>
          </a:solidFill>
          <a:ln w="12700">
            <a:solidFill>
              <a:schemeClr val="accent1"/>
            </a:solidFill>
            <a:prstDash val="solid"/>
          </a:ln>
        </p:spPr>
      </p:sp>
      <p:pic>
        <p:nvPicPr>
          <p:cNvPr id="25" name="Under-served languages icon" descr="preencoded.png">    </p:cNvPr>
          <p:cNvPicPr>
            <a:picLocks noChangeAspect="1"/>
          </p:cNvPicPr>
          <p:nvPr/>
        </p:nvPicPr>
        <p:blipFill>
          <a:blip r:embed="rId5"/>
          <a:stretch>
            <a:fillRect/>
          </a:stretch>
        </p:blipFill>
        <p:spPr>
          <a:xfrm>
            <a:off x="3503981" y="3092501"/>
            <a:ext cx="261518" cy="261518"/>
          </a:xfrm>
          <a:prstGeom prst="rect">
            <a:avLst/>
          </a:prstGeom>
        </p:spPr>
      </p:pic>
      <p:sp>
        <p:nvSpPr>
          <p:cNvPr id="26" name="Text 19"/>
          <p:cNvSpPr txBox="1"/>
          <p:nvPr/>
        </p:nvSpPr>
        <p:spPr>
          <a:xfrm>
            <a:off x="3995928" y="301752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Under-served languages</a:t>
            </a:r>
            <a:endParaRPr lang="en-US" sz="1400" dirty="0"/>
          </a:p>
        </p:txBody>
      </p:sp>
      <p:sp>
        <p:nvSpPr>
          <p:cNvPr id="27" name="Text 20"/>
          <p:cNvSpPr txBox="1"/>
          <p:nvPr/>
        </p:nvSpPr>
        <p:spPr>
          <a:xfrm>
            <a:off x="3383280" y="3584448"/>
            <a:ext cx="2377440" cy="822960"/>
          </a:xfrm>
          <a:prstGeom prst="rect">
            <a:avLst/>
          </a:prstGeom>
          <a:noFill/>
          <a:ln/>
        </p:spPr>
        <p:txBody>
          <a:bodyPr wrap="square" lIns="0" tIns="0" rIns="0" bIns="0" rtlCol="0" anchor="t"/>
          <a:lstStyle/>
          <a:p>
            <a:pPr indent="0" marL="0">
              <a:buNone/>
            </a:pPr>
            <a:r>
              <a:rPr lang="en-US" sz="1200" dirty="0">
                <a:solidFill>
                  <a:schemeClr val="tx1"/>
                </a:solidFill>
              </a:rPr>
              <a:t>Hebrew, Arabic, regional European languages via targeted data</a:t>
            </a:r>
            <a:endParaRPr lang="en-US" sz="1200" dirty="0"/>
          </a:p>
        </p:txBody>
      </p:sp>
      <p:sp>
        <p:nvSpPr>
          <p:cNvPr id="28" name="win card 6"/>
          <p:cNvSpPr/>
          <p:nvPr/>
        </p:nvSpPr>
        <p:spPr>
          <a:xfrm>
            <a:off x="6035040" y="2834640"/>
            <a:ext cx="2606040" cy="1645920"/>
          </a:xfrm>
          <a:prstGeom prst="roundRect">
            <a:avLst>
              <a:gd name="adj" fmla="val 4444"/>
            </a:avLst>
          </a:prstGeom>
          <a:solidFill>
            <a:schemeClr val="bg2"/>
          </a:solidFill>
          <a:ln w="12700">
            <a:solidFill>
              <a:schemeClr val="bg2"/>
            </a:solidFill>
            <a:prstDash val="solid"/>
          </a:ln>
        </p:spPr>
      </p:sp>
      <p:sp>
        <p:nvSpPr>
          <p:cNvPr id="29" name="Customisation badge"/>
          <p:cNvSpPr/>
          <p:nvPr/>
        </p:nvSpPr>
        <p:spPr>
          <a:xfrm>
            <a:off x="6172200" y="2971800"/>
            <a:ext cx="502920" cy="502920"/>
          </a:xfrm>
          <a:prstGeom prst="ellipse">
            <a:avLst/>
          </a:prstGeom>
          <a:solidFill>
            <a:schemeClr val="accent1"/>
          </a:solidFill>
          <a:ln w="12700">
            <a:solidFill>
              <a:schemeClr val="accent1"/>
            </a:solidFill>
            <a:prstDash val="solid"/>
          </a:ln>
        </p:spPr>
      </p:sp>
      <p:pic>
        <p:nvPicPr>
          <p:cNvPr id="30" name="Customisation icon" descr="preencoded.png">    </p:cNvPr>
          <p:cNvPicPr>
            <a:picLocks noChangeAspect="1"/>
          </p:cNvPicPr>
          <p:nvPr/>
        </p:nvPicPr>
        <p:blipFill>
          <a:blip r:embed="rId6"/>
          <a:stretch>
            <a:fillRect/>
          </a:stretch>
        </p:blipFill>
        <p:spPr>
          <a:xfrm>
            <a:off x="6292901" y="3092501"/>
            <a:ext cx="261518" cy="261518"/>
          </a:xfrm>
          <a:prstGeom prst="rect">
            <a:avLst/>
          </a:prstGeom>
        </p:spPr>
      </p:pic>
      <p:sp>
        <p:nvSpPr>
          <p:cNvPr id="31" name="Text 23"/>
          <p:cNvSpPr txBox="1"/>
          <p:nvPr/>
        </p:nvSpPr>
        <p:spPr>
          <a:xfrm>
            <a:off x="6784848" y="3017520"/>
            <a:ext cx="1783080" cy="457200"/>
          </a:xfrm>
          <a:prstGeom prst="rect">
            <a:avLst/>
          </a:prstGeom>
          <a:noFill/>
          <a:ln/>
        </p:spPr>
        <p:txBody>
          <a:bodyPr wrap="square" lIns="0" tIns="0" rIns="0" bIns="0" rtlCol="0" anchor="ctr"/>
          <a:lstStyle/>
          <a:p>
            <a:pPr indent="0" marL="0">
              <a:buNone/>
            </a:pPr>
            <a:r>
              <a:rPr lang="en-US" sz="1400" b="1" dirty="0">
                <a:solidFill>
                  <a:schemeClr val="tx2"/>
                </a:solidFill>
              </a:rPr>
              <a:t>Customisation</a:t>
            </a:r>
            <a:endParaRPr lang="en-US" sz="1400" dirty="0"/>
          </a:p>
        </p:txBody>
      </p:sp>
      <p:sp>
        <p:nvSpPr>
          <p:cNvPr id="32" name="Text 24"/>
          <p:cNvSpPr txBox="1"/>
          <p:nvPr/>
        </p:nvSpPr>
        <p:spPr>
          <a:xfrm>
            <a:off x="6172200" y="3584448"/>
            <a:ext cx="2377440" cy="822960"/>
          </a:xfrm>
          <a:prstGeom prst="rect">
            <a:avLst/>
          </a:prstGeom>
          <a:noFill/>
          <a:ln/>
        </p:spPr>
        <p:txBody>
          <a:bodyPr wrap="square" lIns="0" tIns="0" rIns="0" bIns="0" rtlCol="0" anchor="t"/>
          <a:lstStyle/>
          <a:p>
            <a:pPr indent="0" marL="0">
              <a:buNone/>
            </a:pPr>
            <a:r>
              <a:rPr lang="en-US" sz="1200" dirty="0">
                <a:solidFill>
                  <a:schemeClr val="tx1"/>
                </a:solidFill>
              </a:rPr>
              <a:t>Full fine-tuning, RL on customer tasks, predictable pricing</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Three levels of ambition</a:t>
            </a:r>
            <a:endParaRPr lang="en-US" sz="2800" dirty="0"/>
          </a:p>
        </p:txBody>
      </p:sp>
      <p:sp>
        <p:nvSpPr>
          <p:cNvPr id="3" name="level card 1"/>
          <p:cNvSpPr/>
          <p:nvPr/>
        </p:nvSpPr>
        <p:spPr>
          <a:xfrm>
            <a:off x="457200" y="1051560"/>
            <a:ext cx="2606040" cy="324612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40080" y="1188720"/>
            <a:ext cx="2286000" cy="274320"/>
          </a:xfrm>
          <a:prstGeom prst="rect">
            <a:avLst/>
          </a:prstGeom>
          <a:noFill/>
          <a:ln/>
        </p:spPr>
        <p:txBody>
          <a:bodyPr wrap="square" lIns="0" tIns="0" rIns="0" bIns="0" rtlCol="0" anchor="t"/>
          <a:lstStyle/>
          <a:p>
            <a:pPr indent="0" marL="0">
              <a:buNone/>
            </a:pPr>
            <a:r>
              <a:rPr lang="en-US" sz="1200" b="1" dirty="0">
                <a:solidFill>
                  <a:schemeClr val="accent1"/>
                </a:solidFill>
              </a:rPr>
              <a:t>Level 1</a:t>
            </a:r>
            <a:endParaRPr lang="en-US" sz="1200" dirty="0"/>
          </a:p>
        </p:txBody>
      </p:sp>
      <p:sp>
        <p:nvSpPr>
          <p:cNvPr id="5" name="Text 3"/>
          <p:cNvSpPr txBox="1"/>
          <p:nvPr/>
        </p:nvSpPr>
        <p:spPr>
          <a:xfrm>
            <a:off x="640080" y="1463040"/>
            <a:ext cx="2286000" cy="411480"/>
          </a:xfrm>
          <a:prstGeom prst="rect">
            <a:avLst/>
          </a:prstGeom>
          <a:noFill/>
          <a:ln/>
        </p:spPr>
        <p:txBody>
          <a:bodyPr wrap="square" lIns="0" tIns="0" rIns="0" bIns="0" rtlCol="0" anchor="t"/>
          <a:lstStyle/>
          <a:p>
            <a:pPr indent="0" marL="0">
              <a:buNone/>
            </a:pPr>
            <a:r>
              <a:rPr lang="en-US" sz="1800" b="1" dirty="0">
                <a:solidFill>
                  <a:schemeClr val="tx2"/>
                </a:solidFill>
              </a:rPr>
              <a:t>Beam parity</a:t>
            </a:r>
            <a:endParaRPr lang="en-US" sz="1800" dirty="0"/>
          </a:p>
        </p:txBody>
      </p:sp>
      <p:sp>
        <p:nvSpPr>
          <p:cNvPr id="6" name="Text 4"/>
          <p:cNvSpPr txBox="1"/>
          <p:nvPr/>
        </p:nvSpPr>
        <p:spPr>
          <a:xfrm>
            <a:off x="640080" y="1965960"/>
            <a:ext cx="2286000" cy="50292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AA ≈ 30</a:t>
            </a:r>
            <a:endParaRPr lang="en-US" sz="2600" dirty="0"/>
          </a:p>
        </p:txBody>
      </p:sp>
      <p:sp>
        <p:nvSpPr>
          <p:cNvPr id="7" name="Text 5"/>
          <p:cNvSpPr txBox="1"/>
          <p:nvPr/>
        </p:nvSpPr>
        <p:spPr>
          <a:xfrm>
            <a:off x="640080" y="2606040"/>
            <a:ext cx="2286000" cy="685800"/>
          </a:xfrm>
          <a:prstGeom prst="rect">
            <a:avLst/>
          </a:prstGeom>
          <a:noFill/>
          <a:ln/>
        </p:spPr>
        <p:txBody>
          <a:bodyPr wrap="square" lIns="0" tIns="0" rIns="0" bIns="0" rtlCol="0" anchor="t"/>
          <a:lstStyle/>
          <a:p>
            <a:pPr indent="0" marL="0">
              <a:buNone/>
            </a:pPr>
            <a:r>
              <a:rPr lang="en-US" sz="1300" dirty="0">
                <a:solidFill>
                  <a:schemeClr val="tx2"/>
                </a:solidFill>
              </a:rPr>
              <a:t>~500B total / 23B active; Beam KPIs</a:t>
            </a:r>
            <a:endParaRPr lang="en-US" sz="1300" dirty="0"/>
          </a:p>
        </p:txBody>
      </p:sp>
      <p:sp>
        <p:nvSpPr>
          <p:cNvPr id="8" name="Text 6"/>
          <p:cNvSpPr txBox="1"/>
          <p:nvPr/>
        </p:nvSpPr>
        <p:spPr>
          <a:xfrm>
            <a:off x="640080" y="3566160"/>
            <a:ext cx="2286000" cy="548640"/>
          </a:xfrm>
          <a:prstGeom prst="rect">
            <a:avLst/>
          </a:prstGeom>
          <a:noFill/>
          <a:ln/>
        </p:spPr>
        <p:txBody>
          <a:bodyPr wrap="square" lIns="0" tIns="0" rIns="0" bIns="0" rtlCol="0" anchor="t"/>
          <a:lstStyle/>
          <a:p>
            <a:pPr indent="0" marL="0">
              <a:buNone/>
            </a:pPr>
            <a:r>
              <a:rPr lang="en-US" sz="1300" b="1" dirty="0">
                <a:solidFill>
                  <a:schemeClr val="tx2"/>
                </a:solidFill>
              </a:rPr>
              <a:t>2-yr cost: </a:t>
            </a:r>
            <a:pPr indent="0" marL="0">
              <a:buNone/>
            </a:pPr>
            <a:r>
              <a:rPr lang="en-US" sz="1300" dirty="0">
                <a:solidFill>
                  <a:schemeClr val="tx2"/>
                </a:solidFill>
              </a:rPr>
              <a:t>$11M–$175M</a:t>
            </a:r>
            <a:endParaRPr lang="en-US" sz="1300" dirty="0"/>
          </a:p>
        </p:txBody>
      </p:sp>
      <p:sp>
        <p:nvSpPr>
          <p:cNvPr id="9" name="level card 2"/>
          <p:cNvSpPr/>
          <p:nvPr/>
        </p:nvSpPr>
        <p:spPr>
          <a:xfrm>
            <a:off x="3246120" y="1051560"/>
            <a:ext cx="2606040" cy="3246120"/>
          </a:xfrm>
          <a:prstGeom prst="roundRect">
            <a:avLst>
              <a:gd name="adj" fmla="val 2807"/>
            </a:avLst>
          </a:prstGeom>
          <a:solidFill>
            <a:schemeClr val="bg2"/>
          </a:solidFill>
          <a:ln w="12700">
            <a:solidFill>
              <a:schemeClr val="bg2"/>
            </a:solidFill>
            <a:prstDash val="solid"/>
          </a:ln>
        </p:spPr>
      </p:sp>
      <p:sp>
        <p:nvSpPr>
          <p:cNvPr id="10" name="Text 8"/>
          <p:cNvSpPr txBox="1"/>
          <p:nvPr/>
        </p:nvSpPr>
        <p:spPr>
          <a:xfrm>
            <a:off x="3429000" y="1188720"/>
            <a:ext cx="2286000" cy="274320"/>
          </a:xfrm>
          <a:prstGeom prst="rect">
            <a:avLst/>
          </a:prstGeom>
          <a:noFill/>
          <a:ln/>
        </p:spPr>
        <p:txBody>
          <a:bodyPr wrap="square" lIns="0" tIns="0" rIns="0" bIns="0" rtlCol="0" anchor="t"/>
          <a:lstStyle/>
          <a:p>
            <a:pPr indent="0" marL="0">
              <a:buNone/>
            </a:pPr>
            <a:r>
              <a:rPr lang="en-US" sz="1200" b="1" dirty="0">
                <a:solidFill>
                  <a:schemeClr val="accent1"/>
                </a:solidFill>
              </a:rPr>
              <a:t>Level 2</a:t>
            </a:r>
            <a:endParaRPr lang="en-US" sz="1200" dirty="0"/>
          </a:p>
        </p:txBody>
      </p:sp>
      <p:sp>
        <p:nvSpPr>
          <p:cNvPr id="11" name="Text 9"/>
          <p:cNvSpPr txBox="1"/>
          <p:nvPr/>
        </p:nvSpPr>
        <p:spPr>
          <a:xfrm>
            <a:off x="3429000" y="1463040"/>
            <a:ext cx="2286000" cy="411480"/>
          </a:xfrm>
          <a:prstGeom prst="rect">
            <a:avLst/>
          </a:prstGeom>
          <a:noFill/>
          <a:ln/>
        </p:spPr>
        <p:txBody>
          <a:bodyPr wrap="square" lIns="0" tIns="0" rIns="0" bIns="0" rtlCol="0" anchor="t"/>
          <a:lstStyle/>
          <a:p>
            <a:pPr indent="0" marL="0">
              <a:buNone/>
            </a:pPr>
            <a:r>
              <a:rPr lang="en-US" sz="1800" b="1" dirty="0">
                <a:solidFill>
                  <a:schemeClr val="tx2"/>
                </a:solidFill>
              </a:rPr>
              <a:t>Open-frontier parity</a:t>
            </a:r>
            <a:endParaRPr lang="en-US" sz="1800" dirty="0"/>
          </a:p>
        </p:txBody>
      </p:sp>
      <p:sp>
        <p:nvSpPr>
          <p:cNvPr id="12" name="Text 10"/>
          <p:cNvSpPr txBox="1"/>
          <p:nvPr/>
        </p:nvSpPr>
        <p:spPr>
          <a:xfrm>
            <a:off x="3429000" y="1965960"/>
            <a:ext cx="2286000" cy="502920"/>
          </a:xfrm>
          <a:prstGeom prst="rect">
            <a:avLst/>
          </a:prstGeom>
          <a:noFill/>
          <a:ln/>
        </p:spPr>
        <p:txBody>
          <a:bodyPr wrap="square" lIns="0" tIns="0" rIns="0" bIns="0" rtlCol="0" anchor="t"/>
          <a:lstStyle/>
          <a:p>
            <a:pPr indent="0" marL="0">
              <a:buNone/>
            </a:pPr>
            <a:r>
              <a:rPr lang="en-US" sz="2600" b="1" dirty="0">
                <a:solidFill>
                  <a:schemeClr val="accent2"/>
                </a:solidFill>
                <a:latin typeface="Arial" pitchFamily="34" charset="0"/>
                <a:ea typeface="Arial" pitchFamily="34" charset="-122"/>
                <a:cs typeface="Arial" pitchFamily="34" charset="-120"/>
              </a:rPr>
              <a:t>AA ≈ 45</a:t>
            </a:r>
            <a:endParaRPr lang="en-US" sz="2600" dirty="0"/>
          </a:p>
        </p:txBody>
      </p:sp>
      <p:sp>
        <p:nvSpPr>
          <p:cNvPr id="13" name="Text 11"/>
          <p:cNvSpPr txBox="1"/>
          <p:nvPr/>
        </p:nvSpPr>
        <p:spPr>
          <a:xfrm>
            <a:off x="3429000" y="2606040"/>
            <a:ext cx="2286000" cy="685800"/>
          </a:xfrm>
          <a:prstGeom prst="rect">
            <a:avLst/>
          </a:prstGeom>
          <a:noFill/>
          <a:ln/>
        </p:spPr>
        <p:txBody>
          <a:bodyPr wrap="square" lIns="0" tIns="0" rIns="0" bIns="0" rtlCol="0" anchor="t"/>
          <a:lstStyle/>
          <a:p>
            <a:pPr indent="0" marL="0">
              <a:buNone/>
            </a:pPr>
            <a:r>
              <a:rPr lang="en-US" sz="1300" dirty="0">
                <a:solidFill>
                  <a:schemeClr val="tx2"/>
                </a:solidFill>
              </a:rPr>
              <a:t>1–2T total / 40–60B active; 30T+ tokens</a:t>
            </a:r>
            <a:endParaRPr lang="en-US" sz="1300" dirty="0"/>
          </a:p>
        </p:txBody>
      </p:sp>
      <p:sp>
        <p:nvSpPr>
          <p:cNvPr id="14" name="Text 12"/>
          <p:cNvSpPr txBox="1"/>
          <p:nvPr/>
        </p:nvSpPr>
        <p:spPr>
          <a:xfrm>
            <a:off x="3429000" y="3566160"/>
            <a:ext cx="2286000" cy="548640"/>
          </a:xfrm>
          <a:prstGeom prst="rect">
            <a:avLst/>
          </a:prstGeom>
          <a:noFill/>
          <a:ln/>
        </p:spPr>
        <p:txBody>
          <a:bodyPr wrap="square" lIns="0" tIns="0" rIns="0" bIns="0" rtlCol="0" anchor="t"/>
          <a:lstStyle/>
          <a:p>
            <a:pPr indent="0" marL="0">
              <a:buNone/>
            </a:pPr>
            <a:r>
              <a:rPr lang="en-US" sz="1300" b="1" dirty="0">
                <a:solidFill>
                  <a:schemeClr val="tx2"/>
                </a:solidFill>
              </a:rPr>
              <a:t>2-yr cost: </a:t>
            </a:r>
            <a:pPr indent="0" marL="0">
              <a:buNone/>
            </a:pPr>
            <a:r>
              <a:rPr lang="en-US" sz="1300" dirty="0">
                <a:solidFill>
                  <a:schemeClr val="tx2"/>
                </a:solidFill>
              </a:rPr>
              <a:t>$300–500M</a:t>
            </a:r>
            <a:endParaRPr lang="en-US" sz="1300" dirty="0"/>
          </a:p>
        </p:txBody>
      </p:sp>
      <p:sp>
        <p:nvSpPr>
          <p:cNvPr id="15" name="level card 3"/>
          <p:cNvSpPr/>
          <p:nvPr/>
        </p:nvSpPr>
        <p:spPr>
          <a:xfrm>
            <a:off x="6035040" y="1051560"/>
            <a:ext cx="2606040" cy="3246120"/>
          </a:xfrm>
          <a:prstGeom prst="roundRect">
            <a:avLst>
              <a:gd name="adj" fmla="val 2807"/>
            </a:avLst>
          </a:prstGeom>
          <a:solidFill>
            <a:schemeClr val="tx2"/>
          </a:solidFill>
          <a:ln w="12700">
            <a:solidFill>
              <a:schemeClr val="tx2"/>
            </a:solidFill>
            <a:prstDash val="solid"/>
          </a:ln>
        </p:spPr>
      </p:sp>
      <p:sp>
        <p:nvSpPr>
          <p:cNvPr id="16" name="Text 14"/>
          <p:cNvSpPr txBox="1"/>
          <p:nvPr/>
        </p:nvSpPr>
        <p:spPr>
          <a:xfrm>
            <a:off x="6217920" y="1188720"/>
            <a:ext cx="2286000" cy="274320"/>
          </a:xfrm>
          <a:prstGeom prst="rect">
            <a:avLst/>
          </a:prstGeom>
          <a:noFill/>
          <a:ln/>
        </p:spPr>
        <p:txBody>
          <a:bodyPr wrap="square" lIns="0" tIns="0" rIns="0" bIns="0" rtlCol="0" anchor="t"/>
          <a:lstStyle/>
          <a:p>
            <a:pPr indent="0" marL="0">
              <a:buNone/>
            </a:pPr>
            <a:r>
              <a:rPr lang="en-US" sz="1200" b="1" dirty="0">
                <a:solidFill>
                  <a:schemeClr val="accent1"/>
                </a:solidFill>
              </a:rPr>
              <a:t>Level 3</a:t>
            </a:r>
            <a:endParaRPr lang="en-US" sz="1200" dirty="0"/>
          </a:p>
        </p:txBody>
      </p:sp>
      <p:sp>
        <p:nvSpPr>
          <p:cNvPr id="17" name="Text 15"/>
          <p:cNvSpPr txBox="1"/>
          <p:nvPr/>
        </p:nvSpPr>
        <p:spPr>
          <a:xfrm>
            <a:off x="6217920" y="1463040"/>
            <a:ext cx="2286000" cy="411480"/>
          </a:xfrm>
          <a:prstGeom prst="rect">
            <a:avLst/>
          </a:prstGeom>
          <a:noFill/>
          <a:ln/>
        </p:spPr>
        <p:txBody>
          <a:bodyPr wrap="square" lIns="0" tIns="0" rIns="0" bIns="0" rtlCol="0" anchor="t"/>
          <a:lstStyle/>
          <a:p>
            <a:pPr indent="0" marL="0">
              <a:buNone/>
            </a:pPr>
            <a:r>
              <a:rPr lang="en-US" sz="1800" b="1" dirty="0">
                <a:solidFill>
                  <a:schemeClr val="bg1"/>
                </a:solidFill>
              </a:rPr>
              <a:t>Frontier challenger</a:t>
            </a:r>
            <a:endParaRPr lang="en-US" sz="1800" dirty="0"/>
          </a:p>
        </p:txBody>
      </p:sp>
      <p:sp>
        <p:nvSpPr>
          <p:cNvPr id="18" name="Text 16"/>
          <p:cNvSpPr txBox="1"/>
          <p:nvPr/>
        </p:nvSpPr>
        <p:spPr>
          <a:xfrm>
            <a:off x="6217920" y="1965960"/>
            <a:ext cx="2286000" cy="502920"/>
          </a:xfrm>
          <a:prstGeom prst="rect">
            <a:avLst/>
          </a:prstGeom>
          <a:noFill/>
          <a:ln/>
        </p:spPr>
        <p:txBody>
          <a:bodyPr wrap="square" lIns="0" tIns="0" rIns="0" bIns="0" rtlCol="0" anchor="t"/>
          <a:lstStyle/>
          <a:p>
            <a:pPr indent="0" marL="0">
              <a:buNone/>
            </a:pPr>
            <a:r>
              <a:rPr lang="en-US" sz="2600" b="1" dirty="0">
                <a:solidFill>
                  <a:schemeClr val="accent1"/>
                </a:solidFill>
                <a:latin typeface="Arial" pitchFamily="34" charset="0"/>
                <a:ea typeface="Arial" pitchFamily="34" charset="-122"/>
                <a:cs typeface="Arial" pitchFamily="34" charset="-120"/>
              </a:rPr>
              <a:t>AA ≥ 53</a:t>
            </a:r>
            <a:endParaRPr lang="en-US" sz="2600" dirty="0"/>
          </a:p>
        </p:txBody>
      </p:sp>
      <p:sp>
        <p:nvSpPr>
          <p:cNvPr id="19" name="Text 17"/>
          <p:cNvSpPr txBox="1"/>
          <p:nvPr/>
        </p:nvSpPr>
        <p:spPr>
          <a:xfrm>
            <a:off x="6217920" y="2606040"/>
            <a:ext cx="2286000" cy="685800"/>
          </a:xfrm>
          <a:prstGeom prst="rect">
            <a:avLst/>
          </a:prstGeom>
          <a:noFill/>
          <a:ln/>
        </p:spPr>
        <p:txBody>
          <a:bodyPr wrap="square" lIns="0" tIns="0" rIns="0" bIns="0" rtlCol="0" anchor="t"/>
          <a:lstStyle/>
          <a:p>
            <a:pPr indent="0" marL="0">
              <a:buNone/>
            </a:pPr>
            <a:r>
              <a:rPr lang="en-US" sz="1300" dirty="0">
                <a:solidFill>
                  <a:schemeClr val="bg1"/>
                </a:solidFill>
              </a:rPr>
              <a:t>Multi-trillion params; 10^25–10^26 FLOPs</a:t>
            </a:r>
            <a:endParaRPr lang="en-US" sz="1300" dirty="0"/>
          </a:p>
        </p:txBody>
      </p:sp>
      <p:sp>
        <p:nvSpPr>
          <p:cNvPr id="20" name="Text 18"/>
          <p:cNvSpPr txBox="1"/>
          <p:nvPr/>
        </p:nvSpPr>
        <p:spPr>
          <a:xfrm>
            <a:off x="6217920" y="3566160"/>
            <a:ext cx="2286000" cy="548640"/>
          </a:xfrm>
          <a:prstGeom prst="rect">
            <a:avLst/>
          </a:prstGeom>
          <a:noFill/>
          <a:ln/>
        </p:spPr>
        <p:txBody>
          <a:bodyPr wrap="square" lIns="0" tIns="0" rIns="0" bIns="0" rtlCol="0" anchor="t"/>
          <a:lstStyle/>
          <a:p>
            <a:pPr indent="0" marL="0">
              <a:buNone/>
            </a:pPr>
            <a:r>
              <a:rPr lang="en-US" sz="1300" b="1" dirty="0">
                <a:solidFill>
                  <a:schemeClr val="bg1"/>
                </a:solidFill>
              </a:rPr>
              <a:t>2-yr cost: </a:t>
            </a:r>
            <a:pPr indent="0" marL="0">
              <a:buNone/>
            </a:pPr>
            <a:r>
              <a:rPr lang="en-US" sz="1300" dirty="0">
                <a:solidFill>
                  <a:schemeClr val="bg1"/>
                </a:solidFill>
              </a:rPr>
              <a:t>$1B+ per generation</a:t>
            </a:r>
            <a:endParaRPr lang="en-US" sz="1300" dirty="0"/>
          </a:p>
        </p:txBody>
      </p:sp>
      <p:sp>
        <p:nvSpPr>
          <p:cNvPr id="21" name="Text 19"/>
          <p:cNvSpPr txBox="1"/>
          <p:nvPr/>
        </p:nvSpPr>
        <p:spPr>
          <a:xfrm>
            <a:off x="457200" y="4370832"/>
            <a:ext cx="8229600" cy="365760"/>
          </a:xfrm>
          <a:prstGeom prst="rect">
            <a:avLst/>
          </a:prstGeom>
          <a:noFill/>
          <a:ln/>
        </p:spPr>
        <p:txBody>
          <a:bodyPr wrap="square" lIns="0" tIns="0" rIns="0" bIns="0" rtlCol="0" anchor="t"/>
          <a:lstStyle/>
          <a:p>
            <a:pPr indent="0" marL="0">
              <a:buNone/>
            </a:pPr>
            <a:r>
              <a:rPr lang="en-US" sz="1300" b="1" dirty="0">
                <a:solidFill>
                  <a:schemeClr val="tx2"/>
                </a:solidFill>
              </a:rPr>
              <a:t>Recommendation: commit to Level 1 now; treat Level 2 as a funded option after proof of demand. Level 3 is a hyperscaler-scale bet.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Three routes to a Beam-class model</a:t>
            </a:r>
            <a:endParaRPr lang="en-US" sz="2800" dirty="0"/>
          </a:p>
        </p:txBody>
      </p:sp>
      <p:graphicFrame>
        <p:nvGraphicFramePr>
          <p:cNvPr id="3" name="options cost chart" descr=""/>
          <p:cNvGraphicFramePr/>
          <p:nvPr/>
        </p:nvGraphicFramePr>
        <p:xfrm>
          <a:off x="457200" y="960120"/>
          <a:ext cx="5120640" cy="3703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5852160" y="1051560"/>
            <a:ext cx="2834640" cy="320040"/>
          </a:xfrm>
          <a:prstGeom prst="rect">
            <a:avLst/>
          </a:prstGeom>
          <a:noFill/>
          <a:ln/>
        </p:spPr>
        <p:txBody>
          <a:bodyPr wrap="square" lIns="0" tIns="0" rIns="0" bIns="0" rtlCol="0" anchor="t"/>
          <a:lstStyle/>
          <a:p>
            <a:pPr indent="0" marL="0">
              <a:buNone/>
            </a:pPr>
            <a:r>
              <a:rPr lang="en-US" sz="1400" b="1" dirty="0">
                <a:solidFill>
                  <a:schemeClr val="tx2"/>
                </a:solidFill>
              </a:rPr>
              <a:t>A · ≈$11M · 3–6 months</a:t>
            </a:r>
            <a:endParaRPr lang="en-US" sz="1400" dirty="0"/>
          </a:p>
        </p:txBody>
      </p:sp>
      <p:sp>
        <p:nvSpPr>
          <p:cNvPr id="5" name="Text 2"/>
          <p:cNvSpPr txBox="1"/>
          <p:nvPr/>
        </p:nvSpPr>
        <p:spPr>
          <a:xfrm>
            <a:off x="5852160" y="1399032"/>
            <a:ext cx="2834640" cy="685800"/>
          </a:xfrm>
          <a:prstGeom prst="rect">
            <a:avLst/>
          </a:prstGeom>
          <a:noFill/>
          <a:ln/>
        </p:spPr>
        <p:txBody>
          <a:bodyPr wrap="square" lIns="0" tIns="0" rIns="0" bIns="0" rtlCol="0" anchor="t"/>
          <a:lstStyle/>
          <a:p>
            <a:pPr indent="0" marL="0">
              <a:buNone/>
            </a:pPr>
            <a:r>
              <a:rPr lang="en-US" sz="1300" dirty="0">
                <a:solidFill>
                  <a:schemeClr val="tx1"/>
                </a:solidFill>
              </a:rPr>
              <a:t>SFT + RL on Beam weights for a niche; 15–25 people</a:t>
            </a:r>
            <a:endParaRPr lang="en-US" sz="1300" dirty="0"/>
          </a:p>
        </p:txBody>
      </p:sp>
      <p:sp>
        <p:nvSpPr>
          <p:cNvPr id="6" name="Text 3"/>
          <p:cNvSpPr txBox="1"/>
          <p:nvPr/>
        </p:nvSpPr>
        <p:spPr>
          <a:xfrm>
            <a:off x="5852160" y="2240280"/>
            <a:ext cx="2834640" cy="320040"/>
          </a:xfrm>
          <a:prstGeom prst="rect">
            <a:avLst/>
          </a:prstGeom>
          <a:noFill/>
          <a:ln/>
        </p:spPr>
        <p:txBody>
          <a:bodyPr wrap="square" lIns="0" tIns="0" rIns="0" bIns="0" rtlCol="0" anchor="t"/>
          <a:lstStyle/>
          <a:p>
            <a:pPr indent="0" marL="0">
              <a:buNone/>
            </a:pPr>
            <a:r>
              <a:rPr lang="en-US" sz="1400" b="1" dirty="0">
                <a:solidFill>
                  <a:schemeClr val="tx2"/>
                </a:solidFill>
              </a:rPr>
              <a:t>B · ≈$56M · 9–12 months</a:t>
            </a:r>
            <a:endParaRPr lang="en-US" sz="1400" dirty="0"/>
          </a:p>
        </p:txBody>
      </p:sp>
      <p:sp>
        <p:nvSpPr>
          <p:cNvPr id="7" name="Text 4"/>
          <p:cNvSpPr txBox="1"/>
          <p:nvPr/>
        </p:nvSpPr>
        <p:spPr>
          <a:xfrm>
            <a:off x="5852160" y="2587752"/>
            <a:ext cx="2834640" cy="685800"/>
          </a:xfrm>
          <a:prstGeom prst="rect">
            <a:avLst/>
          </a:prstGeom>
          <a:noFill/>
          <a:ln/>
        </p:spPr>
        <p:txBody>
          <a:bodyPr wrap="square" lIns="0" tIns="0" rIns="0" bIns="0" rtlCol="0" anchor="t"/>
          <a:lstStyle/>
          <a:p>
            <a:pPr indent="0" marL="0">
              <a:buNone/>
            </a:pPr>
            <a:r>
              <a:rPr lang="en-US" sz="1300" dirty="0">
                <a:solidFill>
                  <a:schemeClr val="tx1"/>
                </a:solidFill>
              </a:rPr>
              <a:t>Add 3–6T domain tokens + full RL; 40–60 people</a:t>
            </a:r>
            <a:endParaRPr lang="en-US" sz="1300" dirty="0"/>
          </a:p>
        </p:txBody>
      </p:sp>
      <p:sp>
        <p:nvSpPr>
          <p:cNvPr id="8" name="Text 5"/>
          <p:cNvSpPr txBox="1"/>
          <p:nvPr/>
        </p:nvSpPr>
        <p:spPr>
          <a:xfrm>
            <a:off x="5852160" y="3429000"/>
            <a:ext cx="2834640" cy="320040"/>
          </a:xfrm>
          <a:prstGeom prst="rect">
            <a:avLst/>
          </a:prstGeom>
          <a:noFill/>
          <a:ln/>
        </p:spPr>
        <p:txBody>
          <a:bodyPr wrap="square" lIns="0" tIns="0" rIns="0" bIns="0" rtlCol="0" anchor="t"/>
          <a:lstStyle/>
          <a:p>
            <a:pPr indent="0" marL="0">
              <a:buNone/>
            </a:pPr>
            <a:r>
              <a:rPr lang="en-US" sz="1400" b="1" dirty="0">
                <a:solidFill>
                  <a:schemeClr val="tx2"/>
                </a:solidFill>
              </a:rPr>
              <a:t>C · ≈$175M · 15–18 months</a:t>
            </a:r>
            <a:endParaRPr lang="en-US" sz="1400" dirty="0"/>
          </a:p>
        </p:txBody>
      </p:sp>
      <p:sp>
        <p:nvSpPr>
          <p:cNvPr id="9" name="Text 6"/>
          <p:cNvSpPr txBox="1"/>
          <p:nvPr/>
        </p:nvSpPr>
        <p:spPr>
          <a:xfrm>
            <a:off x="5852160" y="3776472"/>
            <a:ext cx="2834640" cy="685800"/>
          </a:xfrm>
          <a:prstGeom prst="rect">
            <a:avLst/>
          </a:prstGeom>
          <a:noFill/>
          <a:ln/>
        </p:spPr>
        <p:txBody>
          <a:bodyPr wrap="square" lIns="0" tIns="0" rIns="0" bIns="0" rtlCol="0" anchor="t"/>
          <a:lstStyle/>
          <a:p>
            <a:pPr indent="0" marL="0">
              <a:buNone/>
            </a:pPr>
            <a:r>
              <a:rPr lang="en-US" sz="1300" dirty="0">
                <a:solidFill>
                  <a:schemeClr val="tx1"/>
                </a:solidFill>
              </a:rPr>
              <a:t>Own model, ~11–14M GPU-hours; 80–120 people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Staged roadmap with decision gates</a:t>
            </a:r>
            <a:endParaRPr lang="en-US" sz="2800" dirty="0"/>
          </a:p>
        </p:txBody>
      </p:sp>
      <p:sp>
        <p:nvSpPr>
          <p:cNvPr id="3" name="timeline axis"/>
          <p:cNvSpPr/>
          <p:nvPr/>
        </p:nvSpPr>
        <p:spPr>
          <a:xfrm>
            <a:off x="731520" y="2148840"/>
            <a:ext cx="7680960" cy="0"/>
          </a:xfrm>
          <a:prstGeom prst="line">
            <a:avLst/>
          </a:prstGeom>
          <a:noFill/>
          <a:ln w="25400">
            <a:solidFill>
              <a:schemeClr val="accent4"/>
            </a:solidFill>
            <a:prstDash val="solid"/>
          </a:ln>
        </p:spPr>
      </p:sp>
      <p:sp>
        <p:nvSpPr>
          <p:cNvPr id="4" name="gate 1"/>
          <p:cNvSpPr/>
          <p:nvPr/>
        </p:nvSpPr>
        <p:spPr>
          <a:xfrm>
            <a:off x="1024128" y="1984248"/>
            <a:ext cx="329184" cy="329184"/>
          </a:xfrm>
          <a:prstGeom prst="ellipse">
            <a:avLst/>
          </a:prstGeom>
          <a:solidFill>
            <a:schemeClr val="accent2"/>
          </a:solidFill>
          <a:ln w="25400">
            <a:solidFill>
              <a:schemeClr val="bg1"/>
            </a:solidFill>
            <a:prstDash val="solid"/>
          </a:ln>
        </p:spPr>
      </p:sp>
      <p:sp>
        <p:nvSpPr>
          <p:cNvPr id="5" name="Text 3"/>
          <p:cNvSpPr txBox="1"/>
          <p:nvPr/>
        </p:nvSpPr>
        <p:spPr>
          <a:xfrm>
            <a:off x="457200" y="1417320"/>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Month 1</a:t>
            </a:r>
            <a:endParaRPr lang="en-US" sz="1200" dirty="0"/>
          </a:p>
        </p:txBody>
      </p:sp>
      <p:sp>
        <p:nvSpPr>
          <p:cNvPr id="6" name="Text 4"/>
          <p:cNvSpPr txBox="1"/>
          <p:nvPr/>
        </p:nvSpPr>
        <p:spPr>
          <a:xfrm>
            <a:off x="457200" y="169164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G0 Baseline</a:t>
            </a:r>
            <a:endParaRPr lang="en-US" sz="1400" dirty="0"/>
          </a:p>
        </p:txBody>
      </p:sp>
      <p:sp>
        <p:nvSpPr>
          <p:cNvPr id="7" name="gate detail 1"/>
          <p:cNvSpPr/>
          <p:nvPr/>
        </p:nvSpPr>
        <p:spPr>
          <a:xfrm>
            <a:off x="457200" y="2560320"/>
            <a:ext cx="1463040" cy="1188720"/>
          </a:xfrm>
          <a:prstGeom prst="roundRect">
            <a:avLst>
              <a:gd name="adj" fmla="val 6154"/>
            </a:avLst>
          </a:prstGeom>
          <a:solidFill>
            <a:schemeClr val="bg2"/>
          </a:solidFill>
          <a:ln w="12700">
            <a:solidFill>
              <a:schemeClr val="bg2"/>
            </a:solidFill>
            <a:prstDash val="solid"/>
          </a:ln>
        </p:spPr>
      </p:sp>
      <p:sp>
        <p:nvSpPr>
          <p:cNvPr id="8" name="Text 6"/>
          <p:cNvSpPr txBox="1"/>
          <p:nvPr/>
        </p:nvSpPr>
        <p:spPr>
          <a:xfrm>
            <a:off x="566928" y="2670048"/>
            <a:ext cx="1243584" cy="1280160"/>
          </a:xfrm>
          <a:prstGeom prst="rect">
            <a:avLst/>
          </a:prstGeom>
          <a:noFill/>
          <a:ln/>
        </p:spPr>
        <p:txBody>
          <a:bodyPr wrap="square" lIns="0" tIns="0" rIns="0" bIns="0" rtlCol="0" anchor="t"/>
          <a:lstStyle/>
          <a:p>
            <a:pPr indent="0" marL="0">
              <a:buNone/>
            </a:pPr>
            <a:r>
              <a:rPr lang="en-US" sz="1200" dirty="0">
                <a:solidFill>
                  <a:schemeClr val="tx1"/>
                </a:solidFill>
              </a:rPr>
              <a:t>Reproduce Beam &amp; peers on our own harness</a:t>
            </a:r>
            <a:endParaRPr lang="en-US" sz="1200" dirty="0"/>
          </a:p>
        </p:txBody>
      </p:sp>
      <p:sp>
        <p:nvSpPr>
          <p:cNvPr id="9" name="gate 2"/>
          <p:cNvSpPr/>
          <p:nvPr/>
        </p:nvSpPr>
        <p:spPr>
          <a:xfrm>
            <a:off x="2697480" y="1984248"/>
            <a:ext cx="329184" cy="329184"/>
          </a:xfrm>
          <a:prstGeom prst="ellipse">
            <a:avLst/>
          </a:prstGeom>
          <a:solidFill>
            <a:schemeClr val="accent2"/>
          </a:solidFill>
          <a:ln w="25400">
            <a:solidFill>
              <a:schemeClr val="bg1"/>
            </a:solidFill>
            <a:prstDash val="solid"/>
          </a:ln>
        </p:spPr>
      </p:sp>
      <p:sp>
        <p:nvSpPr>
          <p:cNvPr id="10" name="Text 8"/>
          <p:cNvSpPr txBox="1"/>
          <p:nvPr/>
        </p:nvSpPr>
        <p:spPr>
          <a:xfrm>
            <a:off x="2130552" y="1417320"/>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Month 6</a:t>
            </a:r>
            <a:endParaRPr lang="en-US" sz="1200" dirty="0"/>
          </a:p>
        </p:txBody>
      </p:sp>
      <p:sp>
        <p:nvSpPr>
          <p:cNvPr id="11" name="Text 9"/>
          <p:cNvSpPr txBox="1"/>
          <p:nvPr/>
        </p:nvSpPr>
        <p:spPr>
          <a:xfrm>
            <a:off x="2130552" y="169164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G1 Adapt</a:t>
            </a:r>
            <a:endParaRPr lang="en-US" sz="1400" dirty="0"/>
          </a:p>
        </p:txBody>
      </p:sp>
      <p:sp>
        <p:nvSpPr>
          <p:cNvPr id="12" name="gate detail 2"/>
          <p:cNvSpPr/>
          <p:nvPr/>
        </p:nvSpPr>
        <p:spPr>
          <a:xfrm>
            <a:off x="2130552" y="2560320"/>
            <a:ext cx="1463040" cy="1188720"/>
          </a:xfrm>
          <a:prstGeom prst="roundRect">
            <a:avLst>
              <a:gd name="adj" fmla="val 6154"/>
            </a:avLst>
          </a:prstGeom>
          <a:solidFill>
            <a:schemeClr val="bg2"/>
          </a:solidFill>
          <a:ln w="12700">
            <a:solidFill>
              <a:schemeClr val="bg2"/>
            </a:solidFill>
            <a:prstDash val="solid"/>
          </a:ln>
        </p:spPr>
      </p:sp>
      <p:sp>
        <p:nvSpPr>
          <p:cNvPr id="13" name="Text 11"/>
          <p:cNvSpPr txBox="1"/>
          <p:nvPr/>
        </p:nvSpPr>
        <p:spPr>
          <a:xfrm>
            <a:off x="2240280" y="2670048"/>
            <a:ext cx="1243584" cy="1280160"/>
          </a:xfrm>
          <a:prstGeom prst="rect">
            <a:avLst/>
          </a:prstGeom>
          <a:noFill/>
          <a:ln/>
        </p:spPr>
        <p:txBody>
          <a:bodyPr wrap="square" lIns="0" tIns="0" rIns="0" bIns="0" rtlCol="0" anchor="t"/>
          <a:lstStyle/>
          <a:p>
            <a:pPr indent="0" marL="0">
              <a:buNone/>
            </a:pPr>
            <a:r>
              <a:rPr lang="en-US" sz="1200" dirty="0">
                <a:solidFill>
                  <a:schemeClr val="tx1"/>
                </a:solidFill>
              </a:rPr>
              <a:t>Adapted Beam +5 pts on domain evals; first paying pilot</a:t>
            </a:r>
            <a:endParaRPr lang="en-US" sz="1200" dirty="0"/>
          </a:p>
        </p:txBody>
      </p:sp>
      <p:sp>
        <p:nvSpPr>
          <p:cNvPr id="14" name="gate 3"/>
          <p:cNvSpPr/>
          <p:nvPr/>
        </p:nvSpPr>
        <p:spPr>
          <a:xfrm>
            <a:off x="4370832" y="1984248"/>
            <a:ext cx="329184" cy="329184"/>
          </a:xfrm>
          <a:prstGeom prst="ellipse">
            <a:avLst/>
          </a:prstGeom>
          <a:solidFill>
            <a:schemeClr val="accent1"/>
          </a:solidFill>
          <a:ln w="25400">
            <a:solidFill>
              <a:schemeClr val="bg1"/>
            </a:solidFill>
            <a:prstDash val="solid"/>
          </a:ln>
        </p:spPr>
      </p:sp>
      <p:sp>
        <p:nvSpPr>
          <p:cNvPr id="15" name="Text 13"/>
          <p:cNvSpPr txBox="1"/>
          <p:nvPr/>
        </p:nvSpPr>
        <p:spPr>
          <a:xfrm>
            <a:off x="3803904" y="1417320"/>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Month 9</a:t>
            </a:r>
            <a:endParaRPr lang="en-US" sz="1200" dirty="0"/>
          </a:p>
        </p:txBody>
      </p:sp>
      <p:sp>
        <p:nvSpPr>
          <p:cNvPr id="16" name="Text 14"/>
          <p:cNvSpPr txBox="1"/>
          <p:nvPr/>
        </p:nvSpPr>
        <p:spPr>
          <a:xfrm>
            <a:off x="3803904" y="169164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G2 Scale?</a:t>
            </a:r>
            <a:endParaRPr lang="en-US" sz="1400" dirty="0"/>
          </a:p>
        </p:txBody>
      </p:sp>
      <p:sp>
        <p:nvSpPr>
          <p:cNvPr id="17" name="gate detail 3"/>
          <p:cNvSpPr/>
          <p:nvPr/>
        </p:nvSpPr>
        <p:spPr>
          <a:xfrm>
            <a:off x="3803904" y="2560320"/>
            <a:ext cx="1463040" cy="1188720"/>
          </a:xfrm>
          <a:prstGeom prst="roundRect">
            <a:avLst>
              <a:gd name="adj" fmla="val 6154"/>
            </a:avLst>
          </a:prstGeom>
          <a:solidFill>
            <a:schemeClr val="bg2"/>
          </a:solidFill>
          <a:ln w="12700">
            <a:solidFill>
              <a:schemeClr val="bg2"/>
            </a:solidFill>
            <a:prstDash val="solid"/>
          </a:ln>
        </p:spPr>
      </p:sp>
      <p:sp>
        <p:nvSpPr>
          <p:cNvPr id="18" name="Text 16"/>
          <p:cNvSpPr txBox="1"/>
          <p:nvPr/>
        </p:nvSpPr>
        <p:spPr>
          <a:xfrm>
            <a:off x="3913632" y="2670048"/>
            <a:ext cx="1243584" cy="1280160"/>
          </a:xfrm>
          <a:prstGeom prst="rect">
            <a:avLst/>
          </a:prstGeom>
          <a:noFill/>
          <a:ln/>
        </p:spPr>
        <p:txBody>
          <a:bodyPr wrap="square" lIns="0" tIns="0" rIns="0" bIns="0" rtlCol="0" anchor="t"/>
          <a:lstStyle/>
          <a:p>
            <a:pPr indent="0" marL="0">
              <a:buNone/>
            </a:pPr>
            <a:r>
              <a:rPr lang="en-US" sz="1200" dirty="0">
                <a:solidFill>
                  <a:schemeClr val="tx1"/>
                </a:solidFill>
              </a:rPr>
              <a:t>Pilot model hits scaling targets; 20T tokens; ≥$150M funding</a:t>
            </a:r>
            <a:endParaRPr lang="en-US" sz="1200" dirty="0"/>
          </a:p>
        </p:txBody>
      </p:sp>
      <p:sp>
        <p:nvSpPr>
          <p:cNvPr id="19" name="gate 4"/>
          <p:cNvSpPr/>
          <p:nvPr/>
        </p:nvSpPr>
        <p:spPr>
          <a:xfrm>
            <a:off x="6044184" y="1984248"/>
            <a:ext cx="329184" cy="329184"/>
          </a:xfrm>
          <a:prstGeom prst="ellipse">
            <a:avLst/>
          </a:prstGeom>
          <a:solidFill>
            <a:schemeClr val="accent2"/>
          </a:solidFill>
          <a:ln w="25400">
            <a:solidFill>
              <a:schemeClr val="bg1"/>
            </a:solidFill>
            <a:prstDash val="solid"/>
          </a:ln>
        </p:spPr>
      </p:sp>
      <p:sp>
        <p:nvSpPr>
          <p:cNvPr id="20" name="Text 18"/>
          <p:cNvSpPr txBox="1"/>
          <p:nvPr/>
        </p:nvSpPr>
        <p:spPr>
          <a:xfrm>
            <a:off x="5477256" y="1417320"/>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Month 11</a:t>
            </a:r>
            <a:endParaRPr lang="en-US" sz="1200" dirty="0"/>
          </a:p>
        </p:txBody>
      </p:sp>
      <p:sp>
        <p:nvSpPr>
          <p:cNvPr id="21" name="Text 19"/>
          <p:cNvSpPr txBox="1"/>
          <p:nvPr/>
        </p:nvSpPr>
        <p:spPr>
          <a:xfrm>
            <a:off x="5477256" y="169164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G3 Pre-train</a:t>
            </a:r>
            <a:endParaRPr lang="en-US" sz="1400" dirty="0"/>
          </a:p>
        </p:txBody>
      </p:sp>
      <p:sp>
        <p:nvSpPr>
          <p:cNvPr id="22" name="gate detail 4"/>
          <p:cNvSpPr/>
          <p:nvPr/>
        </p:nvSpPr>
        <p:spPr>
          <a:xfrm>
            <a:off x="5477256" y="2560320"/>
            <a:ext cx="1463040" cy="1188720"/>
          </a:xfrm>
          <a:prstGeom prst="roundRect">
            <a:avLst>
              <a:gd name="adj" fmla="val 6154"/>
            </a:avLst>
          </a:prstGeom>
          <a:solidFill>
            <a:schemeClr val="bg2"/>
          </a:solidFill>
          <a:ln w="12700">
            <a:solidFill>
              <a:schemeClr val="bg2"/>
            </a:solidFill>
            <a:prstDash val="solid"/>
          </a:ln>
        </p:spPr>
      </p:sp>
      <p:sp>
        <p:nvSpPr>
          <p:cNvPr id="23" name="Text 21"/>
          <p:cNvSpPr txBox="1"/>
          <p:nvPr/>
        </p:nvSpPr>
        <p:spPr>
          <a:xfrm>
            <a:off x="5586984" y="2670048"/>
            <a:ext cx="1243584" cy="1280160"/>
          </a:xfrm>
          <a:prstGeom prst="rect">
            <a:avLst/>
          </a:prstGeom>
          <a:noFill/>
          <a:ln/>
        </p:spPr>
        <p:txBody>
          <a:bodyPr wrap="square" lIns="0" tIns="0" rIns="0" bIns="0" rtlCol="0" anchor="t"/>
          <a:lstStyle/>
          <a:p>
            <a:pPr indent="0" marL="0">
              <a:buNone/>
            </a:pPr>
            <a:r>
              <a:rPr lang="en-US" sz="1200" dirty="0">
                <a:solidFill>
                  <a:schemeClr val="tx1"/>
                </a:solidFill>
              </a:rPr>
              <a:t>Stable full training run under way</a:t>
            </a:r>
            <a:endParaRPr lang="en-US" sz="1200" dirty="0"/>
          </a:p>
        </p:txBody>
      </p:sp>
      <p:sp>
        <p:nvSpPr>
          <p:cNvPr id="24" name="gate 5"/>
          <p:cNvSpPr/>
          <p:nvPr/>
        </p:nvSpPr>
        <p:spPr>
          <a:xfrm>
            <a:off x="7717536" y="1984248"/>
            <a:ext cx="329184" cy="329184"/>
          </a:xfrm>
          <a:prstGeom prst="ellipse">
            <a:avLst/>
          </a:prstGeom>
          <a:solidFill>
            <a:schemeClr val="accent2"/>
          </a:solidFill>
          <a:ln w="25400">
            <a:solidFill>
              <a:schemeClr val="bg1"/>
            </a:solidFill>
            <a:prstDash val="solid"/>
          </a:ln>
        </p:spPr>
      </p:sp>
      <p:sp>
        <p:nvSpPr>
          <p:cNvPr id="25" name="Text 23"/>
          <p:cNvSpPr txBox="1"/>
          <p:nvPr/>
        </p:nvSpPr>
        <p:spPr>
          <a:xfrm>
            <a:off x="7150608" y="1417320"/>
            <a:ext cx="1463040" cy="274320"/>
          </a:xfrm>
          <a:prstGeom prst="rect">
            <a:avLst/>
          </a:prstGeom>
          <a:noFill/>
          <a:ln/>
        </p:spPr>
        <p:txBody>
          <a:bodyPr wrap="square" lIns="0" tIns="0" rIns="0" bIns="0" rtlCol="0" anchor="t"/>
          <a:lstStyle/>
          <a:p>
            <a:pPr algn="ctr" indent="0" marL="0">
              <a:buNone/>
            </a:pPr>
            <a:r>
              <a:rPr lang="en-US" sz="1200" dirty="0">
                <a:solidFill>
                  <a:schemeClr val="accent4"/>
                </a:solidFill>
              </a:rPr>
              <a:t>Month 17</a:t>
            </a:r>
            <a:endParaRPr lang="en-US" sz="1200" dirty="0"/>
          </a:p>
        </p:txBody>
      </p:sp>
      <p:sp>
        <p:nvSpPr>
          <p:cNvPr id="26" name="Text 24"/>
          <p:cNvSpPr txBox="1"/>
          <p:nvPr/>
        </p:nvSpPr>
        <p:spPr>
          <a:xfrm>
            <a:off x="7150608" y="1691640"/>
            <a:ext cx="1463040" cy="274320"/>
          </a:xfrm>
          <a:prstGeom prst="rect">
            <a:avLst/>
          </a:prstGeom>
          <a:noFill/>
          <a:ln/>
        </p:spPr>
        <p:txBody>
          <a:bodyPr wrap="square" lIns="0" tIns="0" rIns="0" bIns="0" rtlCol="0" anchor="t"/>
          <a:lstStyle/>
          <a:p>
            <a:pPr algn="ctr" indent="0" marL="0">
              <a:buNone/>
            </a:pPr>
            <a:r>
              <a:rPr lang="en-US" sz="1400" b="1" dirty="0">
                <a:solidFill>
                  <a:schemeClr val="tx2"/>
                </a:solidFill>
              </a:rPr>
              <a:t>G4 Release</a:t>
            </a:r>
            <a:endParaRPr lang="en-US" sz="1400" dirty="0"/>
          </a:p>
        </p:txBody>
      </p:sp>
      <p:sp>
        <p:nvSpPr>
          <p:cNvPr id="27" name="gate detail 5"/>
          <p:cNvSpPr/>
          <p:nvPr/>
        </p:nvSpPr>
        <p:spPr>
          <a:xfrm>
            <a:off x="7150608" y="2560320"/>
            <a:ext cx="1463040" cy="1188720"/>
          </a:xfrm>
          <a:prstGeom prst="roundRect">
            <a:avLst>
              <a:gd name="adj" fmla="val 6154"/>
            </a:avLst>
          </a:prstGeom>
          <a:solidFill>
            <a:schemeClr val="bg2"/>
          </a:solidFill>
          <a:ln w="12700">
            <a:solidFill>
              <a:schemeClr val="bg2"/>
            </a:solidFill>
            <a:prstDash val="solid"/>
          </a:ln>
        </p:spPr>
      </p:sp>
      <p:sp>
        <p:nvSpPr>
          <p:cNvPr id="28" name="Text 26"/>
          <p:cNvSpPr txBox="1"/>
          <p:nvPr/>
        </p:nvSpPr>
        <p:spPr>
          <a:xfrm>
            <a:off x="7260336" y="2670048"/>
            <a:ext cx="1243584" cy="1280160"/>
          </a:xfrm>
          <a:prstGeom prst="rect">
            <a:avLst/>
          </a:prstGeom>
          <a:noFill/>
          <a:ln/>
        </p:spPr>
        <p:txBody>
          <a:bodyPr wrap="square" lIns="0" tIns="0" rIns="0" bIns="0" rtlCol="0" anchor="t"/>
          <a:lstStyle/>
          <a:p>
            <a:pPr indent="0" marL="0">
              <a:buNone/>
            </a:pPr>
            <a:r>
              <a:rPr lang="en-US" sz="1200" dirty="0">
                <a:solidFill>
                  <a:schemeClr val="tx1"/>
                </a:solidFill>
              </a:rPr>
              <a:t>Level 1 KPIs met independently; safety report; partners</a:t>
            </a:r>
            <a:endParaRPr lang="en-US" sz="1200" dirty="0"/>
          </a:p>
        </p:txBody>
      </p:sp>
      <p:sp>
        <p:nvSpPr>
          <p:cNvPr id="29" name="Text 27"/>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300" b="1" dirty="0">
                <a:solidFill>
                  <a:schemeClr val="tx2"/>
                </a:solidFill>
              </a:rPr>
              <a:t>G2 is the key investment decision: only proceed to a from-scratch model if Stage 1 shows demand and funding is secured.</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Key risks and how we manage them</a:t>
            </a:r>
            <a:endParaRPr lang="en-US" sz="2800" dirty="0"/>
          </a:p>
        </p:txBody>
      </p:sp>
      <p:sp>
        <p:nvSpPr>
          <p:cNvPr id="3" name="risk card 1"/>
          <p:cNvSpPr/>
          <p:nvPr/>
        </p:nvSpPr>
        <p:spPr>
          <a:xfrm>
            <a:off x="457200" y="1024128"/>
            <a:ext cx="4023360" cy="1069848"/>
          </a:xfrm>
          <a:prstGeom prst="roundRect">
            <a:avLst>
              <a:gd name="adj" fmla="val 6838"/>
            </a:avLst>
          </a:prstGeom>
          <a:solidFill>
            <a:schemeClr val="bg2"/>
          </a:solidFill>
          <a:ln w="12700">
            <a:solidFill>
              <a:schemeClr val="bg2"/>
            </a:solidFill>
            <a:prstDash val="solid"/>
          </a:ln>
        </p:spPr>
      </p:sp>
      <p:sp>
        <p:nvSpPr>
          <p:cNvPr id="4" name="Frontier keeps moving badge"/>
          <p:cNvSpPr/>
          <p:nvPr/>
        </p:nvSpPr>
        <p:spPr>
          <a:xfrm>
            <a:off x="621792" y="1298448"/>
            <a:ext cx="502920" cy="502920"/>
          </a:xfrm>
          <a:prstGeom prst="ellipse">
            <a:avLst/>
          </a:prstGeom>
          <a:solidFill>
            <a:schemeClr val="accent1"/>
          </a:solidFill>
          <a:ln w="12700">
            <a:solidFill>
              <a:schemeClr val="accent1"/>
            </a:solidFill>
            <a:prstDash val="solid"/>
          </a:ln>
        </p:spPr>
      </p:sp>
      <p:pic>
        <p:nvPicPr>
          <p:cNvPr id="5" name="Frontier keeps moving icon" descr="preencoded.png">    </p:cNvPr>
          <p:cNvPicPr>
            <a:picLocks noChangeAspect="1"/>
          </p:cNvPicPr>
          <p:nvPr/>
        </p:nvPicPr>
        <p:blipFill>
          <a:blip r:embed="rId1"/>
          <a:stretch>
            <a:fillRect/>
          </a:stretch>
        </p:blipFill>
        <p:spPr>
          <a:xfrm>
            <a:off x="742493" y="1419149"/>
            <a:ext cx="261518" cy="261518"/>
          </a:xfrm>
          <a:prstGeom prst="rect">
            <a:avLst/>
          </a:prstGeom>
        </p:spPr>
      </p:pic>
      <p:sp>
        <p:nvSpPr>
          <p:cNvPr id="6" name="Text 3"/>
          <p:cNvSpPr txBox="1"/>
          <p:nvPr/>
        </p:nvSpPr>
        <p:spPr>
          <a:xfrm>
            <a:off x="1280160" y="1179576"/>
            <a:ext cx="3108960" cy="347472"/>
          </a:xfrm>
          <a:prstGeom prst="rect">
            <a:avLst/>
          </a:prstGeom>
          <a:noFill/>
          <a:ln/>
        </p:spPr>
        <p:txBody>
          <a:bodyPr wrap="square" lIns="0" tIns="0" rIns="0" bIns="0" rtlCol="0" anchor="t"/>
          <a:lstStyle/>
          <a:p>
            <a:pPr indent="0" marL="0">
              <a:buNone/>
            </a:pPr>
            <a:r>
              <a:rPr lang="en-US" sz="1400" b="1" dirty="0">
                <a:solidFill>
                  <a:schemeClr val="tx2"/>
                </a:solidFill>
              </a:rPr>
              <a:t>Frontier keeps moving</a:t>
            </a:r>
            <a:endParaRPr lang="en-US" sz="1400" dirty="0"/>
          </a:p>
        </p:txBody>
      </p:sp>
      <p:sp>
        <p:nvSpPr>
          <p:cNvPr id="7" name="Text 4"/>
          <p:cNvSpPr txBox="1"/>
          <p:nvPr/>
        </p:nvSpPr>
        <p:spPr>
          <a:xfrm>
            <a:off x="1280160" y="1545336"/>
            <a:ext cx="3108960" cy="411480"/>
          </a:xfrm>
          <a:prstGeom prst="rect">
            <a:avLst/>
          </a:prstGeom>
          <a:noFill/>
          <a:ln/>
        </p:spPr>
        <p:txBody>
          <a:bodyPr wrap="square" lIns="0" tIns="0" rIns="0" bIns="0" rtlCol="0" anchor="t"/>
          <a:lstStyle/>
          <a:p>
            <a:pPr indent="0" marL="0">
              <a:buNone/>
            </a:pPr>
            <a:r>
              <a:rPr lang="en-US" sz="1300" dirty="0">
                <a:solidFill>
                  <a:schemeClr val="tx1"/>
                </a:solidFill>
              </a:rPr>
              <a:t>Don’t race the leaderboard; own a niche</a:t>
            </a:r>
            <a:endParaRPr lang="en-US" sz="1300" dirty="0"/>
          </a:p>
        </p:txBody>
      </p:sp>
      <p:sp>
        <p:nvSpPr>
          <p:cNvPr id="8" name="risk card 2"/>
          <p:cNvSpPr/>
          <p:nvPr/>
        </p:nvSpPr>
        <p:spPr>
          <a:xfrm>
            <a:off x="4663440" y="1024128"/>
            <a:ext cx="4023360" cy="1069848"/>
          </a:xfrm>
          <a:prstGeom prst="roundRect">
            <a:avLst>
              <a:gd name="adj" fmla="val 6838"/>
            </a:avLst>
          </a:prstGeom>
          <a:solidFill>
            <a:schemeClr val="bg2"/>
          </a:solidFill>
          <a:ln w="12700">
            <a:solidFill>
              <a:schemeClr val="bg2"/>
            </a:solidFill>
            <a:prstDash val="solid"/>
          </a:ln>
        </p:spPr>
      </p:sp>
      <p:sp>
        <p:nvSpPr>
          <p:cNvPr id="9" name="Chinese open models at near-zero price badge"/>
          <p:cNvSpPr/>
          <p:nvPr/>
        </p:nvSpPr>
        <p:spPr>
          <a:xfrm>
            <a:off x="4828032" y="1298448"/>
            <a:ext cx="502920" cy="502920"/>
          </a:xfrm>
          <a:prstGeom prst="ellipse">
            <a:avLst/>
          </a:prstGeom>
          <a:solidFill>
            <a:schemeClr val="accent1"/>
          </a:solidFill>
          <a:ln w="12700">
            <a:solidFill>
              <a:schemeClr val="accent1"/>
            </a:solidFill>
            <a:prstDash val="solid"/>
          </a:ln>
        </p:spPr>
      </p:sp>
      <p:pic>
        <p:nvPicPr>
          <p:cNvPr id="10" name="Chinese open models at near-zero price icon" descr="preencoded.png">    </p:cNvPr>
          <p:cNvPicPr>
            <a:picLocks noChangeAspect="1"/>
          </p:cNvPicPr>
          <p:nvPr/>
        </p:nvPicPr>
        <p:blipFill>
          <a:blip r:embed="rId2"/>
          <a:stretch>
            <a:fillRect/>
          </a:stretch>
        </p:blipFill>
        <p:spPr>
          <a:xfrm>
            <a:off x="4948733" y="1419149"/>
            <a:ext cx="261518" cy="261518"/>
          </a:xfrm>
          <a:prstGeom prst="rect">
            <a:avLst/>
          </a:prstGeom>
        </p:spPr>
      </p:pic>
      <p:sp>
        <p:nvSpPr>
          <p:cNvPr id="11" name="Text 7"/>
          <p:cNvSpPr txBox="1"/>
          <p:nvPr/>
        </p:nvSpPr>
        <p:spPr>
          <a:xfrm>
            <a:off x="5486400" y="1179576"/>
            <a:ext cx="3108960" cy="347472"/>
          </a:xfrm>
          <a:prstGeom prst="rect">
            <a:avLst/>
          </a:prstGeom>
          <a:noFill/>
          <a:ln/>
        </p:spPr>
        <p:txBody>
          <a:bodyPr wrap="square" lIns="0" tIns="0" rIns="0" bIns="0" rtlCol="0" anchor="t"/>
          <a:lstStyle/>
          <a:p>
            <a:pPr indent="0" marL="0">
              <a:buNone/>
            </a:pPr>
            <a:r>
              <a:rPr lang="en-US" sz="1400" b="1" dirty="0">
                <a:solidFill>
                  <a:schemeClr val="tx2"/>
                </a:solidFill>
              </a:rPr>
              <a:t>Chinese open models at near-zero price</a:t>
            </a:r>
            <a:endParaRPr lang="en-US" sz="1400" dirty="0"/>
          </a:p>
        </p:txBody>
      </p:sp>
      <p:sp>
        <p:nvSpPr>
          <p:cNvPr id="12" name="Text 8"/>
          <p:cNvSpPr txBox="1"/>
          <p:nvPr/>
        </p:nvSpPr>
        <p:spPr>
          <a:xfrm>
            <a:off x="5486400" y="1545336"/>
            <a:ext cx="3108960" cy="411480"/>
          </a:xfrm>
          <a:prstGeom prst="rect">
            <a:avLst/>
          </a:prstGeom>
          <a:noFill/>
          <a:ln/>
        </p:spPr>
        <p:txBody>
          <a:bodyPr wrap="square" lIns="0" tIns="0" rIns="0" bIns="0" rtlCol="0" anchor="t"/>
          <a:lstStyle/>
          <a:p>
            <a:pPr indent="0" marL="0">
              <a:buNone/>
            </a:pPr>
            <a:r>
              <a:rPr lang="en-US" sz="1300" dirty="0">
                <a:solidFill>
                  <a:schemeClr val="tx1"/>
                </a:solidFill>
              </a:rPr>
              <a:t>Sell provenance, sovereignty, support</a:t>
            </a:r>
            <a:endParaRPr lang="en-US" sz="1300" dirty="0"/>
          </a:p>
        </p:txBody>
      </p:sp>
      <p:sp>
        <p:nvSpPr>
          <p:cNvPr id="13" name="risk card 3"/>
          <p:cNvSpPr/>
          <p:nvPr/>
        </p:nvSpPr>
        <p:spPr>
          <a:xfrm>
            <a:off x="457200" y="2231136"/>
            <a:ext cx="4023360" cy="1069848"/>
          </a:xfrm>
          <a:prstGeom prst="roundRect">
            <a:avLst>
              <a:gd name="adj" fmla="val 6838"/>
            </a:avLst>
          </a:prstGeom>
          <a:solidFill>
            <a:schemeClr val="bg2"/>
          </a:solidFill>
          <a:ln w="12700">
            <a:solidFill>
              <a:schemeClr val="bg2"/>
            </a:solidFill>
            <a:prstDash val="solid"/>
          </a:ln>
        </p:spPr>
      </p:sp>
      <p:sp>
        <p:nvSpPr>
          <p:cNvPr id="14" name="Claims that don’t replicate badge"/>
          <p:cNvSpPr/>
          <p:nvPr/>
        </p:nvSpPr>
        <p:spPr>
          <a:xfrm>
            <a:off x="621792" y="2505456"/>
            <a:ext cx="502920" cy="502920"/>
          </a:xfrm>
          <a:prstGeom prst="ellipse">
            <a:avLst/>
          </a:prstGeom>
          <a:solidFill>
            <a:schemeClr val="accent1"/>
          </a:solidFill>
          <a:ln w="12700">
            <a:solidFill>
              <a:schemeClr val="accent1"/>
            </a:solidFill>
            <a:prstDash val="solid"/>
          </a:ln>
        </p:spPr>
      </p:sp>
      <p:pic>
        <p:nvPicPr>
          <p:cNvPr id="15" name="Claims that don’t replicate icon" descr="preencoded.png">    </p:cNvPr>
          <p:cNvPicPr>
            <a:picLocks noChangeAspect="1"/>
          </p:cNvPicPr>
          <p:nvPr/>
        </p:nvPicPr>
        <p:blipFill>
          <a:blip r:embed="rId3"/>
          <a:stretch>
            <a:fillRect/>
          </a:stretch>
        </p:blipFill>
        <p:spPr>
          <a:xfrm>
            <a:off x="742493" y="2626157"/>
            <a:ext cx="261518" cy="261518"/>
          </a:xfrm>
          <a:prstGeom prst="rect">
            <a:avLst/>
          </a:prstGeom>
        </p:spPr>
      </p:pic>
      <p:sp>
        <p:nvSpPr>
          <p:cNvPr id="16" name="Text 11"/>
          <p:cNvSpPr txBox="1"/>
          <p:nvPr/>
        </p:nvSpPr>
        <p:spPr>
          <a:xfrm>
            <a:off x="1280160" y="2386584"/>
            <a:ext cx="3108960" cy="347472"/>
          </a:xfrm>
          <a:prstGeom prst="rect">
            <a:avLst/>
          </a:prstGeom>
          <a:noFill/>
          <a:ln/>
        </p:spPr>
        <p:txBody>
          <a:bodyPr wrap="square" lIns="0" tIns="0" rIns="0" bIns="0" rtlCol="0" anchor="t"/>
          <a:lstStyle/>
          <a:p>
            <a:pPr indent="0" marL="0">
              <a:buNone/>
            </a:pPr>
            <a:r>
              <a:rPr lang="en-US" sz="1400" b="1" dirty="0">
                <a:solidFill>
                  <a:schemeClr val="tx2"/>
                </a:solidFill>
              </a:rPr>
              <a:t>Claims that don’t replicate</a:t>
            </a:r>
            <a:endParaRPr lang="en-US" sz="1400" dirty="0"/>
          </a:p>
        </p:txBody>
      </p:sp>
      <p:sp>
        <p:nvSpPr>
          <p:cNvPr id="17" name="Text 12"/>
          <p:cNvSpPr txBox="1"/>
          <p:nvPr/>
        </p:nvSpPr>
        <p:spPr>
          <a:xfrm>
            <a:off x="1280160" y="2752344"/>
            <a:ext cx="3108960" cy="411480"/>
          </a:xfrm>
          <a:prstGeom prst="rect">
            <a:avLst/>
          </a:prstGeom>
          <a:noFill/>
          <a:ln/>
        </p:spPr>
        <p:txBody>
          <a:bodyPr wrap="square" lIns="0" tIns="0" rIns="0" bIns="0" rtlCol="0" anchor="t"/>
          <a:lstStyle/>
          <a:p>
            <a:pPr indent="0" marL="0">
              <a:buNone/>
            </a:pPr>
            <a:r>
              <a:rPr lang="en-US" sz="1300" dirty="0">
                <a:solidFill>
                  <a:schemeClr val="tx1"/>
                </a:solidFill>
              </a:rPr>
              <a:t>Independent harness from day one</a:t>
            </a:r>
            <a:endParaRPr lang="en-US" sz="1300" dirty="0"/>
          </a:p>
        </p:txBody>
      </p:sp>
      <p:sp>
        <p:nvSpPr>
          <p:cNvPr id="18" name="risk card 4"/>
          <p:cNvSpPr/>
          <p:nvPr/>
        </p:nvSpPr>
        <p:spPr>
          <a:xfrm>
            <a:off x="4663440" y="2231136"/>
            <a:ext cx="4023360" cy="1069848"/>
          </a:xfrm>
          <a:prstGeom prst="roundRect">
            <a:avLst>
              <a:gd name="adj" fmla="val 6838"/>
            </a:avLst>
          </a:prstGeom>
          <a:solidFill>
            <a:schemeClr val="bg2"/>
          </a:solidFill>
          <a:ln w="12700">
            <a:solidFill>
              <a:schemeClr val="bg2"/>
            </a:solidFill>
            <a:prstDash val="solid"/>
          </a:ln>
        </p:spPr>
      </p:sp>
      <p:sp>
        <p:nvSpPr>
          <p:cNvPr id="19" name="GPU cost and availability badge"/>
          <p:cNvSpPr/>
          <p:nvPr/>
        </p:nvSpPr>
        <p:spPr>
          <a:xfrm>
            <a:off x="4828032" y="2505456"/>
            <a:ext cx="502920" cy="502920"/>
          </a:xfrm>
          <a:prstGeom prst="ellipse">
            <a:avLst/>
          </a:prstGeom>
          <a:solidFill>
            <a:schemeClr val="accent1"/>
          </a:solidFill>
          <a:ln w="12700">
            <a:solidFill>
              <a:schemeClr val="accent1"/>
            </a:solidFill>
            <a:prstDash val="solid"/>
          </a:ln>
        </p:spPr>
      </p:sp>
      <p:pic>
        <p:nvPicPr>
          <p:cNvPr id="20" name="GPU cost and availability icon" descr="preencoded.png">    </p:cNvPr>
          <p:cNvPicPr>
            <a:picLocks noChangeAspect="1"/>
          </p:cNvPicPr>
          <p:nvPr/>
        </p:nvPicPr>
        <p:blipFill>
          <a:blip r:embed="rId4"/>
          <a:stretch>
            <a:fillRect/>
          </a:stretch>
        </p:blipFill>
        <p:spPr>
          <a:xfrm>
            <a:off x="4948733" y="2626157"/>
            <a:ext cx="261518" cy="261518"/>
          </a:xfrm>
          <a:prstGeom prst="rect">
            <a:avLst/>
          </a:prstGeom>
        </p:spPr>
      </p:pic>
      <p:sp>
        <p:nvSpPr>
          <p:cNvPr id="21" name="Text 15"/>
          <p:cNvSpPr txBox="1"/>
          <p:nvPr/>
        </p:nvSpPr>
        <p:spPr>
          <a:xfrm>
            <a:off x="5486400" y="2386584"/>
            <a:ext cx="3108960" cy="347472"/>
          </a:xfrm>
          <a:prstGeom prst="rect">
            <a:avLst/>
          </a:prstGeom>
          <a:noFill/>
          <a:ln/>
        </p:spPr>
        <p:txBody>
          <a:bodyPr wrap="square" lIns="0" tIns="0" rIns="0" bIns="0" rtlCol="0" anchor="t"/>
          <a:lstStyle/>
          <a:p>
            <a:pPr indent="0" marL="0">
              <a:buNone/>
            </a:pPr>
            <a:r>
              <a:rPr lang="en-US" sz="1400" b="1" dirty="0">
                <a:solidFill>
                  <a:schemeClr val="tx2"/>
                </a:solidFill>
              </a:rPr>
              <a:t>GPU cost and availability</a:t>
            </a:r>
            <a:endParaRPr lang="en-US" sz="1400" dirty="0"/>
          </a:p>
        </p:txBody>
      </p:sp>
      <p:sp>
        <p:nvSpPr>
          <p:cNvPr id="22" name="Text 16"/>
          <p:cNvSpPr txBox="1"/>
          <p:nvPr/>
        </p:nvSpPr>
        <p:spPr>
          <a:xfrm>
            <a:off x="5486400" y="2752344"/>
            <a:ext cx="3108960" cy="411480"/>
          </a:xfrm>
          <a:prstGeom prst="rect">
            <a:avLst/>
          </a:prstGeom>
          <a:noFill/>
          <a:ln/>
        </p:spPr>
        <p:txBody>
          <a:bodyPr wrap="square" lIns="0" tIns="0" rIns="0" bIns="0" rtlCol="0" anchor="t"/>
          <a:lstStyle/>
          <a:p>
            <a:pPr indent="0" marL="0">
              <a:buNone/>
            </a:pPr>
            <a:r>
              <a:rPr lang="en-US" sz="1300" dirty="0">
                <a:solidFill>
                  <a:schemeClr val="tx1"/>
                </a:solidFill>
              </a:rPr>
              <a:t>Multi-provider reservations; NVFP4</a:t>
            </a:r>
            <a:endParaRPr lang="en-US" sz="1300" dirty="0"/>
          </a:p>
        </p:txBody>
      </p:sp>
      <p:sp>
        <p:nvSpPr>
          <p:cNvPr id="23" name="risk card 5"/>
          <p:cNvSpPr/>
          <p:nvPr/>
        </p:nvSpPr>
        <p:spPr>
          <a:xfrm>
            <a:off x="457200" y="3438144"/>
            <a:ext cx="4023360" cy="1069848"/>
          </a:xfrm>
          <a:prstGeom prst="roundRect">
            <a:avLst>
              <a:gd name="adj" fmla="val 6838"/>
            </a:avLst>
          </a:prstGeom>
          <a:solidFill>
            <a:schemeClr val="bg2"/>
          </a:solidFill>
          <a:ln w="12700">
            <a:solidFill>
              <a:schemeClr val="bg2"/>
            </a:solidFill>
            <a:prstDash val="solid"/>
          </a:ln>
        </p:spPr>
      </p:sp>
      <p:sp>
        <p:nvSpPr>
          <p:cNvPr id="24" name="RL infrastructure underestimated badge"/>
          <p:cNvSpPr/>
          <p:nvPr/>
        </p:nvSpPr>
        <p:spPr>
          <a:xfrm>
            <a:off x="621792" y="3712464"/>
            <a:ext cx="502920" cy="502920"/>
          </a:xfrm>
          <a:prstGeom prst="ellipse">
            <a:avLst/>
          </a:prstGeom>
          <a:solidFill>
            <a:schemeClr val="accent1"/>
          </a:solidFill>
          <a:ln w="12700">
            <a:solidFill>
              <a:schemeClr val="accent1"/>
            </a:solidFill>
            <a:prstDash val="solid"/>
          </a:ln>
        </p:spPr>
      </p:sp>
      <p:pic>
        <p:nvPicPr>
          <p:cNvPr id="25" name="RL infrastructure underestimated icon" descr="preencoded.png">    </p:cNvPr>
          <p:cNvPicPr>
            <a:picLocks noChangeAspect="1"/>
          </p:cNvPicPr>
          <p:nvPr/>
        </p:nvPicPr>
        <p:blipFill>
          <a:blip r:embed="rId5"/>
          <a:stretch>
            <a:fillRect/>
          </a:stretch>
        </p:blipFill>
        <p:spPr>
          <a:xfrm>
            <a:off x="742493" y="3833165"/>
            <a:ext cx="261518" cy="261518"/>
          </a:xfrm>
          <a:prstGeom prst="rect">
            <a:avLst/>
          </a:prstGeom>
        </p:spPr>
      </p:pic>
      <p:sp>
        <p:nvSpPr>
          <p:cNvPr id="26" name="Text 19"/>
          <p:cNvSpPr txBox="1"/>
          <p:nvPr/>
        </p:nvSpPr>
        <p:spPr>
          <a:xfrm>
            <a:off x="1280160" y="3593592"/>
            <a:ext cx="3108960" cy="347472"/>
          </a:xfrm>
          <a:prstGeom prst="rect">
            <a:avLst/>
          </a:prstGeom>
          <a:noFill/>
          <a:ln/>
        </p:spPr>
        <p:txBody>
          <a:bodyPr wrap="square" lIns="0" tIns="0" rIns="0" bIns="0" rtlCol="0" anchor="t"/>
          <a:lstStyle/>
          <a:p>
            <a:pPr indent="0" marL="0">
              <a:buNone/>
            </a:pPr>
            <a:r>
              <a:rPr lang="en-US" sz="1400" b="1" dirty="0">
                <a:solidFill>
                  <a:schemeClr val="tx2"/>
                </a:solidFill>
              </a:rPr>
              <a:t>RL infrastructure underestimated</a:t>
            </a:r>
            <a:endParaRPr lang="en-US" sz="1400" dirty="0"/>
          </a:p>
        </p:txBody>
      </p:sp>
      <p:sp>
        <p:nvSpPr>
          <p:cNvPr id="27" name="Text 20"/>
          <p:cNvSpPr txBox="1"/>
          <p:nvPr/>
        </p:nvSpPr>
        <p:spPr>
          <a:xfrm>
            <a:off x="1280160" y="3959352"/>
            <a:ext cx="3108960" cy="411480"/>
          </a:xfrm>
          <a:prstGeom prst="rect">
            <a:avLst/>
          </a:prstGeom>
          <a:noFill/>
          <a:ln/>
        </p:spPr>
        <p:txBody>
          <a:bodyPr wrap="square" lIns="0" tIns="0" rIns="0" bIns="0" rtlCol="0" anchor="t"/>
          <a:lstStyle/>
          <a:p>
            <a:pPr indent="0" marL="0">
              <a:buNone/>
            </a:pPr>
            <a:r>
              <a:rPr lang="en-US" sz="1300" dirty="0">
                <a:solidFill>
                  <a:schemeClr val="tx1"/>
                </a:solidFill>
              </a:rPr>
              <a:t>Build environments from month 1</a:t>
            </a:r>
            <a:endParaRPr lang="en-US" sz="1300" dirty="0"/>
          </a:p>
        </p:txBody>
      </p:sp>
      <p:sp>
        <p:nvSpPr>
          <p:cNvPr id="28" name="risk card 6"/>
          <p:cNvSpPr/>
          <p:nvPr/>
        </p:nvSpPr>
        <p:spPr>
          <a:xfrm>
            <a:off x="4663440" y="3438144"/>
            <a:ext cx="4023360" cy="1069848"/>
          </a:xfrm>
          <a:prstGeom prst="roundRect">
            <a:avLst>
              <a:gd name="adj" fmla="val 6838"/>
            </a:avLst>
          </a:prstGeom>
          <a:solidFill>
            <a:schemeClr val="bg2"/>
          </a:solidFill>
          <a:ln w="12700">
            <a:solidFill>
              <a:schemeClr val="bg2"/>
            </a:solidFill>
            <a:prstDash val="solid"/>
          </a:ln>
        </p:spPr>
      </p:sp>
      <p:sp>
        <p:nvSpPr>
          <p:cNvPr id="29" name="Talent and legal exposure badge"/>
          <p:cNvSpPr/>
          <p:nvPr/>
        </p:nvSpPr>
        <p:spPr>
          <a:xfrm>
            <a:off x="4828032" y="3712464"/>
            <a:ext cx="502920" cy="502920"/>
          </a:xfrm>
          <a:prstGeom prst="ellipse">
            <a:avLst/>
          </a:prstGeom>
          <a:solidFill>
            <a:schemeClr val="accent1"/>
          </a:solidFill>
          <a:ln w="12700">
            <a:solidFill>
              <a:schemeClr val="accent1"/>
            </a:solidFill>
            <a:prstDash val="solid"/>
          </a:ln>
        </p:spPr>
      </p:sp>
      <p:pic>
        <p:nvPicPr>
          <p:cNvPr id="30" name="Talent and legal exposure icon" descr="preencoded.png">    </p:cNvPr>
          <p:cNvPicPr>
            <a:picLocks noChangeAspect="1"/>
          </p:cNvPicPr>
          <p:nvPr/>
        </p:nvPicPr>
        <p:blipFill>
          <a:blip r:embed="rId6"/>
          <a:stretch>
            <a:fillRect/>
          </a:stretch>
        </p:blipFill>
        <p:spPr>
          <a:xfrm>
            <a:off x="4948733" y="3833165"/>
            <a:ext cx="261518" cy="261518"/>
          </a:xfrm>
          <a:prstGeom prst="rect">
            <a:avLst/>
          </a:prstGeom>
        </p:spPr>
      </p:pic>
      <p:sp>
        <p:nvSpPr>
          <p:cNvPr id="31" name="Text 23"/>
          <p:cNvSpPr txBox="1"/>
          <p:nvPr/>
        </p:nvSpPr>
        <p:spPr>
          <a:xfrm>
            <a:off x="5486400" y="3593592"/>
            <a:ext cx="3108960" cy="347472"/>
          </a:xfrm>
          <a:prstGeom prst="rect">
            <a:avLst/>
          </a:prstGeom>
          <a:noFill/>
          <a:ln/>
        </p:spPr>
        <p:txBody>
          <a:bodyPr wrap="square" lIns="0" tIns="0" rIns="0" bIns="0" rtlCol="0" anchor="t"/>
          <a:lstStyle/>
          <a:p>
            <a:pPr indent="0" marL="0">
              <a:buNone/>
            </a:pPr>
            <a:r>
              <a:rPr lang="en-US" sz="1400" b="1" dirty="0">
                <a:solidFill>
                  <a:schemeClr val="tx2"/>
                </a:solidFill>
              </a:rPr>
              <a:t>Talent and legal exposure</a:t>
            </a:r>
            <a:endParaRPr lang="en-US" sz="1400" dirty="0"/>
          </a:p>
        </p:txBody>
      </p:sp>
      <p:sp>
        <p:nvSpPr>
          <p:cNvPr id="32" name="Text 24"/>
          <p:cNvSpPr txBox="1"/>
          <p:nvPr/>
        </p:nvSpPr>
        <p:spPr>
          <a:xfrm>
            <a:off x="5486400" y="3959352"/>
            <a:ext cx="3108960" cy="411480"/>
          </a:xfrm>
          <a:prstGeom prst="rect">
            <a:avLst/>
          </a:prstGeom>
          <a:noFill/>
          <a:ln/>
        </p:spPr>
        <p:txBody>
          <a:bodyPr wrap="square" lIns="0" tIns="0" rIns="0" bIns="0" rtlCol="0" anchor="t"/>
          <a:lstStyle/>
          <a:p>
            <a:pPr indent="0" marL="0">
              <a:buNone/>
            </a:pPr>
            <a:r>
              <a:rPr lang="en-US" sz="1300" dirty="0">
                <a:solidFill>
                  <a:schemeClr val="tx1"/>
                </a:solidFill>
              </a:rPr>
              <a:t>Equity, partnerships; provenance tracking</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bg1"/>
                </a:solidFill>
              </a:rPr>
              <a:t>Recommendation and next steps</a:t>
            </a:r>
            <a:endParaRPr lang="en-US" sz="2800" dirty="0"/>
          </a:p>
        </p:txBody>
      </p:sp>
      <p:sp>
        <p:nvSpPr>
          <p:cNvPr id="3" name="step badge 1"/>
          <p:cNvSpPr/>
          <p:nvPr/>
        </p:nvSpPr>
        <p:spPr>
          <a:xfrm>
            <a:off x="457200" y="105156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457200" y="105156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1</a:t>
            </a:r>
            <a:endParaRPr lang="en-US" sz="2000" dirty="0"/>
          </a:p>
        </p:txBody>
      </p:sp>
      <p:sp>
        <p:nvSpPr>
          <p:cNvPr id="5" name="Text 3"/>
          <p:cNvSpPr txBox="1"/>
          <p:nvPr/>
        </p:nvSpPr>
        <p:spPr>
          <a:xfrm>
            <a:off x="1234440" y="1033272"/>
            <a:ext cx="7406640" cy="320040"/>
          </a:xfrm>
          <a:prstGeom prst="rect">
            <a:avLst/>
          </a:prstGeom>
          <a:noFill/>
          <a:ln/>
        </p:spPr>
        <p:txBody>
          <a:bodyPr wrap="square" lIns="0" tIns="0" rIns="0" bIns="0" rtlCol="0" anchor="t"/>
          <a:lstStyle/>
          <a:p>
            <a:pPr indent="0" marL="0">
              <a:buNone/>
            </a:pPr>
            <a:r>
              <a:rPr lang="en-US" sz="1700" b="1" dirty="0">
                <a:solidFill>
                  <a:schemeClr val="bg1"/>
                </a:solidFill>
              </a:rPr>
              <a:t>Choose the wedge</a:t>
            </a:r>
            <a:endParaRPr lang="en-US" sz="1700" dirty="0"/>
          </a:p>
        </p:txBody>
      </p:sp>
      <p:sp>
        <p:nvSpPr>
          <p:cNvPr id="6" name="Text 4"/>
          <p:cNvSpPr txBox="1"/>
          <p:nvPr/>
        </p:nvSpPr>
        <p:spPr>
          <a:xfrm>
            <a:off x="1234440" y="1353312"/>
            <a:ext cx="7406640" cy="320040"/>
          </a:xfrm>
          <a:prstGeom prst="rect">
            <a:avLst/>
          </a:prstGeom>
          <a:noFill/>
          <a:ln/>
        </p:spPr>
        <p:txBody>
          <a:bodyPr wrap="square" lIns="0" tIns="0" rIns="0" bIns="0" rtlCol="0" anchor="t"/>
          <a:lstStyle/>
          <a:p>
            <a:pPr indent="0" marL="0">
              <a:buNone/>
            </a:pPr>
            <a:r>
              <a:rPr lang="en-US" sz="1400" dirty="0">
                <a:solidFill>
                  <a:schemeClr val="bg2"/>
                </a:solidFill>
              </a:rPr>
              <a:t>Pick one or two segments: sovereign, regulated, vertical or language</a:t>
            </a:r>
            <a:endParaRPr lang="en-US" sz="1400" dirty="0"/>
          </a:p>
        </p:txBody>
      </p:sp>
      <p:sp>
        <p:nvSpPr>
          <p:cNvPr id="7" name="step badge 2"/>
          <p:cNvSpPr/>
          <p:nvPr/>
        </p:nvSpPr>
        <p:spPr>
          <a:xfrm>
            <a:off x="457200" y="192024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457200" y="192024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2</a:t>
            </a:r>
            <a:endParaRPr lang="en-US" sz="2000" dirty="0"/>
          </a:p>
        </p:txBody>
      </p:sp>
      <p:sp>
        <p:nvSpPr>
          <p:cNvPr id="9" name="Text 7"/>
          <p:cNvSpPr txBox="1"/>
          <p:nvPr/>
        </p:nvSpPr>
        <p:spPr>
          <a:xfrm>
            <a:off x="1234440" y="1901952"/>
            <a:ext cx="7406640" cy="320040"/>
          </a:xfrm>
          <a:prstGeom prst="rect">
            <a:avLst/>
          </a:prstGeom>
          <a:noFill/>
          <a:ln/>
        </p:spPr>
        <p:txBody>
          <a:bodyPr wrap="square" lIns="0" tIns="0" rIns="0" bIns="0" rtlCol="0" anchor="t"/>
          <a:lstStyle/>
          <a:p>
            <a:pPr indent="0" marL="0">
              <a:buNone/>
            </a:pPr>
            <a:r>
              <a:rPr lang="en-US" sz="1700" b="1" dirty="0">
                <a:solidFill>
                  <a:schemeClr val="bg1"/>
                </a:solidFill>
              </a:rPr>
              <a:t>Adapt Beam (Stage 1)</a:t>
            </a:r>
            <a:endParaRPr lang="en-US" sz="1700" dirty="0"/>
          </a:p>
        </p:txBody>
      </p:sp>
      <p:sp>
        <p:nvSpPr>
          <p:cNvPr id="10" name="Text 8"/>
          <p:cNvSpPr txBox="1"/>
          <p:nvPr/>
        </p:nvSpPr>
        <p:spPr>
          <a:xfrm>
            <a:off x="1234440" y="2221992"/>
            <a:ext cx="7406640" cy="320040"/>
          </a:xfrm>
          <a:prstGeom prst="rect">
            <a:avLst/>
          </a:prstGeom>
          <a:noFill/>
          <a:ln/>
        </p:spPr>
        <p:txBody>
          <a:bodyPr wrap="square" lIns="0" tIns="0" rIns="0" bIns="0" rtlCol="0" anchor="t"/>
          <a:lstStyle/>
          <a:p>
            <a:pPr indent="0" marL="0">
              <a:buNone/>
            </a:pPr>
            <a:r>
              <a:rPr lang="en-US" sz="1400" dirty="0">
                <a:solidFill>
                  <a:schemeClr val="bg2"/>
                </a:solidFill>
              </a:rPr>
              <a:t>≈$11M, 3–6 months: SFT + RL on Beam 1.0 for that wedge</a:t>
            </a:r>
            <a:endParaRPr lang="en-US" sz="1400" dirty="0"/>
          </a:p>
        </p:txBody>
      </p:sp>
      <p:sp>
        <p:nvSpPr>
          <p:cNvPr id="11" name="step badge 3"/>
          <p:cNvSpPr/>
          <p:nvPr/>
        </p:nvSpPr>
        <p:spPr>
          <a:xfrm>
            <a:off x="457200" y="278892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457200" y="278892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3</a:t>
            </a:r>
            <a:endParaRPr lang="en-US" sz="2000" dirty="0"/>
          </a:p>
        </p:txBody>
      </p:sp>
      <p:sp>
        <p:nvSpPr>
          <p:cNvPr id="13" name="Text 11"/>
          <p:cNvSpPr txBox="1"/>
          <p:nvPr/>
        </p:nvSpPr>
        <p:spPr>
          <a:xfrm>
            <a:off x="1234440" y="2770632"/>
            <a:ext cx="7406640" cy="320040"/>
          </a:xfrm>
          <a:prstGeom prst="rect">
            <a:avLst/>
          </a:prstGeom>
          <a:noFill/>
          <a:ln/>
        </p:spPr>
        <p:txBody>
          <a:bodyPr wrap="square" lIns="0" tIns="0" rIns="0" bIns="0" rtlCol="0" anchor="t"/>
          <a:lstStyle/>
          <a:p>
            <a:pPr indent="0" marL="0">
              <a:buNone/>
            </a:pPr>
            <a:r>
              <a:rPr lang="en-US" sz="1700" b="1" dirty="0">
                <a:solidFill>
                  <a:schemeClr val="bg1"/>
                </a:solidFill>
              </a:rPr>
              <a:t>Build the hard parts early</a:t>
            </a:r>
            <a:endParaRPr lang="en-US" sz="1700" dirty="0"/>
          </a:p>
        </p:txBody>
      </p:sp>
      <p:sp>
        <p:nvSpPr>
          <p:cNvPr id="14" name="Text 12"/>
          <p:cNvSpPr txBox="1"/>
          <p:nvPr/>
        </p:nvSpPr>
        <p:spPr>
          <a:xfrm>
            <a:off x="1234440" y="3090672"/>
            <a:ext cx="7406640" cy="320040"/>
          </a:xfrm>
          <a:prstGeom prst="rect">
            <a:avLst/>
          </a:prstGeom>
          <a:noFill/>
          <a:ln/>
        </p:spPr>
        <p:txBody>
          <a:bodyPr wrap="square" lIns="0" tIns="0" rIns="0" bIns="0" rtlCol="0" anchor="t"/>
          <a:lstStyle/>
          <a:p>
            <a:pPr indent="0" marL="0">
              <a:buNone/>
            </a:pPr>
            <a:r>
              <a:rPr lang="en-US" sz="1400" dirty="0">
                <a:solidFill>
                  <a:schemeClr val="bg2"/>
                </a:solidFill>
              </a:rPr>
              <a:t>Data engine, RL environment fleet, independent eval harness</a:t>
            </a:r>
            <a:endParaRPr lang="en-US" sz="1400" dirty="0"/>
          </a:p>
        </p:txBody>
      </p:sp>
      <p:sp>
        <p:nvSpPr>
          <p:cNvPr id="15" name="step badge 4"/>
          <p:cNvSpPr/>
          <p:nvPr/>
        </p:nvSpPr>
        <p:spPr>
          <a:xfrm>
            <a:off x="457200" y="365760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457200" y="3657600"/>
            <a:ext cx="548640" cy="548640"/>
          </a:xfrm>
          <a:prstGeom prst="rect">
            <a:avLst/>
          </a:prstGeom>
          <a:noFill/>
          <a:ln/>
        </p:spPr>
        <p:txBody>
          <a:bodyPr wrap="square" lIns="0" tIns="0" rIns="0" bIns="0" rtlCol="0" anchor="ctr"/>
          <a:lstStyle/>
          <a:p>
            <a:pPr algn="ctr" indent="0" marL="0">
              <a:buNone/>
            </a:pPr>
            <a:r>
              <a:rPr lang="en-US" sz="2000" b="1" dirty="0">
                <a:solidFill>
                  <a:schemeClr val="tx2"/>
                </a:solidFill>
              </a:rPr>
              <a:t>4</a:t>
            </a:r>
            <a:endParaRPr lang="en-US" sz="2000" dirty="0"/>
          </a:p>
        </p:txBody>
      </p:sp>
      <p:sp>
        <p:nvSpPr>
          <p:cNvPr id="17" name="Text 15"/>
          <p:cNvSpPr txBox="1"/>
          <p:nvPr/>
        </p:nvSpPr>
        <p:spPr>
          <a:xfrm>
            <a:off x="1234440" y="3639312"/>
            <a:ext cx="7406640" cy="320040"/>
          </a:xfrm>
          <a:prstGeom prst="rect">
            <a:avLst/>
          </a:prstGeom>
          <a:noFill/>
          <a:ln/>
        </p:spPr>
        <p:txBody>
          <a:bodyPr wrap="square" lIns="0" tIns="0" rIns="0" bIns="0" rtlCol="0" anchor="t"/>
          <a:lstStyle/>
          <a:p>
            <a:pPr indent="0" marL="0">
              <a:buNone/>
            </a:pPr>
            <a:r>
              <a:rPr lang="en-US" sz="1700" b="1" dirty="0">
                <a:solidFill>
                  <a:schemeClr val="bg1"/>
                </a:solidFill>
              </a:rPr>
              <a:t>Decide at Gate 2</a:t>
            </a:r>
            <a:endParaRPr lang="en-US" sz="1700" dirty="0"/>
          </a:p>
        </p:txBody>
      </p:sp>
      <p:sp>
        <p:nvSpPr>
          <p:cNvPr id="18" name="Text 16"/>
          <p:cNvSpPr txBox="1"/>
          <p:nvPr/>
        </p:nvSpPr>
        <p:spPr>
          <a:xfrm>
            <a:off x="1234440" y="3959352"/>
            <a:ext cx="7406640" cy="320040"/>
          </a:xfrm>
          <a:prstGeom prst="rect">
            <a:avLst/>
          </a:prstGeom>
          <a:noFill/>
          <a:ln/>
        </p:spPr>
        <p:txBody>
          <a:bodyPr wrap="square" lIns="0" tIns="0" rIns="0" bIns="0" rtlCol="0" anchor="t"/>
          <a:lstStyle/>
          <a:p>
            <a:pPr indent="0" marL="0">
              <a:buNone/>
            </a:pPr>
            <a:r>
              <a:rPr lang="en-US" sz="1400" dirty="0">
                <a:solidFill>
                  <a:schemeClr val="bg2"/>
                </a:solidFill>
              </a:rPr>
              <a:t>Fund continued pre-training or a from-scratch model only on proven demand</a:t>
            </a:r>
            <a:endParaRPr lang="en-US" sz="14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Appendix: Beam architecture detail</a:t>
            </a:r>
            <a:endParaRPr lang="en-US" sz="2800" dirty="0"/>
          </a:p>
        </p:txBody>
      </p:sp>
      <p:pic>
        <p:nvPicPr>
          <p:cNvPr id="3" name="architecture diagram" descr="/home/user/1st-Repository/beam-research/figures/fig1_architecture.png">    </p:cNvPr>
          <p:cNvPicPr>
            <a:picLocks noChangeAspect="1"/>
          </p:cNvPicPr>
          <p:nvPr/>
        </p:nvPicPr>
        <p:blipFill>
          <a:blip r:embed="rId1"/>
          <a:stretch>
            <a:fillRect/>
          </a:stretch>
        </p:blipFill>
        <p:spPr>
          <a:xfrm>
            <a:off x="1417320" y="960120"/>
            <a:ext cx="6309360" cy="3749040"/>
          </a:xfrm>
          <a:prstGeom prst="rect">
            <a:avLst/>
          </a:prstGeom>
        </p:spPr>
      </p:pic>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94360"/>
          </a:xfrm>
          <a:prstGeom prst="rect">
            <a:avLst/>
          </a:prstGeom>
          <a:noFill/>
          <a:ln/>
        </p:spPr>
        <p:txBody>
          <a:bodyPr wrap="square" lIns="0" tIns="0" rIns="0" bIns="0" rtlCol="0" anchor="ctr"/>
          <a:lstStyle/>
          <a:p>
            <a:pPr indent="0" marL="0">
              <a:buNone/>
            </a:pPr>
            <a:r>
              <a:rPr lang="en-US" sz="2800" b="1" dirty="0">
                <a:solidFill>
                  <a:schemeClr val="tx2"/>
                </a:solidFill>
              </a:rPr>
              <a:t>Sources and notes</a:t>
            </a:r>
            <a:endParaRPr lang="en-US" sz="2800" dirty="0"/>
          </a:p>
        </p:txBody>
      </p:sp>
      <p:sp>
        <p:nvSpPr>
          <p:cNvPr id="3" name="Text 1"/>
          <p:cNvSpPr txBox="1"/>
          <p:nvPr/>
        </p:nvSpPr>
        <p:spPr>
          <a:xfrm>
            <a:off x="457200" y="1051560"/>
            <a:ext cx="8229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Reflection AI: Introducing Beam (5 Oct 2026); Beam is now available (16 Oct 2026)</a:t>
            </a:r>
            <a:endParaRPr lang="en-US" sz="1300" dirty="0"/>
          </a:p>
          <a:p>
            <a:pPr marL="342900" indent="-342900">
              <a:spcAft>
                <a:spcPts val="600"/>
              </a:spcAft>
              <a:buSzPct val="100000"/>
              <a:buChar char="•"/>
            </a:pPr>
            <a:r>
              <a:rPr lang="en-US" sz="1300" dirty="0">
                <a:solidFill>
                  <a:schemeClr val="tx1"/>
                </a:solidFill>
              </a:rPr>
              <a:t>Hugging Face model cards: reflection/Beam-1.0-501B-A23B (BF16, FP8, NVFP4); vLLM and NVIDIA serving recipes</a:t>
            </a:r>
            <a:endParaRPr lang="en-US" sz="1300" dirty="0"/>
          </a:p>
          <a:p>
            <a:pPr marL="342900" indent="-342900">
              <a:spcAft>
                <a:spcPts val="600"/>
              </a:spcAft>
              <a:buSzPct val="100000"/>
              <a:buChar char="•"/>
            </a:pPr>
            <a:r>
              <a:rPr lang="en-US" sz="1300" dirty="0">
                <a:solidFill>
                  <a:schemeClr val="tx1"/>
                </a:solidFill>
              </a:rPr>
              <a:t>Artificial Analysis Intelligence Index v4.3.x and Beam article (Oct 2026)</a:t>
            </a:r>
            <a:endParaRPr lang="en-US" sz="1300" dirty="0"/>
          </a:p>
          <a:p>
            <a:pPr marL="342900" indent="-342900">
              <a:spcAft>
                <a:spcPts val="600"/>
              </a:spcAft>
              <a:buSzPct val="100000"/>
              <a:buChar char="•"/>
            </a:pPr>
            <a:r>
              <a:rPr lang="en-US" sz="1300" dirty="0">
                <a:solidFill>
                  <a:schemeClr val="tx1"/>
                </a:solidFill>
              </a:rPr>
              <a:t>Vendor launch materials and system cards: Anthropic (Claude Opus 5.5, Sonnet 5.5, Fable 5.1), OpenAI (GPT-6), Google (Gemini), xAI (Grok 4.7), Meta (Muse, Llama 4)</a:t>
            </a:r>
            <a:endParaRPr lang="en-US" sz="1300" dirty="0"/>
          </a:p>
          <a:p>
            <a:pPr marL="342900" indent="-342900">
              <a:spcAft>
                <a:spcPts val="600"/>
              </a:spcAft>
              <a:buSzPct val="100000"/>
              <a:buChar char="•"/>
            </a:pPr>
            <a:r>
              <a:rPr lang="en-US" sz="1300" dirty="0">
                <a:solidFill>
                  <a:schemeClr val="tx1"/>
                </a:solidFill>
              </a:rPr>
              <a:t>Menlo Ventures enterprise LLM market data; pricing aggregators (BenchLM, Oct 2026)</a:t>
            </a:r>
            <a:endParaRPr lang="en-US" sz="1300" dirty="0"/>
          </a:p>
          <a:p>
            <a:pPr marL="342900" indent="-342900">
              <a:spcAft>
                <a:spcPts val="600"/>
              </a:spcAft>
              <a:buSzPct val="100000"/>
              <a:buChar char="•"/>
            </a:pPr>
            <a:r>
              <a:rPr lang="en-US" sz="1300" dirty="0">
                <a:solidFill>
                  <a:schemeClr val="tx1"/>
                </a:solidFill>
              </a:rPr>
              <a:t>Costs, GPU-hours and team sizes are author estimates; see Sections 12 and Appendix A of the research baseline</a:t>
            </a:r>
            <a:endParaRPr lang="en-US" sz="1300" dirty="0"/>
          </a:p>
        </p:txBody>
      </p:sp>
      <p:sp>
        <p:nvSpPr>
          <p:cNvPr id="4" name="caveat card"/>
          <p:cNvSpPr/>
          <p:nvPr/>
        </p:nvSpPr>
        <p:spPr>
          <a:xfrm>
            <a:off x="457200" y="3429000"/>
            <a:ext cx="8229600" cy="731520"/>
          </a:xfrm>
          <a:prstGeom prst="roundRect">
            <a:avLst>
              <a:gd name="adj" fmla="val 10000"/>
            </a:avLst>
          </a:prstGeom>
          <a:solidFill>
            <a:schemeClr val="bg2"/>
          </a:solidFill>
          <a:ln w="12700">
            <a:solidFill>
              <a:schemeClr val="bg2"/>
            </a:solidFill>
            <a:prstDash val="solid"/>
          </a:ln>
        </p:spPr>
      </p:sp>
      <p:sp>
        <p:nvSpPr>
          <p:cNvPr id="5" name="Text 3"/>
          <p:cNvSpPr txBox="1"/>
          <p:nvPr/>
        </p:nvSpPr>
        <p:spPr>
          <a:xfrm>
            <a:off x="640080" y="3493008"/>
            <a:ext cx="7863840" cy="603504"/>
          </a:xfrm>
          <a:prstGeom prst="rect">
            <a:avLst/>
          </a:prstGeom>
          <a:noFill/>
          <a:ln/>
        </p:spPr>
        <p:txBody>
          <a:bodyPr wrap="square" lIns="0" tIns="0" rIns="0" bIns="0" rtlCol="0" anchor="ctr"/>
          <a:lstStyle/>
          <a:p>
            <a:pPr indent="0" marL="0">
              <a:buNone/>
            </a:pPr>
            <a:r>
              <a:rPr lang="en-US" sz="1200" dirty="0">
                <a:solidFill>
                  <a:schemeClr val="tx1"/>
                </a:solidFill>
              </a:rPr>
              <a:t>Caveat: vendors report different benchmark versions and harnesses. Only the Artificial Analysis index puts all models on one scale; treat cross-vendor gaps under ~2 points as noise. Full source list (42 references) in the research baseline document.</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Beam Executive">
  <a:themeElements>
    <a:clrScheme name="Beam Executive">
      <a:dk1>
        <a:srgbClr val="0B1530"/>
      </a:dk1>
      <a:lt1>
        <a:srgbClr val="FFFFFF"/>
      </a:lt1>
      <a:dk2>
        <a:srgbClr val="13254F"/>
      </a:dk2>
      <a:lt2>
        <a:srgbClr val="EEF2F8"/>
      </a:lt2>
      <a:accent1>
        <a:srgbClr val="F2A516"/>
      </a:accent1>
      <a:accent2>
        <a:srgbClr val="2E6FD8"/>
      </a:accent2>
      <a:accent3>
        <a:srgbClr val="5BB4E5"/>
      </a:accent3>
      <a:accent4>
        <a:srgbClr val="8A93A6"/>
      </a:accent4>
      <a:accent5>
        <a:srgbClr val="1BAF7A"/>
      </a:accent5>
      <a:accent6>
        <a:srgbClr val="E34948"/>
      </a:accent6>
      <a:hlink>
        <a:srgbClr val="2E6FD8"/>
      </a:hlink>
      <a:folHlink>
        <a:srgbClr val="6250D6"/>
      </a:folHlink>
    </a:clrScheme>
    <a:fontScheme name="Beam Executi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Beam-Class LLM — Executive Summary</dc:title>
  <dc:subject>PptxGenJS Presentation</dc:subject>
  <dc:creator>Beam research programme</dc:creator>
  <cp:lastModifiedBy>Beam research programme</cp:lastModifiedBy>
  <cp:revision>1</cp:revision>
  <dcterms:created xsi:type="dcterms:W3CDTF">2026-10-19T13:52:45Z</dcterms:created>
  <dcterms:modified xsi:type="dcterms:W3CDTF">2026-10-19T13:52:45Z</dcterms:modified>
</cp:coreProperties>
</file>