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11dec42-056a-80bc-2719-646f8c5946a0}">
          <p14:sldIdLst>
            <p14:sldId id="256"/>
            <p14:sldId id="257"/>
          </p14:sldIdLst>
        </p14:section>
        <p14:section name="Beam today" id="{e1edbac8-7123-114e-83e1-e12e7ae58834}">
          <p14:sldIdLst>
            <p14:sldId id="258"/>
            <p14:sldId id="259"/>
            <p14:sldId id="260"/>
          </p14:sldIdLst>
        </p14:section>
        <p14:section name="Competition" id="{4e97ee3a-ddcc-8336-aef7-18668bbe8616}">
          <p14:sldIdLst>
            <p14:sldId id="261"/>
            <p14:sldId id="262"/>
            <p14:sldId id="263"/>
          </p14:sldIdLst>
        </p14:section>
        <p14:section name="Opportunity" id="{7ef01667-e4f9-0517-169a-5c108b85c12b}">
          <p14:sldIdLst>
            <p14:sldId id="264"/>
            <p14:sldId id="265"/>
          </p14:sldIdLst>
        </p14:section>
        <p14:section name="Plan" id="{73983b88-1941-f63b-5ea3-10cd20fce74f}">
          <p14:sldIdLst>
            <p14:sldId id="266"/>
            <p14:sldId id="267"/>
            <p14:sldId id="268"/>
            <p14:sldId id="269"/>
          </p14:sldIdLst>
        </p14:section>
        <p14:section name="Close" id="{c669ed24-ed0a-3abb-9200-202c6bccf595}">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3254F"/>
                </a:solidFill>
                <a:latin typeface="+mn-lt"/>
              </a:defRPr>
            </a:pPr>
            <a:r>
              <a:rPr sz="1200" b="0" i="0" u="none" strike="noStrike">
                <a:solidFill>
                  <a:srgbClr val="13254F"/>
                </a:solidFill>
                <a:latin typeface="+mn-lt"/>
              </a:rPr>
              <a:t>Estimated GPU-hours by phase</a:t>
            </a:r>
          </a:p>
        </c:rich>
      </c:tx>
      <c:layout/>
      <c:overlay val="0"/>
    </c:title>
    <c:autoTitleDeleted val="0"/>
    <c:plotArea>
      <c:layout/>
      <c:barChart>
        <c:barDir val="bar"/>
        <c:grouping val="clustered"/>
        <c:varyColors val="0"/>
        <c:ser>
          <c:idx val="0"/>
          <c:order val="0"/>
          <c:tx>
            <c:strRef>
              <c:f>Sheet1!$B$1</c:f>
              <c:strCache>
                <c:ptCount val="1"/>
                <c:pt idx="0">
                  <c:v>GB300 GPU-hours (millions, est.)</c:v>
                </c:pt>
              </c:strCache>
            </c:strRef>
          </c:tx>
          <c:spPr>
            <a:solidFill>
              <a:srgbClr val="2E6FD8"/>
            </a:solidFill>
            <a:effectLst/>
          </c:spPr>
          <c:invertIfNegative val="0"/>
          <c:dLbls>
            <c:numFmt formatCode="0.0&quot;M&quot;" sourceLinked="0"/>
            <c:txPr>
              <a:bodyPr/>
              <a:lstStyle/>
              <a:p>
                <a:pPr>
                  <a:defRPr b="0" i="0" strike="noStrike" sz="1000" u="none">
                    <a:solidFill>
                      <a:srgbClr val="0B1530"/>
                    </a:solidFill>
                    <a:latin typeface="+mn-lt"/>
                  </a:defRPr>
                </a:pPr>
              </a:p>
            </c:txPr>
            <c:showLegendKey val="0"/>
            <c:showVal val="1"/>
            <c:showCatName val="0"/>
            <c:showSerName val="0"/>
            <c:showPercent val="0"/>
            <c:showBubbleSize val="0"/>
            <c:showLeaderLines val="0"/>
          </c:dLbls>
          <c:cat>
            <c:multiLvlStrRef>
              <c:f>Sheet1!$A$2:$A$3</c:f>
              <c:multiLvlStrCache>
                <c:ptCount val="2"/>
                <c:lvl>
                  <c:pt idx="0">
                    <c:v>Pre-training</c:v>
                  </c:pt>
                  <c:pt idx="1">
                    <c:v>Reinforcement learning</c:v>
                  </c:pt>
                </c:lvl>
              </c:multiLvlStrCache>
            </c:multiLvlStrRef>
          </c:cat>
          <c:val>
            <c:numRef>
              <c:f>Sheet1!$B$2:$B$3</c:f>
              <c:numCache>
                <c:formatCode>General</c:formatCode>
                <c:ptCount val="2"/>
                <c:pt idx="0">
                  <c:v>2.5</c:v>
                </c:pt>
                <c:pt idx="1">
                  <c:v>7.1</c:v>
                </c:pt>
              </c:numCache>
            </c:numRef>
          </c:val>
        </c:ser>
        <c:dLbls>
          <c:numFmt formatCode="0.0&quot;M&quot;" sourceLinked="0"/>
          <c:txPr>
            <a:bodyPr/>
            <a:lstStyle/>
            <a:p>
              <a:pPr>
                <a:defRPr b="0" i="0" strike="noStrike" sz="1000" u="none">
                  <a:solidFill>
                    <a:srgbClr val="0B15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9"/>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Beam</c:v>
                </c:pt>
              </c:strCache>
            </c:strRef>
          </c:tx>
          <c:spPr>
            <a:solidFill>
              <a:srgbClr val="F2A516"/>
            </a:solidFill>
            <a:effectLst/>
          </c:spPr>
          <c:invertIfNegative val="0"/>
          <c:dLbls>
            <c:numFmt formatCode="0.0" sourceLinked="0"/>
            <c:txPr>
              <a:bodyPr/>
              <a:lstStyle/>
              <a:p>
                <a:pPr>
                  <a:defRPr b="0" i="0" strike="noStrike" sz="900" u="none">
                    <a:solidFill>
                      <a:srgbClr val="0B1530"/>
                    </a:solidFill>
                    <a:latin typeface="+mn-lt"/>
                  </a:defRPr>
                </a:pPr>
              </a:p>
            </c:txPr>
            <c:showLegendKey val="0"/>
            <c:showVal val="1"/>
            <c:showCatName val="0"/>
            <c:showSerName val="0"/>
            <c:showPercent val="0"/>
            <c:showBubbleSize val="0"/>
            <c:showLeaderLines val="0"/>
          </c:dLbls>
          <c:cat>
            <c:multiLvlStrRef>
              <c:f>Sheet1!$A$2:$A$4</c:f>
              <c:multiLvlStrCache>
                <c:ptCount val="3"/>
                <c:lvl>
                  <c:pt idx="0">
                    <c:v>Terminal-Bench 2.1</c:v>
                  </c:pt>
                  <c:pt idx="1">
                    <c:v>GPQA Diamond</c:v>
                  </c:pt>
                  <c:pt idx="2">
                    <c:v>HLE (no tools)</c:v>
                  </c:pt>
                </c:lvl>
              </c:multiLvlStrCache>
            </c:multiLvlStrRef>
          </c:cat>
          <c:val>
            <c:numRef>
              <c:f>Sheet1!$B$2:$B$4</c:f>
              <c:numCache>
                <c:formatCode>General</c:formatCode>
                <c:ptCount val="3"/>
                <c:pt idx="0">
                  <c:v>80.1</c:v>
                </c:pt>
                <c:pt idx="1">
                  <c:v>90.5</c:v>
                </c:pt>
                <c:pt idx="2">
                  <c:v>36.2</c:v>
                </c:pt>
              </c:numCache>
            </c:numRef>
          </c:val>
        </c:ser>
        <c:ser>
          <c:idx val="1"/>
          <c:order val="1"/>
          <c:tx>
            <c:strRef>
              <c:f>Sheet1!$C$1</c:f>
              <c:strCache>
                <c:ptCount val="1"/>
                <c:pt idx="0">
                  <c:v>GLM 5.2</c:v>
                </c:pt>
              </c:strCache>
            </c:strRef>
          </c:tx>
          <c:spPr>
            <a:solidFill>
              <a:srgbClr val="8A93A6"/>
            </a:solidFill>
            <a:effectLst/>
          </c:spPr>
          <c:invertIfNegative val="0"/>
          <c:dLbls>
            <c:numFmt formatCode="0.0" sourceLinked="0"/>
            <c:txPr>
              <a:bodyPr/>
              <a:lstStyle/>
              <a:p>
                <a:pPr>
                  <a:defRPr b="0" i="0" strike="noStrike" sz="900" u="none">
                    <a:solidFill>
                      <a:srgbClr val="0B1530"/>
                    </a:solidFill>
                    <a:latin typeface="+mn-lt"/>
                  </a:defRPr>
                </a:pPr>
              </a:p>
            </c:txPr>
            <c:showLegendKey val="0"/>
            <c:showVal val="1"/>
            <c:showCatName val="0"/>
            <c:showSerName val="0"/>
            <c:showPercent val="0"/>
            <c:showBubbleSize val="0"/>
            <c:showLeaderLines val="0"/>
          </c:dLbls>
          <c:cat>
            <c:multiLvlStrRef>
              <c:f>Sheet1!$A$2:$A$4</c:f>
              <c:multiLvlStrCache>
                <c:ptCount val="3"/>
                <c:lvl>
                  <c:pt idx="0">
                    <c:v>Terminal-Bench 2.1</c:v>
                  </c:pt>
                  <c:pt idx="1">
                    <c:v>GPQA Diamond</c:v>
                  </c:pt>
                  <c:pt idx="2">
                    <c:v>HLE (no tools)</c:v>
                  </c:pt>
                </c:lvl>
              </c:multiLvlStrCache>
            </c:multiLvlStrRef>
          </c:cat>
          <c:val>
            <c:numRef>
              <c:f>Sheet1!$C$2:$C$4</c:f>
              <c:numCache>
                <c:formatCode>General</c:formatCode>
                <c:ptCount val="3"/>
                <c:pt idx="0">
                  <c:v>81</c:v>
                </c:pt>
                <c:pt idx="1">
                  <c:v>91.2</c:v>
                </c:pt>
                <c:pt idx="2">
                  <c:v>40.5</c:v>
                </c:pt>
              </c:numCache>
            </c:numRef>
          </c:val>
        </c:ser>
        <c:ser>
          <c:idx val="2"/>
          <c:order val="2"/>
          <c:tx>
            <c:strRef>
              <c:f>Sheet1!$D$1</c:f>
              <c:strCache>
                <c:ptCount val="1"/>
                <c:pt idx="0">
                  <c:v>Qwen 3.8 Max</c:v>
                </c:pt>
              </c:strCache>
            </c:strRef>
          </c:tx>
          <c:spPr>
            <a:solidFill>
              <a:srgbClr val="B7BECC"/>
            </a:solidFill>
            <a:effectLst/>
          </c:spPr>
          <c:invertIfNegative val="0"/>
          <c:dLbls>
            <c:numFmt formatCode="0.0" sourceLinked="0"/>
            <c:txPr>
              <a:bodyPr/>
              <a:lstStyle/>
              <a:p>
                <a:pPr>
                  <a:defRPr b="0" i="0" strike="noStrike" sz="900" u="none">
                    <a:solidFill>
                      <a:srgbClr val="0B1530"/>
                    </a:solidFill>
                    <a:latin typeface="+mn-lt"/>
                  </a:defRPr>
                </a:pPr>
              </a:p>
            </c:txPr>
            <c:showLegendKey val="0"/>
            <c:showVal val="1"/>
            <c:showCatName val="0"/>
            <c:showSerName val="0"/>
            <c:showPercent val="0"/>
            <c:showBubbleSize val="0"/>
            <c:showLeaderLines val="0"/>
          </c:dLbls>
          <c:cat>
            <c:multiLvlStrRef>
              <c:f>Sheet1!$A$2:$A$4</c:f>
              <c:multiLvlStrCache>
                <c:ptCount val="3"/>
                <c:lvl>
                  <c:pt idx="0">
                    <c:v>Terminal-Bench 2.1</c:v>
                  </c:pt>
                  <c:pt idx="1">
                    <c:v>GPQA Diamond</c:v>
                  </c:pt>
                  <c:pt idx="2">
                    <c:v>HLE (no tools)</c:v>
                  </c:pt>
                </c:lvl>
              </c:multiLvlStrCache>
            </c:multiLvlStrRef>
          </c:cat>
          <c:val>
            <c:numRef>
              <c:f>Sheet1!$D$2:$D$4</c:f>
              <c:numCache>
                <c:formatCode>General</c:formatCode>
                <c:ptCount val="3"/>
                <c:pt idx="0">
                  <c:v>86.6</c:v>
                </c:pt>
                <c:pt idx="1">
                  <c:v>92.6</c:v>
                </c:pt>
                <c:pt idx="2">
                  <c:v>43.6</c:v>
                </c:pt>
              </c:numCache>
            </c:numRef>
          </c:val>
        </c:ser>
        <c:ser>
          <c:idx val="3"/>
          <c:order val="3"/>
          <c:tx>
            <c:strRef>
              <c:f>Sheet1!$E$1</c:f>
              <c:strCache>
                <c:ptCount val="1"/>
                <c:pt idx="0">
                  <c:v>Kimi K3</c:v>
                </c:pt>
              </c:strCache>
            </c:strRef>
          </c:tx>
          <c:spPr>
            <a:solidFill>
              <a:srgbClr val="13254F"/>
            </a:solidFill>
            <a:effectLst/>
          </c:spPr>
          <c:invertIfNegative val="0"/>
          <c:dLbls>
            <c:numFmt formatCode="0.0" sourceLinked="0"/>
            <c:txPr>
              <a:bodyPr/>
              <a:lstStyle/>
              <a:p>
                <a:pPr>
                  <a:defRPr b="0" i="0" strike="noStrike" sz="900" u="none">
                    <a:solidFill>
                      <a:srgbClr val="0B1530"/>
                    </a:solidFill>
                    <a:latin typeface="+mn-lt"/>
                  </a:defRPr>
                </a:pPr>
              </a:p>
            </c:txPr>
            <c:showLegendKey val="0"/>
            <c:showVal val="1"/>
            <c:showCatName val="0"/>
            <c:showSerName val="0"/>
            <c:showPercent val="0"/>
            <c:showBubbleSize val="0"/>
            <c:showLeaderLines val="0"/>
          </c:dLbls>
          <c:cat>
            <c:multiLvlStrRef>
              <c:f>Sheet1!$A$2:$A$4</c:f>
              <c:multiLvlStrCache>
                <c:ptCount val="3"/>
                <c:lvl>
                  <c:pt idx="0">
                    <c:v>Terminal-Bench 2.1</c:v>
                  </c:pt>
                  <c:pt idx="1">
                    <c:v>GPQA Diamond</c:v>
                  </c:pt>
                  <c:pt idx="2">
                    <c:v>HLE (no tools)</c:v>
                  </c:pt>
                </c:lvl>
              </c:multiLvlStrCache>
            </c:multiLvlStrRef>
          </c:cat>
          <c:val>
            <c:numRef>
              <c:f>Sheet1!$E$2:$E$4</c:f>
              <c:numCache>
                <c:formatCode>General</c:formatCode>
                <c:ptCount val="3"/>
                <c:pt idx="0">
                  <c:v>88.3</c:v>
                </c:pt>
                <c:pt idx="1">
                  <c:v>93.5</c:v>
                </c:pt>
                <c:pt idx="2">
                  <c:v>46.9</c:v>
                </c:pt>
              </c:numCache>
            </c:numRef>
          </c:val>
        </c:ser>
        <c:dLbls>
          <c:numFmt formatCode="0.0" sourceLinked="0"/>
          <c:txPr>
            <a:bodyPr/>
            <a:lstStyle/>
            <a:p>
              <a:pPr>
                <a:defRPr b="0" i="0" strike="noStrike" sz="900" u="none">
                  <a:solidFill>
                    <a:srgbClr val="0B15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3E6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Closed</c:v>
                </c:pt>
              </c:strCache>
            </c:strRef>
          </c:tx>
          <c:spPr>
            <a:solidFill>
              <a:srgbClr val="13254F"/>
            </a:solidFill>
            <a:effectLst/>
          </c:spPr>
          <c:invertIfNegative val="0"/>
          <c:dLbls>
            <c:numFmt formatCode="#;;" sourceLinked="0"/>
            <c:txPr>
              <a:bodyPr/>
              <a:lstStyle/>
              <a:p>
                <a:pPr>
                  <a:defRPr b="0"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Sheet1!$A$2:$A$13</c:f>
              <c:multiLvlStrCache>
                <c:ptCount val="12"/>
                <c:lvl>
                  <c:pt idx="0">
                    <c:v>Nemotron 3.5 Super</c:v>
                  </c:pt>
                  <c:pt idx="1">
                    <c:v>Beam 1.0</c:v>
                  </c:pt>
                  <c:pt idx="2">
                    <c:v>Kimi K3</c:v>
                  </c:pt>
                  <c:pt idx="3">
                    <c:v>DeepSeek V4.1 Flash</c:v>
                  </c:pt>
                  <c:pt idx="4">
                    <c:v>GLM-5.3 Max</c:v>
                  </c:pt>
                  <c:pt idx="5">
                    <c:v>MiMo-V2.6-Pro</c:v>
                  </c:pt>
                  <c:pt idx="6">
                    <c:v>Grok 4.7</c:v>
                  </c:pt>
                  <c:pt idx="7">
                    <c:v>Gemini 4 Argon</c:v>
                  </c:pt>
                  <c:pt idx="8">
                    <c:v>Claude Fable 5.1</c:v>
                  </c:pt>
                  <c:pt idx="9">
                    <c:v>GPT-6 Astra</c:v>
                  </c:pt>
                  <c:pt idx="10">
                    <c:v>Claude Sonnet 5.5</c:v>
                  </c:pt>
                  <c:pt idx="11">
                    <c:v>Claude Opus 5.5</c:v>
                  </c:pt>
                </c:lvl>
              </c:multiLvlStrCache>
            </c:multiLvlStrRef>
          </c:cat>
          <c:val>
            <c:numRef>
              <c:f>Sheet1!$B$2:$B$13</c:f>
              <c:numCache>
                <c:formatCode>General</c:formatCode>
                <c:ptCount val="12"/>
                <c:pt idx="0">
                  <c:v>0</c:v>
                </c:pt>
                <c:pt idx="1">
                  <c:v>0</c:v>
                </c:pt>
                <c:pt idx="2">
                  <c:v>0</c:v>
                </c:pt>
                <c:pt idx="3">
                  <c:v>0</c:v>
                </c:pt>
                <c:pt idx="4">
                  <c:v>0</c:v>
                </c:pt>
                <c:pt idx="5">
                  <c:v>0</c:v>
                </c:pt>
                <c:pt idx="6">
                  <c:v>46</c:v>
                </c:pt>
                <c:pt idx="7">
                  <c:v>52.6</c:v>
                </c:pt>
                <c:pt idx="8">
                  <c:v>53</c:v>
                </c:pt>
                <c:pt idx="9">
                  <c:v>53</c:v>
                </c:pt>
                <c:pt idx="10">
                  <c:v>56</c:v>
                </c:pt>
                <c:pt idx="11">
                  <c:v>58</c:v>
                </c:pt>
              </c:numCache>
            </c:numRef>
          </c:val>
        </c:ser>
        <c:ser>
          <c:idx val="1"/>
          <c:order val="1"/>
          <c:tx>
            <c:strRef>
              <c:f>Sheet1!$C$1</c:f>
              <c:strCache>
                <c:ptCount val="1"/>
                <c:pt idx="0">
                  <c:v>Open weights</c:v>
                </c:pt>
              </c:strCache>
            </c:strRef>
          </c:tx>
          <c:spPr>
            <a:solidFill>
              <a:srgbClr val="8A93A6"/>
            </a:solidFill>
            <a:effectLst/>
          </c:spPr>
          <c:invertIfNegative val="0"/>
          <c:dLbls>
            <c:numFmt formatCode="#;;" sourceLinked="0"/>
            <c:txPr>
              <a:bodyPr/>
              <a:lstStyle/>
              <a:p>
                <a:pPr>
                  <a:defRPr b="0"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Sheet1!$A$2:$A$13</c:f>
              <c:multiLvlStrCache>
                <c:ptCount val="12"/>
                <c:lvl>
                  <c:pt idx="0">
                    <c:v>Nemotron 3.5 Super</c:v>
                  </c:pt>
                  <c:pt idx="1">
                    <c:v>Beam 1.0</c:v>
                  </c:pt>
                  <c:pt idx="2">
                    <c:v>Kimi K3</c:v>
                  </c:pt>
                  <c:pt idx="3">
                    <c:v>DeepSeek V4.1 Flash</c:v>
                  </c:pt>
                  <c:pt idx="4">
                    <c:v>GLM-5.3 Max</c:v>
                  </c:pt>
                  <c:pt idx="5">
                    <c:v>MiMo-V2.6-Pro</c:v>
                  </c:pt>
                  <c:pt idx="6">
                    <c:v>Grok 4.7</c:v>
                  </c:pt>
                  <c:pt idx="7">
                    <c:v>Gemini 4 Argon</c:v>
                  </c:pt>
                  <c:pt idx="8">
                    <c:v>Claude Fable 5.1</c:v>
                  </c:pt>
                  <c:pt idx="9">
                    <c:v>GPT-6 Astra</c:v>
                  </c:pt>
                  <c:pt idx="10">
                    <c:v>Claude Sonnet 5.5</c:v>
                  </c:pt>
                  <c:pt idx="11">
                    <c:v>Claude Opus 5.5</c:v>
                  </c:pt>
                </c:lvl>
              </c:multiLvlStrCache>
            </c:multiLvlStrRef>
          </c:cat>
          <c:val>
            <c:numRef>
              <c:f>Sheet1!$C$2:$C$13</c:f>
              <c:numCache>
                <c:formatCode>General</c:formatCode>
                <c:ptCount val="12"/>
                <c:pt idx="0">
                  <c:v>26</c:v>
                </c:pt>
                <c:pt idx="1">
                  <c:v>0</c:v>
                </c:pt>
                <c:pt idx="2">
                  <c:v>44</c:v>
                </c:pt>
                <c:pt idx="3">
                  <c:v>45</c:v>
                </c:pt>
                <c:pt idx="4">
                  <c:v>45</c:v>
                </c:pt>
                <c:pt idx="5">
                  <c:v>46</c:v>
                </c:pt>
                <c:pt idx="6">
                  <c:v>0</c:v>
                </c:pt>
                <c:pt idx="7">
                  <c:v>0</c:v>
                </c:pt>
                <c:pt idx="8">
                  <c:v>0</c:v>
                </c:pt>
                <c:pt idx="9">
                  <c:v>0</c:v>
                </c:pt>
                <c:pt idx="10">
                  <c:v>0</c:v>
                </c:pt>
                <c:pt idx="11">
                  <c:v>0</c:v>
                </c:pt>
              </c:numCache>
            </c:numRef>
          </c:val>
        </c:ser>
        <c:ser>
          <c:idx val="2"/>
          <c:order val="2"/>
          <c:tx>
            <c:strRef>
              <c:f>Sheet1!$D$1</c:f>
              <c:strCache>
                <c:ptCount val="1"/>
                <c:pt idx="0">
                  <c:v>Beam</c:v>
                </c:pt>
              </c:strCache>
            </c:strRef>
          </c:tx>
          <c:spPr>
            <a:solidFill>
              <a:srgbClr val="F2A516"/>
            </a:solidFill>
            <a:effectLst/>
          </c:spPr>
          <c:invertIfNegative val="0"/>
          <c:dLbls>
            <c:numFmt formatCode="#;;" sourceLinked="0"/>
            <c:txPr>
              <a:bodyPr/>
              <a:lstStyle/>
              <a:p>
                <a:pPr>
                  <a:defRPr b="0"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Sheet1!$A$2:$A$13</c:f>
              <c:multiLvlStrCache>
                <c:ptCount val="12"/>
                <c:lvl>
                  <c:pt idx="0">
                    <c:v>Nemotron 3.5 Super</c:v>
                  </c:pt>
                  <c:pt idx="1">
                    <c:v>Beam 1.0</c:v>
                  </c:pt>
                  <c:pt idx="2">
                    <c:v>Kimi K3</c:v>
                  </c:pt>
                  <c:pt idx="3">
                    <c:v>DeepSeek V4.1 Flash</c:v>
                  </c:pt>
                  <c:pt idx="4">
                    <c:v>GLM-5.3 Max</c:v>
                  </c:pt>
                  <c:pt idx="5">
                    <c:v>MiMo-V2.6-Pro</c:v>
                  </c:pt>
                  <c:pt idx="6">
                    <c:v>Grok 4.7</c:v>
                  </c:pt>
                  <c:pt idx="7">
                    <c:v>Gemini 4 Argon</c:v>
                  </c:pt>
                  <c:pt idx="8">
                    <c:v>Claude Fable 5.1</c:v>
                  </c:pt>
                  <c:pt idx="9">
                    <c:v>GPT-6 Astra</c:v>
                  </c:pt>
                  <c:pt idx="10">
                    <c:v>Claude Sonnet 5.5</c:v>
                  </c:pt>
                  <c:pt idx="11">
                    <c:v>Claude Opus 5.5</c:v>
                  </c:pt>
                </c:lvl>
              </c:multiLvlStrCache>
            </c:multiLvlStrRef>
          </c:cat>
          <c:val>
            <c:numRef>
              <c:f>Sheet1!$D$2:$D$13</c:f>
              <c:numCache>
                <c:formatCode>General</c:formatCode>
                <c:ptCount val="12"/>
                <c:pt idx="0">
                  <c:v>0</c:v>
                </c:pt>
                <c:pt idx="1">
                  <c:v>30</c:v>
                </c:pt>
                <c:pt idx="2">
                  <c:v>0</c:v>
                </c:pt>
                <c:pt idx="3">
                  <c:v>0</c:v>
                </c:pt>
                <c:pt idx="4">
                  <c:v>0</c:v>
                </c:pt>
                <c:pt idx="5">
                  <c:v>0</c:v>
                </c:pt>
                <c:pt idx="6">
                  <c:v>0</c:v>
                </c:pt>
                <c:pt idx="7">
                  <c:v>0</c:v>
                </c:pt>
                <c:pt idx="8">
                  <c:v>0</c:v>
                </c:pt>
                <c:pt idx="9">
                  <c:v>0</c:v>
                </c:pt>
                <c:pt idx="10">
                  <c:v>0</c:v>
                </c:pt>
                <c:pt idx="11">
                  <c:v>0</c:v>
                </c:pt>
              </c:numCache>
            </c:numRef>
          </c:val>
        </c:ser>
        <c:dLbls>
          <c:numFmt formatCode="#;;" sourceLinked="0"/>
          <c:txPr>
            <a:bodyPr/>
            <a:lstStyle/>
            <a:p>
              <a:pPr>
                <a:defRPr b="0" i="0" strike="noStrike" sz="1000" u="none">
                  <a:solidFill>
                    <a:srgbClr val="FFFFFF"/>
                  </a:solidFill>
                  <a:latin typeface="+mn-lt"/>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enterprise LLM API spend (%)</c:v>
                </c:pt>
              </c:strCache>
            </c:strRef>
          </c:tx>
          <c:spPr>
            <a:solidFill>
              <a:srgbClr val="2E6FD8"/>
            </a:solidFill>
            <a:effectLst/>
          </c:spPr>
          <c:invertIfNegative val="0"/>
          <c:dLbls>
            <c:numFmt formatCode="0&quot;%&quot;" sourceLinked="0"/>
            <c:txPr>
              <a:bodyPr/>
              <a:lstStyle/>
              <a:p>
                <a:pPr>
                  <a:defRPr b="0" i="0" strike="noStrike" sz="1000" u="none">
                    <a:solidFill>
                      <a:srgbClr val="0B1530"/>
                    </a:solidFill>
                    <a:latin typeface="+mn-lt"/>
                  </a:defRPr>
                </a:pPr>
              </a:p>
            </c:txPr>
            <c:showLegendKey val="0"/>
            <c:showVal val="1"/>
            <c:showCatName val="0"/>
            <c:showSerName val="0"/>
            <c:showPercent val="0"/>
            <c:showBubbleSize val="0"/>
            <c:showLeaderLines val="0"/>
          </c:dLbls>
          <c:cat>
            <c:multiLvlStrRef>
              <c:f>Sheet1!$A$2:$A$5</c:f>
              <c:multiLvlStrCache>
                <c:ptCount val="4"/>
                <c:lvl>
                  <c:pt idx="0">
                    <c:v>Anthropic</c:v>
                  </c:pt>
                  <c:pt idx="1">
                    <c:v>OpenAI</c:v>
                  </c:pt>
                  <c:pt idx="2">
                    <c:v>Google &amp; other closed</c:v>
                  </c:pt>
                  <c:pt idx="3">
                    <c:v>Open-weight models</c:v>
                  </c:pt>
                </c:lvl>
              </c:multiLvlStrCache>
            </c:multiLvlStrRef>
          </c:cat>
          <c:val>
            <c:numRef>
              <c:f>Sheet1!$B$2:$B$5</c:f>
              <c:numCache>
                <c:formatCode>General</c:formatCode>
                <c:ptCount val="4"/>
                <c:pt idx="0">
                  <c:v>40</c:v>
                </c:pt>
                <c:pt idx="1">
                  <c:v>27</c:v>
                </c:pt>
                <c:pt idx="2">
                  <c:v>22</c:v>
                </c:pt>
                <c:pt idx="3">
                  <c:v>11</c:v>
                </c:pt>
              </c:numCache>
            </c:numRef>
          </c:val>
        </c:ser>
        <c:dLbls>
          <c:numFmt formatCode="0&quot;%&quot;" sourceLinked="0"/>
          <c:txPr>
            <a:bodyPr/>
            <a:lstStyle/>
            <a:p>
              <a:pPr>
                <a:defRPr b="0" i="0" strike="noStrike" sz="1000" u="none">
                  <a:solidFill>
                    <a:srgbClr val="0B15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5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Compute</c:v>
                </c:pt>
              </c:strCache>
            </c:strRef>
          </c:tx>
          <c:spPr>
            <a:solidFill>
              <a:srgbClr val="13254F"/>
            </a:solidFill>
            <a:effectLst/>
          </c:spPr>
          <c:invertIfNegative val="0"/>
          <c:dLbls>
            <c:numFmt formatCode="#,##0" sourceLinked="0"/>
            <c:txPr>
              <a:bodyPr/>
              <a:lstStyle/>
              <a:p>
                <a:pPr>
                  <a:defRPr b="0" i="0" strike="noStrike" sz="900" u="none">
                    <a:solidFill>
                      <a:srgbClr val="FFFFFF"/>
                    </a:solidFill>
                    <a:latin typeface="+mn-lt"/>
                  </a:defRPr>
                </a:pPr>
              </a:p>
            </c:txPr>
            <c:showLegendKey val="0"/>
            <c:showVal val="0"/>
            <c:showCatName val="0"/>
            <c:showSerName val="0"/>
            <c:showPercent val="0"/>
            <c:showBubbleSize val="0"/>
            <c:showLeaderLines val="0"/>
          </c:dLbls>
          <c:cat>
            <c:multiLvlStrRef>
              <c:f>Sheet1!$A$2:$A$4</c:f>
              <c:multiLvlStrCache>
                <c:ptCount val="3"/>
                <c:lvl>
                  <c:pt idx="0">
                    <c:v>A. Adapt Beam</c:v>
                  </c:pt>
                  <c:pt idx="1">
                    <c:v>B. Continue pre-training</c:v>
                  </c:pt>
                  <c:pt idx="2">
                    <c:v>C. Build from scratch</c:v>
                  </c:pt>
                </c:lvl>
              </c:multiLvlStrCache>
            </c:multiLvlStrRef>
          </c:cat>
          <c:val>
            <c:numRef>
              <c:f>Sheet1!$B$2:$B$4</c:f>
              <c:numCache>
                <c:formatCode>General</c:formatCode>
                <c:ptCount val="3"/>
                <c:pt idx="0">
                  <c:v>3</c:v>
                </c:pt>
                <c:pt idx="1">
                  <c:v>18</c:v>
                </c:pt>
                <c:pt idx="2">
                  <c:v>55</c:v>
                </c:pt>
              </c:numCache>
            </c:numRef>
          </c:val>
        </c:ser>
        <c:ser>
          <c:idx val="1"/>
          <c:order val="1"/>
          <c:tx>
            <c:strRef>
              <c:f>Sheet1!$C$1</c:f>
              <c:strCache>
                <c:ptCount val="1"/>
                <c:pt idx="0">
                  <c:v>People (2 yrs)</c:v>
                </c:pt>
              </c:strCache>
            </c:strRef>
          </c:tx>
          <c:spPr>
            <a:solidFill>
              <a:srgbClr val="2E6FD8"/>
            </a:solidFill>
            <a:effectLst/>
          </c:spPr>
          <c:invertIfNegative val="0"/>
          <c:dLbls>
            <c:numFmt formatCode="#,##0" sourceLinked="0"/>
            <c:txPr>
              <a:bodyPr/>
              <a:lstStyle/>
              <a:p>
                <a:pPr>
                  <a:defRPr b="0" i="0" strike="noStrike" sz="900" u="none">
                    <a:solidFill>
                      <a:srgbClr val="FFFFFF"/>
                    </a:solidFill>
                    <a:latin typeface="+mn-lt"/>
                  </a:defRPr>
                </a:pPr>
              </a:p>
            </c:txPr>
            <c:showLegendKey val="0"/>
            <c:showVal val="0"/>
            <c:showCatName val="0"/>
            <c:showSerName val="0"/>
            <c:showPercent val="0"/>
            <c:showBubbleSize val="0"/>
            <c:showLeaderLines val="0"/>
          </c:dLbls>
          <c:cat>
            <c:multiLvlStrRef>
              <c:f>Sheet1!$A$2:$A$4</c:f>
              <c:multiLvlStrCache>
                <c:ptCount val="3"/>
                <c:lvl>
                  <c:pt idx="0">
                    <c:v>A. Adapt Beam</c:v>
                  </c:pt>
                  <c:pt idx="1">
                    <c:v>B. Continue pre-training</c:v>
                  </c:pt>
                  <c:pt idx="2">
                    <c:v>C. Build from scratch</c:v>
                  </c:pt>
                </c:lvl>
              </c:multiLvlStrCache>
            </c:multiLvlStrRef>
          </c:cat>
          <c:val>
            <c:numRef>
              <c:f>Sheet1!$C$2:$C$4</c:f>
              <c:numCache>
                <c:formatCode>General</c:formatCode>
                <c:ptCount val="3"/>
                <c:pt idx="0">
                  <c:v>6</c:v>
                </c:pt>
                <c:pt idx="1">
                  <c:v>25</c:v>
                </c:pt>
                <c:pt idx="2">
                  <c:v>80</c:v>
                </c:pt>
              </c:numCache>
            </c:numRef>
          </c:val>
        </c:ser>
        <c:ser>
          <c:idx val="2"/>
          <c:order val="2"/>
          <c:tx>
            <c:strRef>
              <c:f>Sheet1!$D$1</c:f>
              <c:strCache>
                <c:ptCount val="1"/>
                <c:pt idx="0">
                  <c:v>Data &amp; environments</c:v>
                </c:pt>
              </c:strCache>
            </c:strRef>
          </c:tx>
          <c:spPr>
            <a:solidFill>
              <a:srgbClr val="5BB4E5"/>
            </a:solidFill>
            <a:effectLst/>
          </c:spPr>
          <c:invertIfNegative val="0"/>
          <c:dLbls>
            <c:numFmt formatCode="#,##0" sourceLinked="0"/>
            <c:txPr>
              <a:bodyPr/>
              <a:lstStyle/>
              <a:p>
                <a:pPr>
                  <a:defRPr b="0" i="0" strike="noStrike" sz="900" u="none">
                    <a:solidFill>
                      <a:srgbClr val="FFFFFF"/>
                    </a:solidFill>
                    <a:latin typeface="+mn-lt"/>
                  </a:defRPr>
                </a:pPr>
              </a:p>
            </c:txPr>
            <c:showLegendKey val="0"/>
            <c:showVal val="0"/>
            <c:showCatName val="0"/>
            <c:showSerName val="0"/>
            <c:showPercent val="0"/>
            <c:showBubbleSize val="0"/>
            <c:showLeaderLines val="0"/>
          </c:dLbls>
          <c:cat>
            <c:multiLvlStrRef>
              <c:f>Sheet1!$A$2:$A$4</c:f>
              <c:multiLvlStrCache>
                <c:ptCount val="3"/>
                <c:lvl>
                  <c:pt idx="0">
                    <c:v>A. Adapt Beam</c:v>
                  </c:pt>
                  <c:pt idx="1">
                    <c:v>B. Continue pre-training</c:v>
                  </c:pt>
                  <c:pt idx="2">
                    <c:v>C. Build from scratch</c:v>
                  </c:pt>
                </c:lvl>
              </c:multiLvlStrCache>
            </c:multiLvlStrRef>
          </c:cat>
          <c:val>
            <c:numRef>
              <c:f>Sheet1!$D$2:$D$4</c:f>
              <c:numCache>
                <c:formatCode>General</c:formatCode>
                <c:ptCount val="3"/>
                <c:pt idx="0">
                  <c:v>1</c:v>
                </c:pt>
                <c:pt idx="1">
                  <c:v>8</c:v>
                </c:pt>
                <c:pt idx="2">
                  <c:v>25</c:v>
                </c:pt>
              </c:numCache>
            </c:numRef>
          </c:val>
        </c:ser>
        <c:ser>
          <c:idx val="3"/>
          <c:order val="3"/>
          <c:tx>
            <c:strRef>
              <c:f>Sheet1!$E$1</c:f>
              <c:strCache>
                <c:ptCount val="1"/>
                <c:pt idx="0">
                  <c:v>Infra, eval, safety</c:v>
                </c:pt>
              </c:strCache>
            </c:strRef>
          </c:tx>
          <c:spPr>
            <a:solidFill>
              <a:srgbClr val="F2A516"/>
            </a:solidFill>
            <a:effectLst/>
          </c:spPr>
          <c:invertIfNegative val="0"/>
          <c:dLbls>
            <c:numFmt formatCode="#,##0" sourceLinked="0"/>
            <c:txPr>
              <a:bodyPr/>
              <a:lstStyle/>
              <a:p>
                <a:pPr>
                  <a:defRPr b="0" i="0" strike="noStrike" sz="900" u="none">
                    <a:solidFill>
                      <a:srgbClr val="FFFFFF"/>
                    </a:solidFill>
                    <a:latin typeface="+mn-lt"/>
                  </a:defRPr>
                </a:pPr>
              </a:p>
            </c:txPr>
            <c:showLegendKey val="0"/>
            <c:showVal val="0"/>
            <c:showCatName val="0"/>
            <c:showSerName val="0"/>
            <c:showPercent val="0"/>
            <c:showBubbleSize val="0"/>
            <c:showLeaderLines val="0"/>
          </c:dLbls>
          <c:cat>
            <c:multiLvlStrRef>
              <c:f>Sheet1!$A$2:$A$4</c:f>
              <c:multiLvlStrCache>
                <c:ptCount val="3"/>
                <c:lvl>
                  <c:pt idx="0">
                    <c:v>A. Adapt Beam</c:v>
                  </c:pt>
                  <c:pt idx="1">
                    <c:v>B. Continue pre-training</c:v>
                  </c:pt>
                  <c:pt idx="2">
                    <c:v>C. Build from scratch</c:v>
                  </c:pt>
                </c:lvl>
              </c:multiLvlStrCache>
            </c:multiLvlStrRef>
          </c:cat>
          <c:val>
            <c:numRef>
              <c:f>Sheet1!$E$2:$E$4</c:f>
              <c:numCache>
                <c:formatCode>General</c:formatCode>
                <c:ptCount val="3"/>
                <c:pt idx="0">
                  <c:v>1</c:v>
                </c:pt>
                <c:pt idx="1">
                  <c:v>5</c:v>
                </c:pt>
                <c:pt idx="2">
                  <c:v>15</c:v>
                </c:pt>
              </c:numCache>
            </c:numRef>
          </c:val>
        </c:ser>
        <c:dLbls>
          <c:numFmt formatCode="#,##0" sourceLinked="0"/>
          <c:txPr>
            <a:bodyPr/>
            <a:lstStyle/>
            <a:p>
              <a:pPr>
                <a:defRPr b="0" i="0" strike="noStrike" sz="900" u="none">
                  <a:solidFill>
                    <a:srgbClr val="FFFFFF"/>
                  </a:solidFill>
                  <a:latin typeface="+mn-lt"/>
                </a:defRPr>
              </a:pPr>
            </a:p>
          </c:txPr>
          <c:showLegendKey val="0"/>
          <c:showVal val="0"/>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6EC"/>
              </a:solidFill>
              <a:prstDash val="solid"/>
              <a:round/>
            </a:ln>
          </c:spPr>
        </c:majorGridlines>
        <c:title>
          <c:tx>
            <c:rich>
              <a:bodyPr/>
              <a:lstStyle/>
              <a:p>
                <a:pPr>
                  <a:defRPr sz="1000" b="0" i="0" u="none" strike="noStrike">
                    <a:solidFill>
                      <a:srgbClr val="52514E"/>
                    </a:solidFill>
                    <a:latin typeface="Arial"/>
                  </a:defRPr>
                </a:pPr>
                <a:r>
                  <a:rPr sz="1000" b="0" i="0" u="none" strike="noStrike">
                    <a:solidFill>
                      <a:srgbClr val="52514E"/>
                    </a:solidFill>
                    <a:latin typeface="Arial"/>
                  </a:rPr>
                  <a:t>US$ millions (indicative)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decide whether and how to build a new open LLM comparable to Reflection AI's Beam, and how it could compete with the leading vendors. Detailed evidence is in the 37-page research baseline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frame the decision. First, Beam is 28 points behind the leader on the only single-scale independent index. Second, the cost range depends mainly on whether we start from Beam's open weights. Third, enterprises are concentrating spend on closed models, so an open model must win on dimensions other than rank.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Beam is a sparse mixture-of-experts model: 501 billion parameters stored, about 23 billion used per token. It was released under Apache 2.0 with BF16, FP8 and NVFP4 checkpoints, a speculative-decoding drafter, and Mirror CLI, the agent harness it was trained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choices are all published techniques: DeepSeek-style fine-grained experts with auxiliary-loss-free balancing, a sliding-window/global attention mix with no positional encoding on global layers, gated attention, SandwichNorm and FP32 residuals. Nothing here is proprietary, which is good news for a replication.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Pre-training compute is estimated at about 3.3e24 FLOPs. The RL phase ran on roughly 1.7 times as many GPUs for a similar duration. Building verifiable environments and sandbox orchestration is the longest-lead engineering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figures here come from Reflection's own launch table. SWE-bench Verified is 81.6 per the model card, and SWE-bench Pro v1 is 66.1, where Beam beats GLM-5.2 (62.1).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slide. Vendor tables put Beam near GLM-5.2, but the only single-scale independent index puts it 14 to 16 points behind the best open models and 23 to 28 behind Anthropic, OpenAI and Google. Meta's closed Muse Spark 1.3 scored 61 on an earlier index version, which is not comparable and is excluded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Closed vendors compete on capability; Chinese open labs compete on price and open scores. A new US- or EU-built open model sits between them and needs a clear reason to be 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Market-size estimates vary by definition; use them directionally. The consistent signal across sources is that open-weight share of enterprise spend has fallen.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segments where open weights win despite a lower aggregate score. Pick one or two as the commercial wedge; this choice should drive data, RL environments and evaluations.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Competing head-on with Anthropic, OpenAI, Google or xAI requires Level 3 resources. The realistic path to relevance is Level 1 with a clear niche, then Level 2 if the business case is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Author estimates at US$3–5 per GPU-hour and US$300–450K per fully loaded head-year. Option A gives the fastest proof of the data, RL and evaluation stack, and its weights are a permissive Apache 2.0 derivative.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gate has explicit go criteria. Stage 1 (adapt Beam) de-risks the data engine, RL environments and evaluation harness before committing to large compute.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risk register with likelihood and impact is in Section 20 of the research baseline. Also mirror Beam 1.0 weights now: the Apache 2.0 grant is irrevocable for the released version, whatever happens to Reflection's ownership.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requested: approve Stage 1 budget (about US$11M over 3–6 months) and the choice of wedge market. Revisit the larger investment at Gate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citations with links are in Section 24 of Beam_Research_Baseline.docx.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972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651760"/>
            <a:ext cx="7498080" cy="100584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rtlCol="0"/>
          <a:lstStyle>
            <a:lvl1pPr indent="0" marL="0">
              <a:buNone/>
              <a:defRPr lang="en-US" sz="2800" b="1" dirty="0">
                <a:solidFill>
                  <a:schemeClr val="tx2"/>
                </a:solidFill>
              </a:defRPr>
            </a:lvl1pPr>
          </a:lstStyle>
          <a:p>
            <a:pPr indent="0" marL="0">
              <a:buNone/>
            </a:pPr>
            <a:endParaRPr lang="en-US" sz="2800" dirty="0"/>
          </a:p>
        </p:txBody>
      </p:sp>
      <p:sp>
        <p:nvSpPr>
          <p:cNvPr id="3" name="Text 0"/>
          <p:cNvSpPr/>
          <p:nvPr/>
        </p:nvSpPr>
        <p:spPr>
          <a:xfrm>
            <a:off x="457200" y="4800600"/>
            <a:ext cx="6858000" cy="228600"/>
          </a:xfrm>
          <a:prstGeom prst="rect">
            <a:avLst/>
          </a:prstGeom>
          <a:noFill/>
          <a:ln/>
        </p:spPr>
        <p:txBody>
          <a:bodyPr wrap="square" lIns="0" tIns="0" rIns="0" bIns="0" rtlCol="0" anchor="ctr"/>
          <a:lstStyle/>
          <a:p>
            <a:pPr indent="0" marL="0">
              <a:buNone/>
            </a:pPr>
            <a:r>
              <a:rPr lang="en-US" sz="900" dirty="0">
                <a:solidFill>
                  <a:schemeClr val="accent4"/>
                </a:solidFill>
              </a:rPr>
              <a:t>Building a Beam-Class LLM · Executive summary · October 2026</a:t>
            </a:r>
            <a:endParaRPr lang="en-US" sz="9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rtlCol="0"/>
          <a:lstStyle>
            <a:lvl1pPr indent="0" marL="0">
              <a:buNone/>
              <a:defRPr lang="en-US" sz="2800" b="1" dirty="0">
                <a:solidFill>
                  <a:schemeClr val="bg1"/>
                </a:solidFill>
              </a:defRPr>
            </a:lvl1pPr>
          </a:lstStyle>
          <a:p>
            <a:pPr indent="0" marL="0">
              <a:buNone/>
            </a:pPr>
            <a:endParaRPr lang="en-US" sz="2800" dirty="0"/>
          </a:p>
        </p:txBody>
      </p:sp>
      <p:sp>
        <p:nvSpPr>
          <p:cNvPr id="3" name="Text 0"/>
          <p:cNvSpPr/>
          <p:nvPr/>
        </p:nvSpPr>
        <p:spPr>
          <a:xfrm>
            <a:off x="457200" y="4800600"/>
            <a:ext cx="6858000" cy="228600"/>
          </a:xfrm>
          <a:prstGeom prst="rect">
            <a:avLst/>
          </a:prstGeom>
          <a:noFill/>
          <a:ln/>
        </p:spPr>
        <p:txBody>
          <a:bodyPr wrap="square" lIns="0" tIns="0" rIns="0" bIns="0" rtlCol="0" anchor="ctr"/>
          <a:lstStyle/>
          <a:p>
            <a:pPr indent="0" marL="0">
              <a:buNone/>
            </a:pPr>
            <a:r>
              <a:rPr lang="en-US" sz="900" dirty="0">
                <a:solidFill>
                  <a:schemeClr val="accent3"/>
                </a:solidFill>
              </a:rPr>
              <a:t>Building a Beam-Class LLM · Executive summary · October 2026</a:t>
            </a:r>
            <a:endParaRPr lang="en-US" sz="9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3.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97280"/>
          </a:xfrm>
          <a:prstGeom prst="rect">
            <a:avLst/>
          </a:prstGeom>
          <a:noFill/>
          <a:ln/>
        </p:spPr>
        <p:txBody>
          <a:bodyPr wrap="square" lIns="0" tIns="0" rIns="0" bIns="0" rtlCol="0" anchor="b"/>
          <a:lstStyle/>
          <a:p>
            <a:pPr algn="l" indent="0" marL="0">
              <a:buNone/>
            </a:pPr>
            <a:r>
              <a:rPr lang="en-US" sz="4000" b="1" dirty="0">
                <a:solidFill>
                  <a:schemeClr val="bg1"/>
                </a:solidFill>
              </a:rPr>
              <a:t>Building a Beam-Class LLM</a:t>
            </a:r>
            <a:endParaRPr lang="en-US" sz="4000" dirty="0"/>
          </a:p>
        </p:txBody>
      </p:sp>
      <p:sp>
        <p:nvSpPr>
          <p:cNvPr id="3" name="Text 0"/>
          <p:cNvSpPr/>
          <p:nvPr>
            <p:ph idx="101" type="body" hasCustomPrompt="1"/>
          </p:nvPr>
        </p:nvSpPr>
        <p:spPr>
          <a:xfrm>
            <a:off x="548640" y="2651760"/>
            <a:ext cx="7498080" cy="1005840"/>
          </a:xfrm>
          <a:prstGeom prst="rect">
            <a:avLst/>
          </a:prstGeom>
          <a:noFill/>
          <a:ln/>
        </p:spPr>
        <p:txBody>
          <a:bodyPr wrap="square" lIns="0" tIns="0" rIns="0" bIns="0" rtlCol="0" anchor="t"/>
          <a:lstStyle/>
          <a:p>
            <a:pPr indent="0" marL="0">
              <a:buNone/>
            </a:pPr>
            <a:r>
              <a:rPr lang="en-US" sz="1800" dirty="0">
                <a:solidFill>
                  <a:schemeClr val="bg2"/>
                </a:solidFill>
              </a:rPr>
              <a:t>The opportunity to develop a new open model that competes with Anthropic, OpenAI, Google, xAI and Meta</a:t>
            </a:r>
            <a:endParaRPr lang="en-US" sz="1800" dirty="0"/>
          </a:p>
        </p:txBody>
      </p:sp>
      <p:sp>
        <p:nvSpPr>
          <p:cNvPr id="4" name="Text 2"/>
          <p:cNvSpPr txBox="1"/>
          <p:nvPr/>
        </p:nvSpPr>
        <p:spPr>
          <a:xfrm>
            <a:off x="548640" y="4297680"/>
            <a:ext cx="7772400" cy="274320"/>
          </a:xfrm>
          <a:prstGeom prst="rect">
            <a:avLst/>
          </a:prstGeom>
          <a:noFill/>
          <a:ln/>
        </p:spPr>
        <p:txBody>
          <a:bodyPr wrap="square" lIns="0" tIns="0" rIns="0" bIns="0" rtlCol="0" anchor="t"/>
          <a:lstStyle/>
          <a:p>
            <a:pPr indent="0" marL="0">
              <a:buNone/>
            </a:pPr>
            <a:r>
              <a:rPr lang="en-US" sz="1200" dirty="0">
                <a:solidFill>
                  <a:schemeClr val="accent3"/>
                </a:solidFill>
              </a:rPr>
              <a:t>Executive summary · 19 October 2026 · Companion to the Research Baseline v2.0</a:t>
            </a:r>
            <a:endParaRPr lang="en-US" sz="1200" dirty="0"/>
          </a:p>
        </p:txBody>
      </p:sp>
      <p:sp>
        <p:nvSpPr>
          <p:cNvPr id="5" name="beam motif"/>
          <p:cNvSpPr/>
          <p:nvPr/>
        </p:nvSpPr>
        <p:spPr>
          <a:xfrm>
            <a:off x="7406640" y="457200"/>
            <a:ext cx="1188720" cy="1188720"/>
          </a:xfrm>
          <a:prstGeom prst="ellipse">
            <a:avLst/>
          </a:prstGeom>
          <a:solidFill>
            <a:schemeClr val="accent1"/>
          </a:solidFill>
          <a:ln w="12700">
            <a:solidFill>
              <a:schemeClr val="accent1"/>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indent="0" marL="0">
              <a:buNone/>
            </a:pPr>
            <a:r>
              <a:rPr lang="en-US" sz="2800" b="1" dirty="0">
                <a:solidFill>
                  <a:schemeClr val="bg1"/>
                </a:solidFill>
              </a:rPr>
              <a:t>The answer up front</a:t>
            </a:r>
            <a:endParaRPr lang="en-US" sz="2800" dirty="0"/>
          </a:p>
        </p:txBody>
      </p:sp>
      <p:sp>
        <p:nvSpPr>
          <p:cNvPr id="3" name="Text 1"/>
          <p:cNvSpPr txBox="1"/>
          <p:nvPr/>
        </p:nvSpPr>
        <p:spPr>
          <a:xfrm>
            <a:off x="457200" y="1143000"/>
            <a:ext cx="2606040" cy="822960"/>
          </a:xfrm>
          <a:prstGeom prst="rect">
            <a:avLst/>
          </a:prstGeom>
          <a:noFill/>
          <a:ln/>
        </p:spPr>
        <p:txBody>
          <a:bodyPr wrap="square" lIns="0" tIns="0" rIns="0" bIns="0" rtlCol="0" anchor="b"/>
          <a:lstStyle/>
          <a:p>
            <a:pPr indent="0" marL="0">
              <a:buNone/>
            </a:pPr>
            <a:r>
              <a:rPr lang="en-US" sz="4000" b="1" dirty="0">
                <a:solidFill>
                  <a:schemeClr val="accent1"/>
                </a:solidFill>
                <a:latin typeface="Arial" pitchFamily="34" charset="0"/>
                <a:ea typeface="Arial" pitchFamily="34" charset="-122"/>
                <a:cs typeface="Arial" pitchFamily="34" charset="-120"/>
              </a:rPr>
              <a:t>30 vs 58</a:t>
            </a:r>
            <a:endParaRPr lang="en-US" sz="4000" dirty="0"/>
          </a:p>
        </p:txBody>
      </p:sp>
      <p:sp>
        <p:nvSpPr>
          <p:cNvPr id="4" name="Text 2"/>
          <p:cNvSpPr txBox="1"/>
          <p:nvPr/>
        </p:nvSpPr>
        <p:spPr>
          <a:xfrm>
            <a:off x="457200" y="2057400"/>
            <a:ext cx="2514600" cy="914400"/>
          </a:xfrm>
          <a:prstGeom prst="rect">
            <a:avLst/>
          </a:prstGeom>
          <a:noFill/>
          <a:ln/>
        </p:spPr>
        <p:txBody>
          <a:bodyPr wrap="square" lIns="0" tIns="0" rIns="0" bIns="0" rtlCol="0" anchor="t"/>
          <a:lstStyle/>
          <a:p>
            <a:pPr indent="0" marL="0">
              <a:buNone/>
            </a:pPr>
            <a:r>
              <a:rPr lang="en-US" sz="1400" dirty="0">
                <a:solidFill>
                  <a:schemeClr val="bg1"/>
                </a:solidFill>
              </a:rPr>
              <a:t>Beam vs. Claude Opus 5.5 on the independent Artificial Analysis Intelligence Index</a:t>
            </a:r>
            <a:endParaRPr lang="en-US" sz="1400" dirty="0"/>
          </a:p>
        </p:txBody>
      </p:sp>
      <p:sp>
        <p:nvSpPr>
          <p:cNvPr id="5" name="Text 3"/>
          <p:cNvSpPr txBox="1"/>
          <p:nvPr/>
        </p:nvSpPr>
        <p:spPr>
          <a:xfrm>
            <a:off x="3273552" y="1143000"/>
            <a:ext cx="2606040" cy="822960"/>
          </a:xfrm>
          <a:prstGeom prst="rect">
            <a:avLst/>
          </a:prstGeom>
          <a:noFill/>
          <a:ln/>
        </p:spPr>
        <p:txBody>
          <a:bodyPr wrap="square" lIns="0" tIns="0" rIns="0" bIns="0" rtlCol="0" anchor="b"/>
          <a:lstStyle/>
          <a:p>
            <a:pPr indent="0" marL="0">
              <a:buNone/>
            </a:pPr>
            <a:r>
              <a:rPr lang="en-US" sz="4000" b="1" dirty="0">
                <a:solidFill>
                  <a:schemeClr val="accent1"/>
                </a:solidFill>
                <a:latin typeface="Arial" pitchFamily="34" charset="0"/>
                <a:ea typeface="Arial" pitchFamily="34" charset="-122"/>
                <a:cs typeface="Arial" pitchFamily="34" charset="-120"/>
              </a:rPr>
              <a:t>$11–175M</a:t>
            </a:r>
            <a:endParaRPr lang="en-US" sz="4000" dirty="0"/>
          </a:p>
        </p:txBody>
      </p:sp>
      <p:sp>
        <p:nvSpPr>
          <p:cNvPr id="6" name="Text 4"/>
          <p:cNvSpPr txBox="1"/>
          <p:nvPr/>
        </p:nvSpPr>
        <p:spPr>
          <a:xfrm>
            <a:off x="3273552" y="2057400"/>
            <a:ext cx="2514600" cy="914400"/>
          </a:xfrm>
          <a:prstGeom prst="rect">
            <a:avLst/>
          </a:prstGeom>
          <a:noFill/>
          <a:ln/>
        </p:spPr>
        <p:txBody>
          <a:bodyPr wrap="square" lIns="0" tIns="0" rIns="0" bIns="0" rtlCol="0" anchor="t"/>
          <a:lstStyle/>
          <a:p>
            <a:pPr indent="0" marL="0">
              <a:buNone/>
            </a:pPr>
            <a:r>
              <a:rPr lang="en-US" sz="1400" dirty="0">
                <a:solidFill>
                  <a:schemeClr val="bg1"/>
                </a:solidFill>
              </a:rPr>
              <a:t>Indicative 2-year cost to field a Beam-class model: adapt Beam vs. build from scratch</a:t>
            </a:r>
            <a:endParaRPr lang="en-US" sz="1400" dirty="0"/>
          </a:p>
        </p:txBody>
      </p:sp>
      <p:sp>
        <p:nvSpPr>
          <p:cNvPr id="7" name="Text 5"/>
          <p:cNvSpPr txBox="1"/>
          <p:nvPr/>
        </p:nvSpPr>
        <p:spPr>
          <a:xfrm>
            <a:off x="6089904" y="1143000"/>
            <a:ext cx="2606040" cy="822960"/>
          </a:xfrm>
          <a:prstGeom prst="rect">
            <a:avLst/>
          </a:prstGeom>
          <a:noFill/>
          <a:ln/>
        </p:spPr>
        <p:txBody>
          <a:bodyPr wrap="square" lIns="0" tIns="0" rIns="0" bIns="0" rtlCol="0" anchor="b"/>
          <a:lstStyle/>
          <a:p>
            <a:pPr indent="0" marL="0">
              <a:buNone/>
            </a:pPr>
            <a:r>
              <a:rPr lang="en-US" sz="4000" b="1" dirty="0">
                <a:solidFill>
                  <a:schemeClr val="accent1"/>
                </a:solidFill>
                <a:latin typeface="Arial" pitchFamily="34" charset="0"/>
                <a:ea typeface="Arial" pitchFamily="34" charset="-122"/>
                <a:cs typeface="Arial" pitchFamily="34" charset="-120"/>
              </a:rPr>
              <a:t>11%</a:t>
            </a:r>
            <a:endParaRPr lang="en-US" sz="4000" dirty="0"/>
          </a:p>
        </p:txBody>
      </p:sp>
      <p:sp>
        <p:nvSpPr>
          <p:cNvPr id="8" name="Text 6"/>
          <p:cNvSpPr txBox="1"/>
          <p:nvPr/>
        </p:nvSpPr>
        <p:spPr>
          <a:xfrm>
            <a:off x="6089904" y="2057400"/>
            <a:ext cx="2514600" cy="914400"/>
          </a:xfrm>
          <a:prstGeom prst="rect">
            <a:avLst/>
          </a:prstGeom>
          <a:noFill/>
          <a:ln/>
        </p:spPr>
        <p:txBody>
          <a:bodyPr wrap="square" lIns="0" tIns="0" rIns="0" bIns="0" rtlCol="0" anchor="t"/>
          <a:lstStyle/>
          <a:p>
            <a:pPr indent="0" marL="0">
              <a:buNone/>
            </a:pPr>
            <a:r>
              <a:rPr lang="en-US" sz="1400" dirty="0">
                <a:solidFill>
                  <a:schemeClr val="bg1"/>
                </a:solidFill>
              </a:rPr>
              <a:t>Open-weight share of enterprise LLM API spend, down from 19% a year earlier</a:t>
            </a:r>
            <a:endParaRPr lang="en-US" sz="1400" dirty="0"/>
          </a:p>
        </p:txBody>
      </p:sp>
      <p:sp>
        <p:nvSpPr>
          <p:cNvPr id="9" name="verdict card"/>
          <p:cNvSpPr/>
          <p:nvPr/>
        </p:nvSpPr>
        <p:spPr>
          <a:xfrm>
            <a:off x="457200" y="3291840"/>
            <a:ext cx="8229600" cy="1234440"/>
          </a:xfrm>
          <a:prstGeom prst="roundRect">
            <a:avLst>
              <a:gd name="adj" fmla="val 5926"/>
            </a:avLst>
          </a:prstGeom>
          <a:solidFill>
            <a:schemeClr val="tx1"/>
          </a:solidFill>
          <a:ln w="12700">
            <a:solidFill>
              <a:schemeClr val="tx1"/>
            </a:solidFill>
            <a:prstDash val="solid"/>
          </a:ln>
        </p:spPr>
      </p:sp>
      <p:sp>
        <p:nvSpPr>
          <p:cNvPr id="10" name="Text 8"/>
          <p:cNvSpPr txBox="1"/>
          <p:nvPr/>
        </p:nvSpPr>
        <p:spPr>
          <a:xfrm>
            <a:off x="685800" y="3429000"/>
            <a:ext cx="7772400" cy="1005840"/>
          </a:xfrm>
          <a:prstGeom prst="rect">
            <a:avLst/>
          </a:prstGeom>
          <a:noFill/>
          <a:ln/>
        </p:spPr>
        <p:txBody>
          <a:bodyPr wrap="square" lIns="0" tIns="0" rIns="0" bIns="0" rtlCol="0" anchor="ctr"/>
          <a:lstStyle/>
          <a:p>
            <a:pPr indent="0" marL="0">
              <a:buNone/>
            </a:pPr>
            <a:r>
              <a:rPr lang="en-US" sz="1500" b="1" dirty="0">
                <a:solidFill>
                  <a:schemeClr val="accent1"/>
                </a:solidFill>
              </a:rPr>
              <a:t>Verdict: </a:t>
            </a:r>
            <a:pPr indent="0" marL="0">
              <a:buNone/>
            </a:pPr>
            <a:r>
              <a:rPr lang="en-US" sz="1500" dirty="0">
                <a:solidFill>
                  <a:schemeClr val="bg1"/>
                </a:solidFill>
              </a:rPr>
              <a:t>a Beam-class model is buildable and affordable — but it will not beat Anthropic, OpenAI, Google or xAI on general capability. Win where closed models cannot follow: sovereignty, on-prem control, domain specialisation and cost. Start by adapting Beam’s Apache 2.0 weights; gate any from-scratch build on traction.</a:t>
            </a:r>
            <a:endParaRPr lang="en-US" sz="15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indent="0" marL="0">
              <a:buNone/>
            </a:pPr>
            <a:r>
              <a:rPr lang="en-US" sz="2800" b="1" dirty="0">
                <a:solidFill>
                  <a:schemeClr val="tx2"/>
                </a:solidFill>
              </a:rPr>
              <a:t>Beam 1.0: what Reflection AI shipped</a:t>
            </a:r>
            <a:endParaRPr lang="en-US" sz="2800" dirty="0"/>
          </a:p>
        </p:txBody>
      </p:sp>
      <p:sp>
        <p:nvSpPr>
          <p:cNvPr id="3" name="spec card 1"/>
          <p:cNvSpPr/>
          <p:nvPr/>
        </p:nvSpPr>
        <p:spPr>
          <a:xfrm>
            <a:off x="457200" y="1051560"/>
            <a:ext cx="1645920" cy="1234440"/>
          </a:xfrm>
          <a:prstGeom prst="roundRect">
            <a:avLst>
              <a:gd name="adj" fmla="val 5926"/>
            </a:avLst>
          </a:prstGeom>
          <a:solidFill>
            <a:schemeClr val="bg2"/>
          </a:solidFill>
          <a:ln w="12700">
            <a:solidFill>
              <a:schemeClr val="bg2"/>
            </a:solidFill>
            <a:prstDash val="solid"/>
          </a:ln>
        </p:spPr>
      </p:sp>
      <p:sp>
        <p:nvSpPr>
          <p:cNvPr id="4" name="Text 2"/>
          <p:cNvSpPr txBox="1"/>
          <p:nvPr/>
        </p:nvSpPr>
        <p:spPr>
          <a:xfrm>
            <a:off x="566928" y="1216152"/>
            <a:ext cx="1463040" cy="548640"/>
          </a:xfrm>
          <a:prstGeom prst="rect">
            <a:avLst/>
          </a:prstGeom>
          <a:noFill/>
          <a:ln/>
        </p:spPr>
        <p:txBody>
          <a:bodyPr wrap="square" lIns="0" tIns="0" rIns="0" bIns="0" rtlCol="0" anchor="ctr"/>
          <a:lstStyle/>
          <a:p>
            <a:pPr indent="0" marL="0">
              <a:buNone/>
            </a:pPr>
            <a:r>
              <a:rPr lang="en-US" sz="2400" b="1" dirty="0">
                <a:solidFill>
                  <a:schemeClr val="accent2"/>
                </a:solidFill>
                <a:latin typeface="Arial" pitchFamily="34" charset="0"/>
                <a:ea typeface="Arial" pitchFamily="34" charset="-122"/>
                <a:cs typeface="Arial" pitchFamily="34" charset="-120"/>
              </a:rPr>
              <a:t>501B</a:t>
            </a:r>
            <a:endParaRPr lang="en-US" sz="2400" dirty="0"/>
          </a:p>
        </p:txBody>
      </p:sp>
      <p:sp>
        <p:nvSpPr>
          <p:cNvPr id="5" name="Text 3"/>
          <p:cNvSpPr txBox="1"/>
          <p:nvPr/>
        </p:nvSpPr>
        <p:spPr>
          <a:xfrm>
            <a:off x="566928" y="1801368"/>
            <a:ext cx="1463040" cy="365760"/>
          </a:xfrm>
          <a:prstGeom prst="rect">
            <a:avLst/>
          </a:prstGeom>
          <a:noFill/>
          <a:ln/>
        </p:spPr>
        <p:txBody>
          <a:bodyPr wrap="square" lIns="0" tIns="0" rIns="0" bIns="0" rtlCol="0" anchor="t"/>
          <a:lstStyle/>
          <a:p>
            <a:pPr indent="0" marL="0">
              <a:buNone/>
            </a:pPr>
            <a:r>
              <a:rPr lang="en-US" sz="1200" dirty="0">
                <a:solidFill>
                  <a:schemeClr val="tx1"/>
                </a:solidFill>
              </a:rPr>
              <a:t>total parameters</a:t>
            </a:r>
            <a:endParaRPr lang="en-US" sz="1200" dirty="0"/>
          </a:p>
        </p:txBody>
      </p:sp>
      <p:sp>
        <p:nvSpPr>
          <p:cNvPr id="6" name="spec card 2"/>
          <p:cNvSpPr/>
          <p:nvPr/>
        </p:nvSpPr>
        <p:spPr>
          <a:xfrm>
            <a:off x="2240280" y="1051560"/>
            <a:ext cx="1645920" cy="1234440"/>
          </a:xfrm>
          <a:prstGeom prst="roundRect">
            <a:avLst>
              <a:gd name="adj" fmla="val 5926"/>
            </a:avLst>
          </a:prstGeom>
          <a:solidFill>
            <a:schemeClr val="bg2"/>
          </a:solidFill>
          <a:ln w="12700">
            <a:solidFill>
              <a:schemeClr val="bg2"/>
            </a:solidFill>
            <a:prstDash val="solid"/>
          </a:ln>
        </p:spPr>
      </p:sp>
      <p:sp>
        <p:nvSpPr>
          <p:cNvPr id="7" name="Text 5"/>
          <p:cNvSpPr txBox="1"/>
          <p:nvPr/>
        </p:nvSpPr>
        <p:spPr>
          <a:xfrm>
            <a:off x="2350008" y="1216152"/>
            <a:ext cx="1463040" cy="548640"/>
          </a:xfrm>
          <a:prstGeom prst="rect">
            <a:avLst/>
          </a:prstGeom>
          <a:noFill/>
          <a:ln/>
        </p:spPr>
        <p:txBody>
          <a:bodyPr wrap="square" lIns="0" tIns="0" rIns="0" bIns="0" rtlCol="0" anchor="ctr"/>
          <a:lstStyle/>
          <a:p>
            <a:pPr indent="0" marL="0">
              <a:buNone/>
            </a:pPr>
            <a:r>
              <a:rPr lang="en-US" sz="2400" b="1" dirty="0">
                <a:solidFill>
                  <a:schemeClr val="accent2"/>
                </a:solidFill>
                <a:latin typeface="Arial" pitchFamily="34" charset="0"/>
                <a:ea typeface="Arial" pitchFamily="34" charset="-122"/>
                <a:cs typeface="Arial" pitchFamily="34" charset="-120"/>
              </a:rPr>
              <a:t>23.4B</a:t>
            </a:r>
            <a:endParaRPr lang="en-US" sz="2400" dirty="0"/>
          </a:p>
        </p:txBody>
      </p:sp>
      <p:sp>
        <p:nvSpPr>
          <p:cNvPr id="8" name="Text 6"/>
          <p:cNvSpPr txBox="1"/>
          <p:nvPr/>
        </p:nvSpPr>
        <p:spPr>
          <a:xfrm>
            <a:off x="2350008" y="1801368"/>
            <a:ext cx="1463040" cy="365760"/>
          </a:xfrm>
          <a:prstGeom prst="rect">
            <a:avLst/>
          </a:prstGeom>
          <a:noFill/>
          <a:ln/>
        </p:spPr>
        <p:txBody>
          <a:bodyPr wrap="square" lIns="0" tIns="0" rIns="0" bIns="0" rtlCol="0" anchor="t"/>
          <a:lstStyle/>
          <a:p>
            <a:pPr indent="0" marL="0">
              <a:buNone/>
            </a:pPr>
            <a:r>
              <a:rPr lang="en-US" sz="1200" dirty="0">
                <a:solidFill>
                  <a:schemeClr val="tx1"/>
                </a:solidFill>
              </a:rPr>
              <a:t>active per token</a:t>
            </a:r>
            <a:endParaRPr lang="en-US" sz="1200" dirty="0"/>
          </a:p>
        </p:txBody>
      </p:sp>
      <p:sp>
        <p:nvSpPr>
          <p:cNvPr id="9" name="spec card 3"/>
          <p:cNvSpPr/>
          <p:nvPr/>
        </p:nvSpPr>
        <p:spPr>
          <a:xfrm>
            <a:off x="4023360" y="1051560"/>
            <a:ext cx="1645920" cy="1234440"/>
          </a:xfrm>
          <a:prstGeom prst="roundRect">
            <a:avLst>
              <a:gd name="adj" fmla="val 5926"/>
            </a:avLst>
          </a:prstGeom>
          <a:solidFill>
            <a:schemeClr val="bg2"/>
          </a:solidFill>
          <a:ln w="12700">
            <a:solidFill>
              <a:schemeClr val="bg2"/>
            </a:solidFill>
            <a:prstDash val="solid"/>
          </a:ln>
        </p:spPr>
      </p:sp>
      <p:sp>
        <p:nvSpPr>
          <p:cNvPr id="10" name="Text 8"/>
          <p:cNvSpPr txBox="1"/>
          <p:nvPr/>
        </p:nvSpPr>
        <p:spPr>
          <a:xfrm>
            <a:off x="4133088" y="1216152"/>
            <a:ext cx="1463040" cy="548640"/>
          </a:xfrm>
          <a:prstGeom prst="rect">
            <a:avLst/>
          </a:prstGeom>
          <a:noFill/>
          <a:ln/>
        </p:spPr>
        <p:txBody>
          <a:bodyPr wrap="square" lIns="0" tIns="0" rIns="0" bIns="0" rtlCol="0" anchor="ctr"/>
          <a:lstStyle/>
          <a:p>
            <a:pPr indent="0" marL="0">
              <a:buNone/>
            </a:pPr>
            <a:r>
              <a:rPr lang="en-US" sz="2000" b="1" dirty="0">
                <a:solidFill>
                  <a:schemeClr val="accent2"/>
                </a:solidFill>
                <a:latin typeface="Arial" pitchFamily="34" charset="0"/>
                <a:ea typeface="Arial" pitchFamily="34" charset="-122"/>
                <a:cs typeface="Arial" pitchFamily="34" charset="-120"/>
              </a:rPr>
              <a:t>256 / 8</a:t>
            </a:r>
            <a:endParaRPr lang="en-US" sz="2000" dirty="0"/>
          </a:p>
        </p:txBody>
      </p:sp>
      <p:sp>
        <p:nvSpPr>
          <p:cNvPr id="11" name="Text 9"/>
          <p:cNvSpPr txBox="1"/>
          <p:nvPr/>
        </p:nvSpPr>
        <p:spPr>
          <a:xfrm>
            <a:off x="4133088" y="1801368"/>
            <a:ext cx="1463040" cy="365760"/>
          </a:xfrm>
          <a:prstGeom prst="rect">
            <a:avLst/>
          </a:prstGeom>
          <a:noFill/>
          <a:ln/>
        </p:spPr>
        <p:txBody>
          <a:bodyPr wrap="square" lIns="0" tIns="0" rIns="0" bIns="0" rtlCol="0" anchor="t"/>
          <a:lstStyle/>
          <a:p>
            <a:pPr indent="0" marL="0">
              <a:buNone/>
            </a:pPr>
            <a:r>
              <a:rPr lang="en-US" sz="1200" dirty="0">
                <a:solidFill>
                  <a:schemeClr val="tx1"/>
                </a:solidFill>
              </a:rPr>
              <a:t>experts / active</a:t>
            </a:r>
            <a:endParaRPr lang="en-US" sz="1200" dirty="0"/>
          </a:p>
        </p:txBody>
      </p:sp>
      <p:sp>
        <p:nvSpPr>
          <p:cNvPr id="12" name="spec card 4"/>
          <p:cNvSpPr/>
          <p:nvPr/>
        </p:nvSpPr>
        <p:spPr>
          <a:xfrm>
            <a:off x="457200" y="2468880"/>
            <a:ext cx="1645920" cy="1234440"/>
          </a:xfrm>
          <a:prstGeom prst="roundRect">
            <a:avLst>
              <a:gd name="adj" fmla="val 5926"/>
            </a:avLst>
          </a:prstGeom>
          <a:solidFill>
            <a:schemeClr val="bg2"/>
          </a:solidFill>
          <a:ln w="12700">
            <a:solidFill>
              <a:schemeClr val="bg2"/>
            </a:solidFill>
            <a:prstDash val="solid"/>
          </a:ln>
        </p:spPr>
      </p:sp>
      <p:sp>
        <p:nvSpPr>
          <p:cNvPr id="13" name="Text 11"/>
          <p:cNvSpPr txBox="1"/>
          <p:nvPr/>
        </p:nvSpPr>
        <p:spPr>
          <a:xfrm>
            <a:off x="566928" y="2633472"/>
            <a:ext cx="1463040" cy="548640"/>
          </a:xfrm>
          <a:prstGeom prst="rect">
            <a:avLst/>
          </a:prstGeom>
          <a:noFill/>
          <a:ln/>
        </p:spPr>
        <p:txBody>
          <a:bodyPr wrap="square" lIns="0" tIns="0" rIns="0" bIns="0" rtlCol="0" anchor="ctr"/>
          <a:lstStyle/>
          <a:p>
            <a:pPr indent="0" marL="0">
              <a:buNone/>
            </a:pPr>
            <a:r>
              <a:rPr lang="en-US" sz="2400" b="1" dirty="0">
                <a:solidFill>
                  <a:schemeClr val="accent2"/>
                </a:solidFill>
                <a:latin typeface="Arial" pitchFamily="34" charset="0"/>
                <a:ea typeface="Arial" pitchFamily="34" charset="-122"/>
                <a:cs typeface="Arial" pitchFamily="34" charset="-120"/>
              </a:rPr>
              <a:t>1M</a:t>
            </a:r>
            <a:endParaRPr lang="en-US" sz="2400" dirty="0"/>
          </a:p>
        </p:txBody>
      </p:sp>
      <p:sp>
        <p:nvSpPr>
          <p:cNvPr id="14" name="Text 12"/>
          <p:cNvSpPr txBox="1"/>
          <p:nvPr/>
        </p:nvSpPr>
        <p:spPr>
          <a:xfrm>
            <a:off x="566928" y="3218688"/>
            <a:ext cx="1463040" cy="365760"/>
          </a:xfrm>
          <a:prstGeom prst="rect">
            <a:avLst/>
          </a:prstGeom>
          <a:noFill/>
          <a:ln/>
        </p:spPr>
        <p:txBody>
          <a:bodyPr wrap="square" lIns="0" tIns="0" rIns="0" bIns="0" rtlCol="0" anchor="t"/>
          <a:lstStyle/>
          <a:p>
            <a:pPr indent="0" marL="0">
              <a:buNone/>
            </a:pPr>
            <a:r>
              <a:rPr lang="en-US" sz="1200" dirty="0">
                <a:solidFill>
                  <a:schemeClr val="tx1"/>
                </a:solidFill>
              </a:rPr>
              <a:t>token context</a:t>
            </a:r>
            <a:endParaRPr lang="en-US" sz="1200" dirty="0"/>
          </a:p>
        </p:txBody>
      </p:sp>
      <p:sp>
        <p:nvSpPr>
          <p:cNvPr id="15" name="spec card 5"/>
          <p:cNvSpPr/>
          <p:nvPr/>
        </p:nvSpPr>
        <p:spPr>
          <a:xfrm>
            <a:off x="2240280" y="2468880"/>
            <a:ext cx="1645920" cy="1234440"/>
          </a:xfrm>
          <a:prstGeom prst="roundRect">
            <a:avLst>
              <a:gd name="adj" fmla="val 5926"/>
            </a:avLst>
          </a:prstGeom>
          <a:solidFill>
            <a:schemeClr val="bg2"/>
          </a:solidFill>
          <a:ln w="12700">
            <a:solidFill>
              <a:schemeClr val="bg2"/>
            </a:solidFill>
            <a:prstDash val="solid"/>
          </a:ln>
        </p:spPr>
      </p:sp>
      <p:sp>
        <p:nvSpPr>
          <p:cNvPr id="16" name="Text 14"/>
          <p:cNvSpPr txBox="1"/>
          <p:nvPr/>
        </p:nvSpPr>
        <p:spPr>
          <a:xfrm>
            <a:off x="2350008" y="2633472"/>
            <a:ext cx="1463040" cy="548640"/>
          </a:xfrm>
          <a:prstGeom prst="rect">
            <a:avLst/>
          </a:prstGeom>
          <a:noFill/>
          <a:ln/>
        </p:spPr>
        <p:txBody>
          <a:bodyPr wrap="square" lIns="0" tIns="0" rIns="0" bIns="0" rtlCol="0" anchor="ctr"/>
          <a:lstStyle/>
          <a:p>
            <a:pPr indent="0" marL="0">
              <a:buNone/>
            </a:pPr>
            <a:r>
              <a:rPr lang="en-US" sz="2400" b="1" dirty="0">
                <a:solidFill>
                  <a:schemeClr val="accent2"/>
                </a:solidFill>
                <a:latin typeface="Arial" pitchFamily="34" charset="0"/>
                <a:ea typeface="Arial" pitchFamily="34" charset="-122"/>
                <a:cs typeface="Arial" pitchFamily="34" charset="-120"/>
              </a:rPr>
              <a:t>23.8T</a:t>
            </a:r>
            <a:endParaRPr lang="en-US" sz="2400" dirty="0"/>
          </a:p>
        </p:txBody>
      </p:sp>
      <p:sp>
        <p:nvSpPr>
          <p:cNvPr id="17" name="Text 15"/>
          <p:cNvSpPr txBox="1"/>
          <p:nvPr/>
        </p:nvSpPr>
        <p:spPr>
          <a:xfrm>
            <a:off x="2350008" y="3218688"/>
            <a:ext cx="1463040" cy="365760"/>
          </a:xfrm>
          <a:prstGeom prst="rect">
            <a:avLst/>
          </a:prstGeom>
          <a:noFill/>
          <a:ln/>
        </p:spPr>
        <p:txBody>
          <a:bodyPr wrap="square" lIns="0" tIns="0" rIns="0" bIns="0" rtlCol="0" anchor="t"/>
          <a:lstStyle/>
          <a:p>
            <a:pPr indent="0" marL="0">
              <a:buNone/>
            </a:pPr>
            <a:r>
              <a:rPr lang="en-US" sz="1200" dirty="0">
                <a:solidFill>
                  <a:schemeClr val="tx1"/>
                </a:solidFill>
              </a:rPr>
              <a:t>pre-training tokens</a:t>
            </a:r>
            <a:endParaRPr lang="en-US" sz="1200" dirty="0"/>
          </a:p>
        </p:txBody>
      </p:sp>
      <p:sp>
        <p:nvSpPr>
          <p:cNvPr id="18" name="spec card 6"/>
          <p:cNvSpPr/>
          <p:nvPr/>
        </p:nvSpPr>
        <p:spPr>
          <a:xfrm>
            <a:off x="4023360" y="2468880"/>
            <a:ext cx="1645920" cy="1234440"/>
          </a:xfrm>
          <a:prstGeom prst="roundRect">
            <a:avLst>
              <a:gd name="adj" fmla="val 5926"/>
            </a:avLst>
          </a:prstGeom>
          <a:solidFill>
            <a:schemeClr val="bg2"/>
          </a:solidFill>
          <a:ln w="12700">
            <a:solidFill>
              <a:schemeClr val="bg2"/>
            </a:solidFill>
            <a:prstDash val="solid"/>
          </a:ln>
        </p:spPr>
      </p:sp>
      <p:sp>
        <p:nvSpPr>
          <p:cNvPr id="19" name="Text 17"/>
          <p:cNvSpPr txBox="1"/>
          <p:nvPr/>
        </p:nvSpPr>
        <p:spPr>
          <a:xfrm>
            <a:off x="4133088" y="2633472"/>
            <a:ext cx="1463040" cy="548640"/>
          </a:xfrm>
          <a:prstGeom prst="rect">
            <a:avLst/>
          </a:prstGeom>
          <a:noFill/>
          <a:ln/>
        </p:spPr>
        <p:txBody>
          <a:bodyPr wrap="square" lIns="0" tIns="0" rIns="0" bIns="0" rtlCol="0" anchor="ctr"/>
          <a:lstStyle/>
          <a:p>
            <a:pPr indent="0" marL="0">
              <a:buNone/>
            </a:pPr>
            <a:r>
              <a:rPr lang="en-US" sz="2000" b="1" dirty="0">
                <a:solidFill>
                  <a:schemeClr val="accent2"/>
                </a:solidFill>
                <a:latin typeface="Arial" pitchFamily="34" charset="0"/>
                <a:ea typeface="Arial" pitchFamily="34" charset="-122"/>
                <a:cs typeface="Arial" pitchFamily="34" charset="-120"/>
              </a:rPr>
              <a:t>Apache 2.0</a:t>
            </a:r>
            <a:endParaRPr lang="en-US" sz="2000" dirty="0"/>
          </a:p>
        </p:txBody>
      </p:sp>
      <p:sp>
        <p:nvSpPr>
          <p:cNvPr id="20" name="Text 18"/>
          <p:cNvSpPr txBox="1"/>
          <p:nvPr/>
        </p:nvSpPr>
        <p:spPr>
          <a:xfrm>
            <a:off x="4133088" y="3218688"/>
            <a:ext cx="1463040" cy="365760"/>
          </a:xfrm>
          <a:prstGeom prst="rect">
            <a:avLst/>
          </a:prstGeom>
          <a:noFill/>
          <a:ln/>
        </p:spPr>
        <p:txBody>
          <a:bodyPr wrap="square" lIns="0" tIns="0" rIns="0" bIns="0" rtlCol="0" anchor="t"/>
          <a:lstStyle/>
          <a:p>
            <a:pPr indent="0" marL="0">
              <a:buNone/>
            </a:pPr>
            <a:r>
              <a:rPr lang="en-US" sz="1200" dirty="0">
                <a:solidFill>
                  <a:schemeClr val="tx1"/>
                </a:solidFill>
              </a:rPr>
              <a:t>open weights, 16 Oct</a:t>
            </a:r>
            <a:endParaRPr lang="en-US" sz="1200" dirty="0"/>
          </a:p>
        </p:txBody>
      </p:sp>
      <p:sp>
        <p:nvSpPr>
          <p:cNvPr id="21" name="Text 19"/>
          <p:cNvSpPr txBox="1"/>
          <p:nvPr/>
        </p:nvSpPr>
        <p:spPr>
          <a:xfrm>
            <a:off x="5943600" y="1051560"/>
            <a:ext cx="2743200" cy="320040"/>
          </a:xfrm>
          <a:prstGeom prst="rect">
            <a:avLst/>
          </a:prstGeom>
          <a:noFill/>
          <a:ln/>
        </p:spPr>
        <p:txBody>
          <a:bodyPr wrap="square" lIns="0" tIns="0" rIns="0" bIns="0" rtlCol="0" anchor="t"/>
          <a:lstStyle/>
          <a:p>
            <a:pPr indent="0" marL="0">
              <a:buNone/>
            </a:pPr>
            <a:r>
              <a:rPr lang="en-US" sz="1600" b="1" dirty="0">
                <a:solidFill>
                  <a:schemeClr val="tx2"/>
                </a:solidFill>
              </a:rPr>
              <a:t>Timeline</a:t>
            </a:r>
            <a:endParaRPr lang="en-US" sz="1600" dirty="0"/>
          </a:p>
        </p:txBody>
      </p:sp>
      <p:sp>
        <p:nvSpPr>
          <p:cNvPr id="22" name="Text 20"/>
          <p:cNvSpPr txBox="1"/>
          <p:nvPr/>
        </p:nvSpPr>
        <p:spPr>
          <a:xfrm>
            <a:off x="5943600" y="1417320"/>
            <a:ext cx="2743200" cy="30175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2024 · founded by ex-DeepMind team (Laskin, Antonoglou)</a:t>
            </a:r>
            <a:endParaRPr lang="en-US" sz="1300" dirty="0"/>
          </a:p>
          <a:p>
            <a:pPr marL="342900" indent="-342900">
              <a:spcAft>
                <a:spcPts val="600"/>
              </a:spcAft>
              <a:buSzPct val="100000"/>
              <a:buChar char="•"/>
            </a:pPr>
            <a:r>
              <a:rPr lang="en-US" sz="1300" dirty="0">
                <a:solidFill>
                  <a:schemeClr val="tx1"/>
                </a:solidFill>
              </a:rPr>
              <a:t>Oct 2025 · $2B raise led by NVIDIA</a:t>
            </a:r>
            <a:endParaRPr lang="en-US" sz="1300" dirty="0"/>
          </a:p>
          <a:p>
            <a:pPr marL="342900" indent="-342900">
              <a:spcAft>
                <a:spcPts val="600"/>
              </a:spcAft>
              <a:buSzPct val="100000"/>
              <a:buChar char="•"/>
            </a:pPr>
            <a:r>
              <a:rPr lang="en-US" sz="1300" dirty="0">
                <a:solidFill>
                  <a:schemeClr val="tx1"/>
                </a:solidFill>
              </a:rPr>
              <a:t>5 Oct 2026 · Beam announced</a:t>
            </a:r>
            <a:endParaRPr lang="en-US" sz="1300" dirty="0"/>
          </a:p>
          <a:p>
            <a:pPr marL="342900" indent="-342900">
              <a:spcAft>
                <a:spcPts val="600"/>
              </a:spcAft>
              <a:buSzPct val="100000"/>
              <a:buChar char="•"/>
            </a:pPr>
            <a:r>
              <a:rPr lang="en-US" sz="1300" dirty="0">
                <a:solidFill>
                  <a:schemeClr val="tx1"/>
                </a:solidFill>
              </a:rPr>
              <a:t>16 Oct 2026 · weights, Mirror CLI harness and DFlash2 drafter released; 40+ partners</a:t>
            </a:r>
            <a:endParaRPr lang="en-US" sz="1300" dirty="0"/>
          </a:p>
          <a:p>
            <a:pPr marL="342900" indent="-342900">
              <a:spcAft>
                <a:spcPts val="600"/>
              </a:spcAft>
              <a:buSzPct val="100000"/>
              <a:buChar char="•"/>
            </a:pPr>
            <a:r>
              <a:rPr lang="en-US" sz="1300" dirty="0">
                <a:solidFill>
                  <a:schemeClr val="tx1"/>
                </a:solidFill>
              </a:rPr>
              <a:t>Independent score: 30 (19th of 120)</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indent="0" marL="0">
              <a:buNone/>
            </a:pPr>
            <a:r>
              <a:rPr lang="en-US" sz="2800" b="1" dirty="0">
                <a:solidFill>
                  <a:schemeClr val="tx2"/>
                </a:solidFill>
              </a:rPr>
              <a:t>Architecture built for cheap tokens</a:t>
            </a:r>
            <a:endParaRPr lang="en-US" sz="2800" dirty="0"/>
          </a:p>
        </p:txBody>
      </p:sp>
      <p:pic>
        <p:nvPicPr>
          <p:cNvPr id="3" name="architecture diagram" descr="/home/user/1st-Repository/beam-research/figures/fig1_architecture.png">    </p:cNvPr>
          <p:cNvPicPr>
            <a:picLocks noChangeAspect="1"/>
          </p:cNvPicPr>
          <p:nvPr/>
        </p:nvPicPr>
        <p:blipFill>
          <a:blip r:embed="rId1"/>
          <a:stretch>
            <a:fillRect/>
          </a:stretch>
        </p:blipFill>
        <p:spPr>
          <a:xfrm>
            <a:off x="457200" y="1005840"/>
            <a:ext cx="5440680" cy="3557016"/>
          </a:xfrm>
          <a:prstGeom prst="rect">
            <a:avLst/>
          </a:prstGeom>
        </p:spPr>
      </p:pic>
      <p:sp>
        <p:nvSpPr>
          <p:cNvPr id="4" name="Text 1"/>
          <p:cNvSpPr txBox="1"/>
          <p:nvPr/>
        </p:nvSpPr>
        <p:spPr>
          <a:xfrm>
            <a:off x="6172200" y="1051560"/>
            <a:ext cx="2514600" cy="320040"/>
          </a:xfrm>
          <a:prstGeom prst="rect">
            <a:avLst/>
          </a:prstGeom>
          <a:noFill/>
          <a:ln/>
        </p:spPr>
        <p:txBody>
          <a:bodyPr wrap="square" lIns="0" tIns="0" rIns="0" bIns="0" rtlCol="0" anchor="t"/>
          <a:lstStyle/>
          <a:p>
            <a:pPr indent="0" marL="0">
              <a:buNone/>
            </a:pPr>
            <a:r>
              <a:rPr lang="en-US" sz="1500" b="1" dirty="0">
                <a:solidFill>
                  <a:schemeClr val="accent2"/>
                </a:solidFill>
              </a:rPr>
              <a:t>Sparse experts</a:t>
            </a:r>
            <a:endParaRPr lang="en-US" sz="1500" dirty="0"/>
          </a:p>
        </p:txBody>
      </p:sp>
      <p:sp>
        <p:nvSpPr>
          <p:cNvPr id="5" name="Text 2"/>
          <p:cNvSpPr txBox="1"/>
          <p:nvPr/>
        </p:nvSpPr>
        <p:spPr>
          <a:xfrm>
            <a:off x="6172200" y="1399032"/>
            <a:ext cx="2514600" cy="731520"/>
          </a:xfrm>
          <a:prstGeom prst="rect">
            <a:avLst/>
          </a:prstGeom>
          <a:noFill/>
          <a:ln/>
        </p:spPr>
        <p:txBody>
          <a:bodyPr wrap="square" lIns="0" tIns="0" rIns="0" bIns="0" rtlCol="0" anchor="t"/>
          <a:lstStyle/>
          <a:p>
            <a:pPr indent="0" marL="0">
              <a:buNone/>
            </a:pPr>
            <a:r>
              <a:rPr lang="en-US" sz="1300" dirty="0">
                <a:solidFill>
                  <a:schemeClr val="tx1"/>
                </a:solidFill>
              </a:rPr>
              <a:t>Top-8 of 256 experts: ~4.7% of weights active per token</a:t>
            </a:r>
            <a:endParaRPr lang="en-US" sz="1300" dirty="0"/>
          </a:p>
        </p:txBody>
      </p:sp>
      <p:sp>
        <p:nvSpPr>
          <p:cNvPr id="6" name="Text 3"/>
          <p:cNvSpPr txBox="1"/>
          <p:nvPr/>
        </p:nvSpPr>
        <p:spPr>
          <a:xfrm>
            <a:off x="6172200" y="2240280"/>
            <a:ext cx="2514600" cy="320040"/>
          </a:xfrm>
          <a:prstGeom prst="rect">
            <a:avLst/>
          </a:prstGeom>
          <a:noFill/>
          <a:ln/>
        </p:spPr>
        <p:txBody>
          <a:bodyPr wrap="square" lIns="0" tIns="0" rIns="0" bIns="0" rtlCol="0" anchor="t"/>
          <a:lstStyle/>
          <a:p>
            <a:pPr indent="0" marL="0">
              <a:buNone/>
            </a:pPr>
            <a:r>
              <a:rPr lang="en-US" sz="1500" b="1" dirty="0">
                <a:solidFill>
                  <a:schemeClr val="accent2"/>
                </a:solidFill>
              </a:rPr>
              <a:t>Sparse long attention</a:t>
            </a:r>
            <a:endParaRPr lang="en-US" sz="1500" dirty="0"/>
          </a:p>
        </p:txBody>
      </p:sp>
      <p:sp>
        <p:nvSpPr>
          <p:cNvPr id="7" name="Text 4"/>
          <p:cNvSpPr txBox="1"/>
          <p:nvPr/>
        </p:nvSpPr>
        <p:spPr>
          <a:xfrm>
            <a:off x="6172200" y="2587752"/>
            <a:ext cx="2514600" cy="731520"/>
          </a:xfrm>
          <a:prstGeom prst="rect">
            <a:avLst/>
          </a:prstGeom>
          <a:noFill/>
          <a:ln/>
        </p:spPr>
        <p:txBody>
          <a:bodyPr wrap="square" lIns="0" tIns="0" rIns="0" bIns="0" rtlCol="0" anchor="t"/>
          <a:lstStyle/>
          <a:p>
            <a:pPr indent="0" marL="0">
              <a:buNone/>
            </a:pPr>
            <a:r>
              <a:rPr lang="en-US" sz="1300" dirty="0">
                <a:solidFill>
                  <a:schemeClr val="tx1"/>
                </a:solidFill>
              </a:rPr>
              <a:t>512-token window in 43 layers; full context in only 9</a:t>
            </a:r>
            <a:endParaRPr lang="en-US" sz="1300" dirty="0"/>
          </a:p>
        </p:txBody>
      </p:sp>
      <p:sp>
        <p:nvSpPr>
          <p:cNvPr id="8" name="Text 5"/>
          <p:cNvSpPr txBox="1"/>
          <p:nvPr/>
        </p:nvSpPr>
        <p:spPr>
          <a:xfrm>
            <a:off x="6172200" y="3429000"/>
            <a:ext cx="2514600" cy="320040"/>
          </a:xfrm>
          <a:prstGeom prst="rect">
            <a:avLst/>
          </a:prstGeom>
          <a:noFill/>
          <a:ln/>
        </p:spPr>
        <p:txBody>
          <a:bodyPr wrap="square" lIns="0" tIns="0" rIns="0" bIns="0" rtlCol="0" anchor="t"/>
          <a:lstStyle/>
          <a:p>
            <a:pPr indent="0" marL="0">
              <a:buNone/>
            </a:pPr>
            <a:r>
              <a:rPr lang="en-US" sz="1500" b="1" dirty="0">
                <a:solidFill>
                  <a:schemeClr val="accent2"/>
                </a:solidFill>
              </a:rPr>
              <a:t>Ready to serve</a:t>
            </a:r>
            <a:endParaRPr lang="en-US" sz="1500" dirty="0"/>
          </a:p>
        </p:txBody>
      </p:sp>
      <p:sp>
        <p:nvSpPr>
          <p:cNvPr id="9" name="Text 6"/>
          <p:cNvSpPr txBox="1"/>
          <p:nvPr/>
        </p:nvSpPr>
        <p:spPr>
          <a:xfrm>
            <a:off x="6172200" y="3776472"/>
            <a:ext cx="2514600" cy="731520"/>
          </a:xfrm>
          <a:prstGeom prst="rect">
            <a:avLst/>
          </a:prstGeom>
          <a:noFill/>
          <a:ln/>
        </p:spPr>
        <p:txBody>
          <a:bodyPr wrap="square" lIns="0" tIns="0" rIns="0" bIns="0" rtlCol="0" anchor="t"/>
          <a:lstStyle/>
          <a:p>
            <a:pPr indent="0" marL="0">
              <a:buNone/>
            </a:pPr>
            <a:r>
              <a:rPr lang="en-US" sz="1300" dirty="0">
                <a:solidFill>
                  <a:schemeClr val="tx1"/>
                </a:solidFill>
              </a:rPr>
              <a:t>NVFP4 loses ≤1.7 pts; fits one 8-GPU node; drafter speeds agents</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indent="0" marL="0">
              <a:buNone/>
            </a:pPr>
            <a:r>
              <a:rPr lang="en-US" sz="2800" b="1" dirty="0">
                <a:solidFill>
                  <a:schemeClr val="tx2"/>
                </a:solidFill>
              </a:rPr>
              <a:t>Training: post-training is the big bill</a:t>
            </a:r>
            <a:endParaRPr lang="en-US" sz="2800" dirty="0"/>
          </a:p>
        </p:txBody>
      </p:sp>
      <p:sp>
        <p:nvSpPr>
          <p:cNvPr id="3" name="step 1"/>
          <p:cNvSpPr/>
          <p:nvPr/>
        </p:nvSpPr>
        <p:spPr>
          <a:xfrm>
            <a:off x="457200" y="1143000"/>
            <a:ext cx="1508760" cy="1600200"/>
          </a:xfrm>
          <a:prstGeom prst="roundRect">
            <a:avLst>
              <a:gd name="adj" fmla="val 4848"/>
            </a:avLst>
          </a:prstGeom>
          <a:solidFill>
            <a:schemeClr val="bg2"/>
          </a:solidFill>
          <a:ln w="12700">
            <a:solidFill>
              <a:schemeClr val="bg2"/>
            </a:solidFill>
            <a:prstDash val="solid"/>
          </a:ln>
        </p:spPr>
      </p:sp>
      <p:sp>
        <p:nvSpPr>
          <p:cNvPr id="4" name="Text 2"/>
          <p:cNvSpPr txBox="1"/>
          <p:nvPr/>
        </p:nvSpPr>
        <p:spPr>
          <a:xfrm>
            <a:off x="594360" y="1252728"/>
            <a:ext cx="457200" cy="365760"/>
          </a:xfrm>
          <a:prstGeom prst="rect">
            <a:avLst/>
          </a:prstGeom>
          <a:noFill/>
          <a:ln/>
        </p:spPr>
        <p:txBody>
          <a:bodyPr wrap="square" lIns="0" tIns="0" rIns="0" bIns="0" rtlCol="0" anchor="t"/>
          <a:lstStyle/>
          <a:p>
            <a:pPr indent="0" marL="0">
              <a:buNone/>
            </a:pPr>
            <a:r>
              <a:rPr lang="en-US" sz="1800" b="1" dirty="0">
                <a:solidFill>
                  <a:schemeClr val="accent1"/>
                </a:solidFill>
              </a:rPr>
              <a:t>1</a:t>
            </a:r>
            <a:endParaRPr lang="en-US" sz="1800" dirty="0"/>
          </a:p>
        </p:txBody>
      </p:sp>
      <p:sp>
        <p:nvSpPr>
          <p:cNvPr id="5" name="Text 3"/>
          <p:cNvSpPr txBox="1"/>
          <p:nvPr/>
        </p:nvSpPr>
        <p:spPr>
          <a:xfrm>
            <a:off x="594360" y="1645920"/>
            <a:ext cx="1280160" cy="320040"/>
          </a:xfrm>
          <a:prstGeom prst="rect">
            <a:avLst/>
          </a:prstGeom>
          <a:noFill/>
          <a:ln/>
        </p:spPr>
        <p:txBody>
          <a:bodyPr wrap="square" lIns="0" tIns="0" rIns="0" bIns="0" rtlCol="0" anchor="t"/>
          <a:lstStyle/>
          <a:p>
            <a:pPr indent="0" marL="0">
              <a:buNone/>
            </a:pPr>
            <a:r>
              <a:rPr lang="en-US" sz="1500" b="1" dirty="0">
                <a:solidFill>
                  <a:schemeClr val="tx2"/>
                </a:solidFill>
              </a:rPr>
              <a:t>Curate</a:t>
            </a:r>
            <a:endParaRPr lang="en-US" sz="1500" dirty="0"/>
          </a:p>
        </p:txBody>
      </p:sp>
      <p:sp>
        <p:nvSpPr>
          <p:cNvPr id="6" name="Text 4"/>
          <p:cNvSpPr txBox="1"/>
          <p:nvPr/>
        </p:nvSpPr>
        <p:spPr>
          <a:xfrm>
            <a:off x="594360" y="1993392"/>
            <a:ext cx="1280160" cy="685800"/>
          </a:xfrm>
          <a:prstGeom prst="rect">
            <a:avLst/>
          </a:prstGeom>
          <a:noFill/>
          <a:ln/>
        </p:spPr>
        <p:txBody>
          <a:bodyPr wrap="square" lIns="0" tIns="0" rIns="0" bIns="0" rtlCol="0" anchor="t"/>
          <a:lstStyle/>
          <a:p>
            <a:pPr indent="0" marL="0">
              <a:buNone/>
            </a:pPr>
            <a:r>
              <a:rPr lang="en-US" sz="1200" dirty="0">
                <a:solidFill>
                  <a:schemeClr val="tx1"/>
                </a:solidFill>
              </a:rPr>
              <a:t>~95% of web text discarded</a:t>
            </a:r>
            <a:endParaRPr lang="en-US" sz="1200" dirty="0"/>
          </a:p>
        </p:txBody>
      </p:sp>
      <p:sp>
        <p:nvSpPr>
          <p:cNvPr id="7" name="step 2"/>
          <p:cNvSpPr/>
          <p:nvPr/>
        </p:nvSpPr>
        <p:spPr>
          <a:xfrm>
            <a:off x="2130552" y="1143000"/>
            <a:ext cx="1508760" cy="1600200"/>
          </a:xfrm>
          <a:prstGeom prst="roundRect">
            <a:avLst>
              <a:gd name="adj" fmla="val 4848"/>
            </a:avLst>
          </a:prstGeom>
          <a:solidFill>
            <a:schemeClr val="bg2"/>
          </a:solidFill>
          <a:ln w="12700">
            <a:solidFill>
              <a:schemeClr val="bg2"/>
            </a:solidFill>
            <a:prstDash val="solid"/>
          </a:ln>
        </p:spPr>
      </p:sp>
      <p:sp>
        <p:nvSpPr>
          <p:cNvPr id="8" name="Text 6"/>
          <p:cNvSpPr txBox="1"/>
          <p:nvPr/>
        </p:nvSpPr>
        <p:spPr>
          <a:xfrm>
            <a:off x="2267712" y="1252728"/>
            <a:ext cx="457200" cy="365760"/>
          </a:xfrm>
          <a:prstGeom prst="rect">
            <a:avLst/>
          </a:prstGeom>
          <a:noFill/>
          <a:ln/>
        </p:spPr>
        <p:txBody>
          <a:bodyPr wrap="square" lIns="0" tIns="0" rIns="0" bIns="0" rtlCol="0" anchor="t"/>
          <a:lstStyle/>
          <a:p>
            <a:pPr indent="0" marL="0">
              <a:buNone/>
            </a:pPr>
            <a:r>
              <a:rPr lang="en-US" sz="1800" b="1" dirty="0">
                <a:solidFill>
                  <a:schemeClr val="accent1"/>
                </a:solidFill>
              </a:rPr>
              <a:t>2</a:t>
            </a:r>
            <a:endParaRPr lang="en-US" sz="1800" dirty="0"/>
          </a:p>
        </p:txBody>
      </p:sp>
      <p:sp>
        <p:nvSpPr>
          <p:cNvPr id="9" name="Text 7"/>
          <p:cNvSpPr txBox="1"/>
          <p:nvPr/>
        </p:nvSpPr>
        <p:spPr>
          <a:xfrm>
            <a:off x="2267712" y="1645920"/>
            <a:ext cx="1280160" cy="320040"/>
          </a:xfrm>
          <a:prstGeom prst="rect">
            <a:avLst/>
          </a:prstGeom>
          <a:noFill/>
          <a:ln/>
        </p:spPr>
        <p:txBody>
          <a:bodyPr wrap="square" lIns="0" tIns="0" rIns="0" bIns="0" rtlCol="0" anchor="t"/>
          <a:lstStyle/>
          <a:p>
            <a:pPr indent="0" marL="0">
              <a:buNone/>
            </a:pPr>
            <a:r>
              <a:rPr lang="en-US" sz="1500" b="1" dirty="0">
                <a:solidFill>
                  <a:schemeClr val="tx2"/>
                </a:solidFill>
              </a:rPr>
              <a:t>Pre-train</a:t>
            </a:r>
            <a:endParaRPr lang="en-US" sz="1500" dirty="0"/>
          </a:p>
        </p:txBody>
      </p:sp>
      <p:sp>
        <p:nvSpPr>
          <p:cNvPr id="10" name="Text 8"/>
          <p:cNvSpPr txBox="1"/>
          <p:nvPr/>
        </p:nvSpPr>
        <p:spPr>
          <a:xfrm>
            <a:off x="2267712" y="1993392"/>
            <a:ext cx="1280160" cy="685800"/>
          </a:xfrm>
          <a:prstGeom prst="rect">
            <a:avLst/>
          </a:prstGeom>
          <a:noFill/>
          <a:ln/>
        </p:spPr>
        <p:txBody>
          <a:bodyPr wrap="square" lIns="0" tIns="0" rIns="0" bIns="0" rtlCol="0" anchor="t"/>
          <a:lstStyle/>
          <a:p>
            <a:pPr indent="0" marL="0">
              <a:buNone/>
            </a:pPr>
            <a:r>
              <a:rPr lang="en-US" sz="1200" dirty="0">
                <a:solidFill>
                  <a:schemeClr val="tx1"/>
                </a:solidFill>
              </a:rPr>
              <a:t>23.8T tokens · 6,144 GB300 · &lt;4 wks</a:t>
            </a:r>
            <a:endParaRPr lang="en-US" sz="1200" dirty="0"/>
          </a:p>
        </p:txBody>
      </p:sp>
      <p:sp>
        <p:nvSpPr>
          <p:cNvPr id="11" name="step 3"/>
          <p:cNvSpPr/>
          <p:nvPr/>
        </p:nvSpPr>
        <p:spPr>
          <a:xfrm>
            <a:off x="3803904" y="1143000"/>
            <a:ext cx="1508760" cy="1600200"/>
          </a:xfrm>
          <a:prstGeom prst="roundRect">
            <a:avLst>
              <a:gd name="adj" fmla="val 4848"/>
            </a:avLst>
          </a:prstGeom>
          <a:solidFill>
            <a:schemeClr val="bg2"/>
          </a:solidFill>
          <a:ln w="12700">
            <a:solidFill>
              <a:schemeClr val="bg2"/>
            </a:solidFill>
            <a:prstDash val="solid"/>
          </a:ln>
        </p:spPr>
      </p:sp>
      <p:sp>
        <p:nvSpPr>
          <p:cNvPr id="12" name="Text 10"/>
          <p:cNvSpPr txBox="1"/>
          <p:nvPr/>
        </p:nvSpPr>
        <p:spPr>
          <a:xfrm>
            <a:off x="3941064" y="1252728"/>
            <a:ext cx="457200" cy="365760"/>
          </a:xfrm>
          <a:prstGeom prst="rect">
            <a:avLst/>
          </a:prstGeom>
          <a:noFill/>
          <a:ln/>
        </p:spPr>
        <p:txBody>
          <a:bodyPr wrap="square" lIns="0" tIns="0" rIns="0" bIns="0" rtlCol="0" anchor="t"/>
          <a:lstStyle/>
          <a:p>
            <a:pPr indent="0" marL="0">
              <a:buNone/>
            </a:pPr>
            <a:r>
              <a:rPr lang="en-US" sz="1800" b="1" dirty="0">
                <a:solidFill>
                  <a:schemeClr val="accent1"/>
                </a:solidFill>
              </a:rPr>
              <a:t>3</a:t>
            </a:r>
            <a:endParaRPr lang="en-US" sz="1800" dirty="0"/>
          </a:p>
        </p:txBody>
      </p:sp>
      <p:sp>
        <p:nvSpPr>
          <p:cNvPr id="13" name="Text 11"/>
          <p:cNvSpPr txBox="1"/>
          <p:nvPr/>
        </p:nvSpPr>
        <p:spPr>
          <a:xfrm>
            <a:off x="3941064" y="1645920"/>
            <a:ext cx="1280160" cy="320040"/>
          </a:xfrm>
          <a:prstGeom prst="rect">
            <a:avLst/>
          </a:prstGeom>
          <a:noFill/>
          <a:ln/>
        </p:spPr>
        <p:txBody>
          <a:bodyPr wrap="square" lIns="0" tIns="0" rIns="0" bIns="0" rtlCol="0" anchor="t"/>
          <a:lstStyle/>
          <a:p>
            <a:pPr indent="0" marL="0">
              <a:buNone/>
            </a:pPr>
            <a:r>
              <a:rPr lang="en-US" sz="1500" b="1" dirty="0">
                <a:solidFill>
                  <a:schemeClr val="tx2"/>
                </a:solidFill>
              </a:rPr>
              <a:t>Mid-train</a:t>
            </a:r>
            <a:endParaRPr lang="en-US" sz="1500" dirty="0"/>
          </a:p>
        </p:txBody>
      </p:sp>
      <p:sp>
        <p:nvSpPr>
          <p:cNvPr id="14" name="Text 12"/>
          <p:cNvSpPr txBox="1"/>
          <p:nvPr/>
        </p:nvSpPr>
        <p:spPr>
          <a:xfrm>
            <a:off x="3941064" y="1993392"/>
            <a:ext cx="1280160" cy="685800"/>
          </a:xfrm>
          <a:prstGeom prst="rect">
            <a:avLst/>
          </a:prstGeom>
          <a:noFill/>
          <a:ln/>
        </p:spPr>
        <p:txBody>
          <a:bodyPr wrap="square" lIns="0" tIns="0" rIns="0" bIns="0" rtlCol="0" anchor="t"/>
          <a:lstStyle/>
          <a:p>
            <a:pPr indent="0" marL="0">
              <a:buNone/>
            </a:pPr>
            <a:r>
              <a:rPr lang="en-US" sz="1200" dirty="0">
                <a:solidFill>
                  <a:schemeClr val="tx1"/>
                </a:solidFill>
              </a:rPr>
              <a:t>Context to 1M tokens</a:t>
            </a:r>
            <a:endParaRPr lang="en-US" sz="1200" dirty="0"/>
          </a:p>
        </p:txBody>
      </p:sp>
      <p:sp>
        <p:nvSpPr>
          <p:cNvPr id="15" name="step 4"/>
          <p:cNvSpPr/>
          <p:nvPr/>
        </p:nvSpPr>
        <p:spPr>
          <a:xfrm>
            <a:off x="5477256" y="1143000"/>
            <a:ext cx="1508760" cy="1600200"/>
          </a:xfrm>
          <a:prstGeom prst="roundRect">
            <a:avLst>
              <a:gd name="adj" fmla="val 4848"/>
            </a:avLst>
          </a:prstGeom>
          <a:solidFill>
            <a:schemeClr val="bg2"/>
          </a:solidFill>
          <a:ln w="12700">
            <a:solidFill>
              <a:schemeClr val="bg2"/>
            </a:solidFill>
            <a:prstDash val="solid"/>
          </a:ln>
        </p:spPr>
      </p:sp>
      <p:sp>
        <p:nvSpPr>
          <p:cNvPr id="16" name="Text 14"/>
          <p:cNvSpPr txBox="1"/>
          <p:nvPr/>
        </p:nvSpPr>
        <p:spPr>
          <a:xfrm>
            <a:off x="5614416" y="1252728"/>
            <a:ext cx="457200" cy="365760"/>
          </a:xfrm>
          <a:prstGeom prst="rect">
            <a:avLst/>
          </a:prstGeom>
          <a:noFill/>
          <a:ln/>
        </p:spPr>
        <p:txBody>
          <a:bodyPr wrap="square" lIns="0" tIns="0" rIns="0" bIns="0" rtlCol="0" anchor="t"/>
          <a:lstStyle/>
          <a:p>
            <a:pPr indent="0" marL="0">
              <a:buNone/>
            </a:pPr>
            <a:r>
              <a:rPr lang="en-US" sz="1800" b="1" dirty="0">
                <a:solidFill>
                  <a:schemeClr val="accent1"/>
                </a:solidFill>
              </a:rPr>
              <a:t>4</a:t>
            </a:r>
            <a:endParaRPr lang="en-US" sz="1800" dirty="0"/>
          </a:p>
        </p:txBody>
      </p:sp>
      <p:sp>
        <p:nvSpPr>
          <p:cNvPr id="17" name="Text 15"/>
          <p:cNvSpPr txBox="1"/>
          <p:nvPr/>
        </p:nvSpPr>
        <p:spPr>
          <a:xfrm>
            <a:off x="5614416" y="1645920"/>
            <a:ext cx="1280160" cy="320040"/>
          </a:xfrm>
          <a:prstGeom prst="rect">
            <a:avLst/>
          </a:prstGeom>
          <a:noFill/>
          <a:ln/>
        </p:spPr>
        <p:txBody>
          <a:bodyPr wrap="square" lIns="0" tIns="0" rIns="0" bIns="0" rtlCol="0" anchor="t"/>
          <a:lstStyle/>
          <a:p>
            <a:pPr indent="0" marL="0">
              <a:buNone/>
            </a:pPr>
            <a:r>
              <a:rPr lang="en-US" sz="1500" b="1" dirty="0">
                <a:solidFill>
                  <a:schemeClr val="tx2"/>
                </a:solidFill>
              </a:rPr>
              <a:t>SFT</a:t>
            </a:r>
            <a:endParaRPr lang="en-US" sz="1500" dirty="0"/>
          </a:p>
        </p:txBody>
      </p:sp>
      <p:sp>
        <p:nvSpPr>
          <p:cNvPr id="18" name="Text 16"/>
          <p:cNvSpPr txBox="1"/>
          <p:nvPr/>
        </p:nvSpPr>
        <p:spPr>
          <a:xfrm>
            <a:off x="5614416" y="1993392"/>
            <a:ext cx="1280160" cy="685800"/>
          </a:xfrm>
          <a:prstGeom prst="rect">
            <a:avLst/>
          </a:prstGeom>
          <a:noFill/>
          <a:ln/>
        </p:spPr>
        <p:txBody>
          <a:bodyPr wrap="square" lIns="0" tIns="0" rIns="0" bIns="0" rtlCol="0" anchor="t"/>
          <a:lstStyle/>
          <a:p>
            <a:pPr indent="0" marL="0">
              <a:buNone/>
            </a:pPr>
            <a:r>
              <a:rPr lang="en-US" sz="1200" dirty="0">
                <a:solidFill>
                  <a:schemeClr val="tx1"/>
                </a:solidFill>
              </a:rPr>
              <a:t>Tool use &amp; agent traces</a:t>
            </a:r>
            <a:endParaRPr lang="en-US" sz="1200" dirty="0"/>
          </a:p>
        </p:txBody>
      </p:sp>
      <p:sp>
        <p:nvSpPr>
          <p:cNvPr id="19" name="step 5"/>
          <p:cNvSpPr/>
          <p:nvPr/>
        </p:nvSpPr>
        <p:spPr>
          <a:xfrm>
            <a:off x="7150608" y="1143000"/>
            <a:ext cx="1508760" cy="1600200"/>
          </a:xfrm>
          <a:prstGeom prst="roundRect">
            <a:avLst>
              <a:gd name="adj" fmla="val 4848"/>
            </a:avLst>
          </a:prstGeom>
          <a:solidFill>
            <a:schemeClr val="tx2"/>
          </a:solidFill>
          <a:ln w="12700">
            <a:solidFill>
              <a:schemeClr val="tx2"/>
            </a:solidFill>
            <a:prstDash val="solid"/>
          </a:ln>
        </p:spPr>
      </p:sp>
      <p:sp>
        <p:nvSpPr>
          <p:cNvPr id="20" name="Text 18"/>
          <p:cNvSpPr txBox="1"/>
          <p:nvPr/>
        </p:nvSpPr>
        <p:spPr>
          <a:xfrm>
            <a:off x="7287768" y="1252728"/>
            <a:ext cx="457200" cy="365760"/>
          </a:xfrm>
          <a:prstGeom prst="rect">
            <a:avLst/>
          </a:prstGeom>
          <a:noFill/>
          <a:ln/>
        </p:spPr>
        <p:txBody>
          <a:bodyPr wrap="square" lIns="0" tIns="0" rIns="0" bIns="0" rtlCol="0" anchor="t"/>
          <a:lstStyle/>
          <a:p>
            <a:pPr indent="0" marL="0">
              <a:buNone/>
            </a:pPr>
            <a:r>
              <a:rPr lang="en-US" sz="1800" b="1" dirty="0">
                <a:solidFill>
                  <a:schemeClr val="accent1"/>
                </a:solidFill>
              </a:rPr>
              <a:t>5</a:t>
            </a:r>
            <a:endParaRPr lang="en-US" sz="1800" dirty="0"/>
          </a:p>
        </p:txBody>
      </p:sp>
      <p:sp>
        <p:nvSpPr>
          <p:cNvPr id="21" name="Text 19"/>
          <p:cNvSpPr txBox="1"/>
          <p:nvPr/>
        </p:nvSpPr>
        <p:spPr>
          <a:xfrm>
            <a:off x="7287768" y="1645920"/>
            <a:ext cx="1280160" cy="320040"/>
          </a:xfrm>
          <a:prstGeom prst="rect">
            <a:avLst/>
          </a:prstGeom>
          <a:noFill/>
          <a:ln/>
        </p:spPr>
        <p:txBody>
          <a:bodyPr wrap="square" lIns="0" tIns="0" rIns="0" bIns="0" rtlCol="0" anchor="t"/>
          <a:lstStyle/>
          <a:p>
            <a:pPr indent="0" marL="0">
              <a:buNone/>
            </a:pPr>
            <a:r>
              <a:rPr lang="en-US" sz="1500" b="1" dirty="0">
                <a:solidFill>
                  <a:schemeClr val="bg1"/>
                </a:solidFill>
              </a:rPr>
              <a:t>RL</a:t>
            </a:r>
            <a:endParaRPr lang="en-US" sz="1500" dirty="0"/>
          </a:p>
        </p:txBody>
      </p:sp>
      <p:sp>
        <p:nvSpPr>
          <p:cNvPr id="22" name="Text 20"/>
          <p:cNvSpPr txBox="1"/>
          <p:nvPr/>
        </p:nvSpPr>
        <p:spPr>
          <a:xfrm>
            <a:off x="7287768" y="1993392"/>
            <a:ext cx="1280160" cy="685800"/>
          </a:xfrm>
          <a:prstGeom prst="rect">
            <a:avLst/>
          </a:prstGeom>
          <a:noFill/>
          <a:ln/>
        </p:spPr>
        <p:txBody>
          <a:bodyPr wrap="square" lIns="0" tIns="0" rIns="0" bIns="0" rtlCol="0" anchor="t"/>
          <a:lstStyle/>
          <a:p>
            <a:pPr indent="0" marL="0">
              <a:buNone/>
            </a:pPr>
            <a:r>
              <a:rPr lang="en-US" sz="1200" dirty="0">
                <a:solidFill>
                  <a:schemeClr val="bg1"/>
                </a:solidFill>
              </a:rPr>
              <a:t>10,500 GB300 · 4 wks · 100M+ rollouts</a:t>
            </a:r>
            <a:endParaRPr lang="en-US" sz="1200" dirty="0"/>
          </a:p>
        </p:txBody>
      </p:sp>
      <p:graphicFrame>
        <p:nvGraphicFramePr>
          <p:cNvPr id="23" name="gpu hours chart" descr=""/>
          <p:cNvGraphicFramePr/>
          <p:nvPr/>
        </p:nvGraphicFramePr>
        <p:xfrm>
          <a:off x="457200" y="2926080"/>
          <a:ext cx="4754880" cy="1737360"/>
        </p:xfrm>
        <a:graphic xmlns:a="http://schemas.openxmlformats.org/drawingml/2006/main">
          <a:graphicData uri="http://schemas.openxmlformats.org/drawingml/2006/chart">
            <c:chart xmlns:c="http://schemas.openxmlformats.org/drawingml/2006/chart" r:id="rId1"/>
          </a:graphicData>
        </a:graphic>
      </p:graphicFrame>
      <p:sp>
        <p:nvSpPr>
          <p:cNvPr id="24" name="Text 21"/>
          <p:cNvSpPr txBox="1"/>
          <p:nvPr/>
        </p:nvSpPr>
        <p:spPr>
          <a:xfrm>
            <a:off x="5486400" y="3154680"/>
            <a:ext cx="3200400" cy="1371600"/>
          </a:xfrm>
          <a:prstGeom prst="rect">
            <a:avLst/>
          </a:prstGeom>
          <a:noFill/>
          <a:ln/>
        </p:spPr>
        <p:txBody>
          <a:bodyPr wrap="square" lIns="0" tIns="0" rIns="0" bIns="0" rtlCol="0" anchor="t"/>
          <a:lstStyle/>
          <a:p>
            <a:pPr indent="0" marL="0">
              <a:buNone/>
            </a:pPr>
            <a:r>
              <a:rPr lang="en-US" sz="1400" dirty="0">
                <a:solidFill>
                  <a:schemeClr val="tx1"/>
                </a:solidFill>
              </a:rPr>
              <a:t>RL used ~2–3× the GPU-hours of pre-training. Budget for an environment fleet (~1M tasks, ~1.3B sandboxes), not just a training cluster.</a:t>
            </a:r>
            <a:endParaRPr lang="en-US" sz="14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indent="0" marL="0">
              <a:buNone/>
            </a:pPr>
            <a:r>
              <a:rPr lang="en-US" sz="2800" b="1" dirty="0">
                <a:solidFill>
                  <a:schemeClr val="tx2"/>
                </a:solidFill>
              </a:rPr>
              <a:t>On its own numbers, Beam trails open peers</a:t>
            </a:r>
            <a:endParaRPr lang="en-US" sz="2800" dirty="0"/>
          </a:p>
        </p:txBody>
      </p:sp>
      <p:graphicFrame>
        <p:nvGraphicFramePr>
          <p:cNvPr id="3" name="vendor benchmarks chart" descr=""/>
          <p:cNvGraphicFramePr/>
          <p:nvPr/>
        </p:nvGraphicFramePr>
        <p:xfrm>
          <a:off x="457200" y="1005840"/>
          <a:ext cx="5486400" cy="36118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217920" y="1097280"/>
            <a:ext cx="2468880" cy="3474720"/>
          </a:xfrm>
          <a:prstGeom prst="rect">
            <a:avLst/>
          </a:prstGeom>
          <a:noFill/>
          <a:ln/>
        </p:spPr>
        <p:txBody>
          <a:bodyPr wrap="square" lIns="0" tIns="0" rIns="0" bIns="0" rtlCol="0" anchor="t"/>
          <a:lstStyle/>
          <a:p>
            <a:pPr indent="0" marL="0">
              <a:buNone/>
            </a:pPr>
            <a:r>
              <a:rPr lang="en-US" sz="1400" b="1" dirty="0">
                <a:solidFill>
                  <a:schemeClr val="tx1"/>
                </a:solidFill>
              </a:rPr>
              <a:t>Reflection’s launch table (vendor-reported)</a:t>
            </a:r>
            <a:endParaRPr lang="en-US" sz="1400" dirty="0"/>
          </a:p>
          <a:p>
            <a:pPr indent="0" marL="0">
              <a:buNone/>
            </a:pPr>
            <a:r>
              <a:rPr lang="en-US" sz="1400" dirty="0">
                <a:solidFill>
                  <a:schemeClr val="tx1"/>
                </a:solidFill>
              </a:rPr>
              <a:t>Beam is roughly level with GLM-5.2 on agentic coding and science QA, but behind Kimi K3 and Qwen 3.8 Max on every shared benchmark.</a:t>
            </a:r>
            <a:endParaRPr lang="en-US" sz="1400" dirty="0"/>
          </a:p>
          <a:p>
            <a:pPr indent="0" marL="0">
              <a:buNone/>
            </a:pPr>
            <a:r>
              <a:rPr lang="en-US" sz="1400" dirty="0">
                <a:solidFill>
                  <a:schemeClr val="tx1"/>
                </a:solidFill>
              </a:rPr>
              <a:t> </a:t>
            </a:r>
            <a:endParaRPr lang="en-US" sz="1400" dirty="0"/>
          </a:p>
          <a:p>
            <a:pPr indent="0" marL="0">
              <a:buNone/>
            </a:pPr>
            <a:r>
              <a:rPr lang="en-US" sz="1400" dirty="0">
                <a:solidFill>
                  <a:schemeClr val="tx1"/>
                </a:solidFill>
              </a:rPr>
              <a:t>Its pitch is efficiency: similar quality with 23B active parameters vs. 40–95B for peers.</a:t>
            </a:r>
            <a:endParaRPr lang="en-US" sz="14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indent="0" marL="0">
              <a:buNone/>
            </a:pPr>
            <a:r>
              <a:rPr lang="en-US" sz="2800" b="1" dirty="0">
                <a:solidFill>
                  <a:schemeClr val="tx2"/>
                </a:solidFill>
              </a:rPr>
              <a:t>Independent tests: a 28-point gap</a:t>
            </a:r>
            <a:endParaRPr lang="en-US" sz="2800" dirty="0"/>
          </a:p>
        </p:txBody>
      </p:sp>
      <p:graphicFrame>
        <p:nvGraphicFramePr>
          <p:cNvPr id="3" name="independent index chart" descr=""/>
          <p:cNvGraphicFramePr/>
          <p:nvPr/>
        </p:nvGraphicFramePr>
        <p:xfrm>
          <a:off x="457200" y="960120"/>
          <a:ext cx="5394960" cy="37033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126480" y="1097280"/>
            <a:ext cx="2560320" cy="347472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Artificial Analysis Intelligence Index, Oct 2026</a:t>
            </a:r>
            <a:endParaRPr lang="en-US" sz="1400" dirty="0"/>
          </a:p>
          <a:p>
            <a:pPr indent="0" marL="0">
              <a:spcAft>
                <a:spcPts val="400"/>
              </a:spcAft>
              <a:buNone/>
            </a:pPr>
            <a:r>
              <a:rPr lang="en-US" sz="1400" dirty="0">
                <a:solidFill>
                  <a:schemeClr val="tx1"/>
                </a:solidFill>
              </a:rPr>
              <a:t>One scale, one harness, 120 models.</a:t>
            </a:r>
            <a:endParaRPr lang="en-US" sz="1400" dirty="0"/>
          </a:p>
          <a:p>
            <a:pPr indent="0" marL="0">
              <a:spcAft>
                <a:spcPts val="400"/>
              </a:spcAft>
              <a:buNone/>
            </a:pPr>
            <a:r>
              <a:rPr lang="en-US" sz="1400" dirty="0">
                <a:solidFill>
                  <a:schemeClr val="tx1"/>
                </a:solidFill>
              </a:rPr>
              <a:t> </a:t>
            </a:r>
            <a:endParaRPr lang="en-US" sz="1400" dirty="0"/>
          </a:p>
          <a:p>
            <a:pPr marL="342900" indent="-342900">
              <a:spcAft>
                <a:spcPts val="400"/>
              </a:spcAft>
              <a:buSzPct val="100000"/>
              <a:buChar char="•"/>
            </a:pPr>
            <a:r>
              <a:rPr lang="en-US" sz="1400" dirty="0">
                <a:solidFill>
                  <a:schemeClr val="tx1"/>
                </a:solidFill>
              </a:rPr>
              <a:t>Closed frontier: 53–58</a:t>
            </a:r>
            <a:endParaRPr lang="en-US" sz="1400" dirty="0"/>
          </a:p>
          <a:p>
            <a:pPr marL="342900" indent="-342900">
              <a:spcAft>
                <a:spcPts val="400"/>
              </a:spcAft>
              <a:buSzPct val="100000"/>
              <a:buChar char="•"/>
            </a:pPr>
            <a:r>
              <a:rPr lang="en-US" sz="1400" dirty="0">
                <a:solidFill>
                  <a:schemeClr val="tx1"/>
                </a:solidFill>
              </a:rPr>
              <a:t>Grok and top Chinese open models: 44–46</a:t>
            </a:r>
            <a:endParaRPr lang="en-US" sz="1400" dirty="0"/>
          </a:p>
          <a:p>
            <a:pPr marL="342900" indent="-342900">
              <a:spcAft>
                <a:spcPts val="400"/>
              </a:spcAft>
              <a:buSzPct val="100000"/>
              <a:buChar char="•"/>
            </a:pPr>
            <a:r>
              <a:rPr lang="en-US" sz="1400" dirty="0">
                <a:solidFill>
                  <a:schemeClr val="tx1"/>
                </a:solidFill>
              </a:rPr>
              <a:t>Beam: 30, but ~40% fewer output tokens than the median</a:t>
            </a:r>
            <a:endParaRPr lang="en-US" sz="14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indent="0" marL="0">
              <a:buNone/>
            </a:pPr>
            <a:r>
              <a:rPr lang="en-US" sz="2800" b="1" dirty="0">
                <a:solidFill>
                  <a:schemeClr val="tx2"/>
                </a:solidFill>
              </a:rPr>
              <a:t>The vendor landscape</a:t>
            </a:r>
            <a:endParaRPr lang="en-US" sz="2800" dirty="0"/>
          </a:p>
        </p:txBody>
      </p:sp>
      <p:graphicFrame>
        <p:nvGraphicFramePr>
          <p:cNvPr id="9" name="landscape table"/>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280160"/>
                <a:gridCol w="1737360"/>
                <a:gridCol w="960120"/>
                <a:gridCol w="822960"/>
                <a:gridCol w="868680"/>
                <a:gridCol w="2560320"/>
              </a:tblGrid>
              <a:tr h="365760">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Vendor</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Flagship</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Weights</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AA Index</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Output $/1M</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Edge</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chemeClr val="tx2"/>
                    </a:solidFill>
                  </a:tcPr>
                </a:tc>
              </a:tr>
              <a:tr h="36576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Anthropic</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Claude Opus 5.5</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Closed</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58</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Top capability; 40% enterprise share</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r>
              <a:tr h="36576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OpenAI</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GPT-6 Astra</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Closed</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53</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Reach; reasoning</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r>
              <a:tr h="36576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Google</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Gemini 4 Argon</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Closed</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52.6</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Multimodal; cloud; cheap Flash tier</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r>
              <a:tr h="36576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xAI</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Grok 4.7</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Closed</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Price and speed</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r>
              <a:tr h="36576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Meta</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Muse Spark / Llama 4</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Closed / open</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Distribution; Llama brand</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r>
              <a:tr h="36576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China open labs</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MiMo · GLM · Kimi</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Open</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44–46</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$0.28+</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Best open scores; lowest prices</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r>
              <a:tr h="36576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Reflection</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Beam 1.0</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Open</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Partner</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US provenance; efficiency</a:t>
                      </a:r>
                      <a:endParaRPr lang="en-US" sz="1200" dirty="0">
                        <a:latin typeface="Calibri" charset="0"/>
                        <a:ea typeface="Calibri" charset="0"/>
                        <a:cs typeface="Calibri" charset="0"/>
                      </a:endParaRPr>
                    </a:p>
                  </a:txBody>
                  <a:tcPr marL="91440" marR="91440" marT="45720" marB="4572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tcPr>
                </a:tc>
              </a:tr>
            </a:tbl>
          </a:graphicData>
        </a:graphic>
      </p:graphicFrame>
      <p:sp>
        <p:nvSpPr>
          <p:cNvPr id="4" name="Text 1"/>
          <p:cNvSpPr txBox="1"/>
          <p:nvPr/>
        </p:nvSpPr>
        <p:spPr>
          <a:xfrm>
            <a:off x="457200" y="4343400"/>
            <a:ext cx="8229600" cy="365760"/>
          </a:xfrm>
          <a:prstGeom prst="rect">
            <a:avLst/>
          </a:prstGeom>
          <a:noFill/>
          <a:ln/>
        </p:spPr>
        <p:txBody>
          <a:bodyPr wrap="square" lIns="0" tIns="0" rIns="0" bIns="0" rtlCol="0" anchor="t"/>
          <a:lstStyle/>
          <a:p>
            <a:pPr indent="0" marL="0">
              <a:buNone/>
            </a:pPr>
            <a:r>
              <a:rPr lang="en-US" sz="1000" i="1" dirty="0">
                <a:solidFill>
                  <a:schemeClr val="accent4"/>
                </a:solidFill>
              </a:rPr>
              <a:t>Weights “Open” for Reflection = Apache 2.0. Output prices per 1M tokens (aggregators, Oct 2026). Groq (inference hardware) hosts open models and is a deployment partner, not a model competitor.</a:t>
            </a:r>
            <a:endParaRPr lang="en-US" sz="10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indent="0" marL="0">
              <a:buNone/>
            </a:pPr>
            <a:r>
              <a:rPr lang="en-US" sz="2800" b="1" dirty="0">
                <a:solidFill>
                  <a:schemeClr val="tx2"/>
                </a:solidFill>
              </a:rPr>
              <a:t>Enterprise spend favours closed models</a:t>
            </a:r>
            <a:endParaRPr lang="en-US" sz="2800" dirty="0"/>
          </a:p>
        </p:txBody>
      </p:sp>
      <p:graphicFrame>
        <p:nvGraphicFramePr>
          <p:cNvPr id="3" name="market share chart" descr=""/>
          <p:cNvGraphicFramePr/>
          <p:nvPr/>
        </p:nvGraphicFramePr>
        <p:xfrm>
          <a:off x="457200" y="1005840"/>
          <a:ext cx="4937760" cy="27432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457200" y="3794760"/>
            <a:ext cx="4937760" cy="274320"/>
          </a:xfrm>
          <a:prstGeom prst="rect">
            <a:avLst/>
          </a:prstGeom>
          <a:noFill/>
          <a:ln/>
        </p:spPr>
        <p:txBody>
          <a:bodyPr wrap="square" lIns="0" tIns="0" rIns="0" bIns="0" rtlCol="0" anchor="t"/>
          <a:lstStyle/>
          <a:p>
            <a:pPr indent="0" marL="0">
              <a:buNone/>
            </a:pPr>
            <a:r>
              <a:rPr lang="en-US" sz="1000" i="1" dirty="0">
                <a:solidFill>
                  <a:schemeClr val="accent4"/>
                </a:solidFill>
              </a:rPr>
              <a:t>Source: Menlo Ventures, late 2025. “Google &amp; other closed” is the remainder.</a:t>
            </a:r>
            <a:endParaRPr lang="en-US" sz="1000" dirty="0"/>
          </a:p>
        </p:txBody>
      </p:sp>
      <p:sp>
        <p:nvSpPr>
          <p:cNvPr id="5" name="market stat 1"/>
          <p:cNvSpPr/>
          <p:nvPr/>
        </p:nvSpPr>
        <p:spPr>
          <a:xfrm>
            <a:off x="5760720" y="1051560"/>
            <a:ext cx="2926080" cy="1280160"/>
          </a:xfrm>
          <a:prstGeom prst="roundRect">
            <a:avLst>
              <a:gd name="adj" fmla="val 5714"/>
            </a:avLst>
          </a:prstGeom>
          <a:solidFill>
            <a:schemeClr val="bg2"/>
          </a:solidFill>
          <a:ln w="12700">
            <a:solidFill>
              <a:schemeClr val="bg2"/>
            </a:solidFill>
            <a:prstDash val="solid"/>
          </a:ln>
        </p:spPr>
      </p:sp>
      <p:sp>
        <p:nvSpPr>
          <p:cNvPr id="6" name="Text 3"/>
          <p:cNvSpPr txBox="1"/>
          <p:nvPr/>
        </p:nvSpPr>
        <p:spPr>
          <a:xfrm>
            <a:off x="5897880" y="1188720"/>
            <a:ext cx="2651760" cy="548640"/>
          </a:xfrm>
          <a:prstGeom prst="rect">
            <a:avLst/>
          </a:prstGeom>
          <a:noFill/>
          <a:ln/>
        </p:spPr>
        <p:txBody>
          <a:bodyPr wrap="square" lIns="0" tIns="0" rIns="0" bIns="0" rtlCol="0" anchor="t"/>
          <a:lstStyle/>
          <a:p>
            <a:pPr indent="0" marL="0">
              <a:buNone/>
            </a:pPr>
            <a:r>
              <a:rPr lang="en-US" sz="2600" b="1" dirty="0">
                <a:solidFill>
                  <a:schemeClr val="accent2"/>
                </a:solidFill>
                <a:latin typeface="Arial" pitchFamily="34" charset="0"/>
                <a:ea typeface="Arial" pitchFamily="34" charset="-122"/>
                <a:cs typeface="Arial" pitchFamily="34" charset="-120"/>
              </a:rPr>
              <a:t>$37B</a:t>
            </a:r>
            <a:endParaRPr lang="en-US" sz="2600" dirty="0"/>
          </a:p>
        </p:txBody>
      </p:sp>
      <p:sp>
        <p:nvSpPr>
          <p:cNvPr id="7" name="Text 4"/>
          <p:cNvSpPr txBox="1"/>
          <p:nvPr/>
        </p:nvSpPr>
        <p:spPr>
          <a:xfrm>
            <a:off x="5897880" y="1783080"/>
            <a:ext cx="2651760" cy="457200"/>
          </a:xfrm>
          <a:prstGeom prst="rect">
            <a:avLst/>
          </a:prstGeom>
          <a:noFill/>
          <a:ln/>
        </p:spPr>
        <p:txBody>
          <a:bodyPr wrap="square" lIns="0" tIns="0" rIns="0" bIns="0" rtlCol="0" anchor="t"/>
          <a:lstStyle/>
          <a:p>
            <a:pPr indent="0" marL="0">
              <a:buNone/>
            </a:pPr>
            <a:r>
              <a:rPr lang="en-US" sz="1300" dirty="0">
                <a:solidFill>
                  <a:schemeClr val="tx1"/>
                </a:solidFill>
              </a:rPr>
              <a:t>enterprise gen-AI spend in 2025 (≈3× y/y)</a:t>
            </a:r>
            <a:endParaRPr lang="en-US" sz="1300" dirty="0"/>
          </a:p>
        </p:txBody>
      </p:sp>
      <p:sp>
        <p:nvSpPr>
          <p:cNvPr id="8" name="market stat 2"/>
          <p:cNvSpPr/>
          <p:nvPr/>
        </p:nvSpPr>
        <p:spPr>
          <a:xfrm>
            <a:off x="5760720" y="2514600"/>
            <a:ext cx="2926080" cy="1280160"/>
          </a:xfrm>
          <a:prstGeom prst="roundRect">
            <a:avLst>
              <a:gd name="adj" fmla="val 5714"/>
            </a:avLst>
          </a:prstGeom>
          <a:solidFill>
            <a:schemeClr val="bg2"/>
          </a:solidFill>
          <a:ln w="12700">
            <a:solidFill>
              <a:schemeClr val="bg2"/>
            </a:solidFill>
            <a:prstDash val="solid"/>
          </a:ln>
        </p:spPr>
      </p:sp>
      <p:sp>
        <p:nvSpPr>
          <p:cNvPr id="9" name="Text 6"/>
          <p:cNvSpPr txBox="1"/>
          <p:nvPr/>
        </p:nvSpPr>
        <p:spPr>
          <a:xfrm>
            <a:off x="5897880" y="2651760"/>
            <a:ext cx="2651760" cy="548640"/>
          </a:xfrm>
          <a:prstGeom prst="rect">
            <a:avLst/>
          </a:prstGeom>
          <a:noFill/>
          <a:ln/>
        </p:spPr>
        <p:txBody>
          <a:bodyPr wrap="square" lIns="0" tIns="0" rIns="0" bIns="0" rtlCol="0" anchor="t"/>
          <a:lstStyle/>
          <a:p>
            <a:pPr indent="0" marL="0">
              <a:buNone/>
            </a:pPr>
            <a:r>
              <a:rPr lang="en-US" sz="2600" b="1" dirty="0">
                <a:solidFill>
                  <a:schemeClr val="accent2"/>
                </a:solidFill>
                <a:latin typeface="Arial" pitchFamily="34" charset="0"/>
                <a:ea typeface="Arial" pitchFamily="34" charset="-122"/>
                <a:cs typeface="Arial" pitchFamily="34" charset="-120"/>
              </a:rPr>
              <a:t>19% → 11%</a:t>
            </a:r>
            <a:endParaRPr lang="en-US" sz="2600" dirty="0"/>
          </a:p>
        </p:txBody>
      </p:sp>
      <p:sp>
        <p:nvSpPr>
          <p:cNvPr id="10" name="Text 7"/>
          <p:cNvSpPr txBox="1"/>
          <p:nvPr/>
        </p:nvSpPr>
        <p:spPr>
          <a:xfrm>
            <a:off x="5897880" y="3246120"/>
            <a:ext cx="2651760" cy="457200"/>
          </a:xfrm>
          <a:prstGeom prst="rect">
            <a:avLst/>
          </a:prstGeom>
          <a:noFill/>
          <a:ln/>
        </p:spPr>
        <p:txBody>
          <a:bodyPr wrap="square" lIns="0" tIns="0" rIns="0" bIns="0" rtlCol="0" anchor="t"/>
          <a:lstStyle/>
          <a:p>
            <a:pPr indent="0" marL="0">
              <a:buNone/>
            </a:pPr>
            <a:r>
              <a:rPr lang="en-US" sz="1300" dirty="0">
                <a:solidFill>
                  <a:schemeClr val="tx1"/>
                </a:solidFill>
              </a:rPr>
              <a:t>open-weight share in one year</a:t>
            </a:r>
            <a:endParaRPr lang="en-US" sz="1300" dirty="0"/>
          </a:p>
        </p:txBody>
      </p:sp>
      <p:sp>
        <p:nvSpPr>
          <p:cNvPr id="11" name="Text 8"/>
          <p:cNvSpPr txBox="1"/>
          <p:nvPr/>
        </p:nvSpPr>
        <p:spPr>
          <a:xfrm>
            <a:off x="457200" y="4114800"/>
            <a:ext cx="8229600" cy="548640"/>
          </a:xfrm>
          <a:prstGeom prst="rect">
            <a:avLst/>
          </a:prstGeom>
          <a:noFill/>
          <a:ln/>
        </p:spPr>
        <p:txBody>
          <a:bodyPr wrap="square" lIns="0" tIns="0" rIns="0" bIns="0" rtlCol="0" anchor="t"/>
          <a:lstStyle/>
          <a:p>
            <a:pPr indent="0" marL="0">
              <a:buNone/>
            </a:pPr>
            <a:r>
              <a:rPr lang="en-US" sz="1400" b="1" dirty="0">
                <a:solidFill>
                  <a:schemeClr val="tx2"/>
                </a:solidFill>
              </a:rPr>
              <a:t>The market is growing fast, but buyers pay for the most capable closed models. An open model has to offer something closed APIs cannot.</a:t>
            </a:r>
            <a:endParaRPr lang="en-US" sz="14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indent="0" marL="0">
              <a:buNone/>
            </a:pPr>
            <a:r>
              <a:rPr lang="en-US" sz="2800" b="1" dirty="0">
                <a:solidFill>
                  <a:schemeClr val="tx2"/>
                </a:solidFill>
              </a:rPr>
              <a:t>Where a new open model can win</a:t>
            </a:r>
            <a:endParaRPr lang="en-US" sz="2800" dirty="0"/>
          </a:p>
        </p:txBody>
      </p:sp>
      <p:sp>
        <p:nvSpPr>
          <p:cNvPr id="3" name="win card 1"/>
          <p:cNvSpPr/>
          <p:nvPr/>
        </p:nvSpPr>
        <p:spPr>
          <a:xfrm>
            <a:off x="457200" y="1051560"/>
            <a:ext cx="2606040" cy="1645920"/>
          </a:xfrm>
          <a:prstGeom prst="roundRect">
            <a:avLst>
              <a:gd name="adj" fmla="val 4444"/>
            </a:avLst>
          </a:prstGeom>
          <a:solidFill>
            <a:schemeClr val="bg2"/>
          </a:solidFill>
          <a:ln w="12700">
            <a:solidFill>
              <a:schemeClr val="bg2"/>
            </a:solidFill>
            <a:prstDash val="solid"/>
          </a:ln>
        </p:spPr>
      </p:sp>
      <p:sp>
        <p:nvSpPr>
          <p:cNvPr id="4" name="Sovereign &amp; government badge"/>
          <p:cNvSpPr/>
          <p:nvPr/>
        </p:nvSpPr>
        <p:spPr>
          <a:xfrm>
            <a:off x="594360" y="1188720"/>
            <a:ext cx="502920" cy="502920"/>
          </a:xfrm>
          <a:prstGeom prst="ellipse">
            <a:avLst/>
          </a:prstGeom>
          <a:solidFill>
            <a:schemeClr val="accent1"/>
          </a:solidFill>
          <a:ln w="12700">
            <a:solidFill>
              <a:schemeClr val="accent1"/>
            </a:solidFill>
            <a:prstDash val="solid"/>
          </a:ln>
        </p:spPr>
      </p:sp>
      <p:pic>
        <p:nvPicPr>
          <p:cNvPr id="5" name="Sovereign &amp; government icon" descr="preencoded.png">    </p:cNvPr>
          <p:cNvPicPr>
            <a:picLocks noChangeAspect="1"/>
          </p:cNvPicPr>
          <p:nvPr/>
        </p:nvPicPr>
        <p:blipFill>
          <a:blip r:embed="rId1"/>
          <a:stretch>
            <a:fillRect/>
          </a:stretch>
        </p:blipFill>
        <p:spPr>
          <a:xfrm>
            <a:off x="715061" y="1309421"/>
            <a:ext cx="261518" cy="261518"/>
          </a:xfrm>
          <a:prstGeom prst="rect">
            <a:avLst/>
          </a:prstGeom>
        </p:spPr>
      </p:pic>
      <p:sp>
        <p:nvSpPr>
          <p:cNvPr id="6" name="Text 3"/>
          <p:cNvSpPr txBox="1"/>
          <p:nvPr/>
        </p:nvSpPr>
        <p:spPr>
          <a:xfrm>
            <a:off x="1207008" y="1234440"/>
            <a:ext cx="1783080" cy="457200"/>
          </a:xfrm>
          <a:prstGeom prst="rect">
            <a:avLst/>
          </a:prstGeom>
          <a:noFill/>
          <a:ln/>
        </p:spPr>
        <p:txBody>
          <a:bodyPr wrap="square" lIns="0" tIns="0" rIns="0" bIns="0" rtlCol="0" anchor="ctr"/>
          <a:lstStyle/>
          <a:p>
            <a:pPr indent="0" marL="0">
              <a:buNone/>
            </a:pPr>
            <a:r>
              <a:rPr lang="en-US" sz="1400" b="1" dirty="0">
                <a:solidFill>
                  <a:schemeClr val="tx2"/>
                </a:solidFill>
              </a:rPr>
              <a:t>Sovereign &amp; government</a:t>
            </a:r>
            <a:endParaRPr lang="en-US" sz="1400" dirty="0"/>
          </a:p>
        </p:txBody>
      </p:sp>
      <p:sp>
        <p:nvSpPr>
          <p:cNvPr id="7" name="Text 4"/>
          <p:cNvSpPr txBox="1"/>
          <p:nvPr/>
        </p:nvSpPr>
        <p:spPr>
          <a:xfrm>
            <a:off x="594360" y="1801368"/>
            <a:ext cx="2377440" cy="822960"/>
          </a:xfrm>
          <a:prstGeom prst="rect">
            <a:avLst/>
          </a:prstGeom>
          <a:noFill/>
          <a:ln/>
        </p:spPr>
        <p:txBody>
          <a:bodyPr wrap="square" lIns="0" tIns="0" rIns="0" bIns="0" rtlCol="0" anchor="t"/>
          <a:lstStyle/>
          <a:p>
            <a:pPr indent="0" marL="0">
              <a:buNone/>
            </a:pPr>
            <a:r>
              <a:rPr lang="en-US" sz="1200" dirty="0">
                <a:solidFill>
                  <a:schemeClr val="tx1"/>
                </a:solidFill>
              </a:rPr>
              <a:t>Allies that cannot procure Chinese weights and need on-prem control</a:t>
            </a:r>
            <a:endParaRPr lang="en-US" sz="1200" dirty="0"/>
          </a:p>
        </p:txBody>
      </p:sp>
      <p:sp>
        <p:nvSpPr>
          <p:cNvPr id="8" name="win card 2"/>
          <p:cNvSpPr/>
          <p:nvPr/>
        </p:nvSpPr>
        <p:spPr>
          <a:xfrm>
            <a:off x="3246120" y="1051560"/>
            <a:ext cx="2606040" cy="1645920"/>
          </a:xfrm>
          <a:prstGeom prst="roundRect">
            <a:avLst>
              <a:gd name="adj" fmla="val 4444"/>
            </a:avLst>
          </a:prstGeom>
          <a:solidFill>
            <a:schemeClr val="bg2"/>
          </a:solidFill>
          <a:ln w="12700">
            <a:solidFill>
              <a:schemeClr val="bg2"/>
            </a:solidFill>
            <a:prstDash val="solid"/>
          </a:ln>
        </p:spPr>
      </p:sp>
      <p:sp>
        <p:nvSpPr>
          <p:cNvPr id="9" name="Regulated industries badge"/>
          <p:cNvSpPr/>
          <p:nvPr/>
        </p:nvSpPr>
        <p:spPr>
          <a:xfrm>
            <a:off x="3383280" y="1188720"/>
            <a:ext cx="502920" cy="502920"/>
          </a:xfrm>
          <a:prstGeom prst="ellipse">
            <a:avLst/>
          </a:prstGeom>
          <a:solidFill>
            <a:schemeClr val="accent1"/>
          </a:solidFill>
          <a:ln w="12700">
            <a:solidFill>
              <a:schemeClr val="accent1"/>
            </a:solidFill>
            <a:prstDash val="solid"/>
          </a:ln>
        </p:spPr>
      </p:sp>
      <p:pic>
        <p:nvPicPr>
          <p:cNvPr id="10" name="Regulated industries icon" descr="preencoded.png">    </p:cNvPr>
          <p:cNvPicPr>
            <a:picLocks noChangeAspect="1"/>
          </p:cNvPicPr>
          <p:nvPr/>
        </p:nvPicPr>
        <p:blipFill>
          <a:blip r:embed="rId2"/>
          <a:stretch>
            <a:fillRect/>
          </a:stretch>
        </p:blipFill>
        <p:spPr>
          <a:xfrm>
            <a:off x="3503981" y="1309421"/>
            <a:ext cx="261518" cy="261518"/>
          </a:xfrm>
          <a:prstGeom prst="rect">
            <a:avLst/>
          </a:prstGeom>
        </p:spPr>
      </p:pic>
      <p:sp>
        <p:nvSpPr>
          <p:cNvPr id="11" name="Text 7"/>
          <p:cNvSpPr txBox="1"/>
          <p:nvPr/>
        </p:nvSpPr>
        <p:spPr>
          <a:xfrm>
            <a:off x="3995928" y="1234440"/>
            <a:ext cx="1783080" cy="457200"/>
          </a:xfrm>
          <a:prstGeom prst="rect">
            <a:avLst/>
          </a:prstGeom>
          <a:noFill/>
          <a:ln/>
        </p:spPr>
        <p:txBody>
          <a:bodyPr wrap="square" lIns="0" tIns="0" rIns="0" bIns="0" rtlCol="0" anchor="ctr"/>
          <a:lstStyle/>
          <a:p>
            <a:pPr indent="0" marL="0">
              <a:buNone/>
            </a:pPr>
            <a:r>
              <a:rPr lang="en-US" sz="1400" b="1" dirty="0">
                <a:solidFill>
                  <a:schemeClr val="tx2"/>
                </a:solidFill>
              </a:rPr>
              <a:t>Regulated industries</a:t>
            </a:r>
            <a:endParaRPr lang="en-US" sz="1400" dirty="0"/>
          </a:p>
        </p:txBody>
      </p:sp>
      <p:sp>
        <p:nvSpPr>
          <p:cNvPr id="12" name="Text 8"/>
          <p:cNvSpPr txBox="1"/>
          <p:nvPr/>
        </p:nvSpPr>
        <p:spPr>
          <a:xfrm>
            <a:off x="3383280" y="1801368"/>
            <a:ext cx="2377440" cy="822960"/>
          </a:xfrm>
          <a:prstGeom prst="rect">
            <a:avLst/>
          </a:prstGeom>
          <a:noFill/>
          <a:ln/>
        </p:spPr>
        <p:txBody>
          <a:bodyPr wrap="square" lIns="0" tIns="0" rIns="0" bIns="0" rtlCol="0" anchor="t"/>
          <a:lstStyle/>
          <a:p>
            <a:pPr indent="0" marL="0">
              <a:buNone/>
            </a:pPr>
            <a:r>
              <a:rPr lang="en-US" sz="1200" dirty="0">
                <a:solidFill>
                  <a:schemeClr val="tx1"/>
                </a:solidFill>
              </a:rPr>
              <a:t>Finance, health, defence, legal: residency and audit beat a few index points</a:t>
            </a:r>
            <a:endParaRPr lang="en-US" sz="1200" dirty="0"/>
          </a:p>
        </p:txBody>
      </p:sp>
      <p:sp>
        <p:nvSpPr>
          <p:cNvPr id="13" name="win card 3"/>
          <p:cNvSpPr/>
          <p:nvPr/>
        </p:nvSpPr>
        <p:spPr>
          <a:xfrm>
            <a:off x="6035040" y="1051560"/>
            <a:ext cx="2606040" cy="1645920"/>
          </a:xfrm>
          <a:prstGeom prst="roundRect">
            <a:avLst>
              <a:gd name="adj" fmla="val 4444"/>
            </a:avLst>
          </a:prstGeom>
          <a:solidFill>
            <a:schemeClr val="bg2"/>
          </a:solidFill>
          <a:ln w="12700">
            <a:solidFill>
              <a:schemeClr val="bg2"/>
            </a:solidFill>
            <a:prstDash val="solid"/>
          </a:ln>
        </p:spPr>
      </p:sp>
      <p:sp>
        <p:nvSpPr>
          <p:cNvPr id="14" name="Vertical specialists badge"/>
          <p:cNvSpPr/>
          <p:nvPr/>
        </p:nvSpPr>
        <p:spPr>
          <a:xfrm>
            <a:off x="6172200" y="1188720"/>
            <a:ext cx="502920" cy="502920"/>
          </a:xfrm>
          <a:prstGeom prst="ellipse">
            <a:avLst/>
          </a:prstGeom>
          <a:solidFill>
            <a:schemeClr val="accent1"/>
          </a:solidFill>
          <a:ln w="12700">
            <a:solidFill>
              <a:schemeClr val="accent1"/>
            </a:solidFill>
            <a:prstDash val="solid"/>
          </a:ln>
        </p:spPr>
      </p:sp>
      <p:pic>
        <p:nvPicPr>
          <p:cNvPr id="15" name="Vertical specialists icon" descr="preencoded.png">    </p:cNvPr>
          <p:cNvPicPr>
            <a:picLocks noChangeAspect="1"/>
          </p:cNvPicPr>
          <p:nvPr/>
        </p:nvPicPr>
        <p:blipFill>
          <a:blip r:embed="rId3"/>
          <a:stretch>
            <a:fillRect/>
          </a:stretch>
        </p:blipFill>
        <p:spPr>
          <a:xfrm>
            <a:off x="6292901" y="1309421"/>
            <a:ext cx="261518" cy="261518"/>
          </a:xfrm>
          <a:prstGeom prst="rect">
            <a:avLst/>
          </a:prstGeom>
        </p:spPr>
      </p:pic>
      <p:sp>
        <p:nvSpPr>
          <p:cNvPr id="16" name="Text 11"/>
          <p:cNvSpPr txBox="1"/>
          <p:nvPr/>
        </p:nvSpPr>
        <p:spPr>
          <a:xfrm>
            <a:off x="6784848" y="1234440"/>
            <a:ext cx="1783080" cy="457200"/>
          </a:xfrm>
          <a:prstGeom prst="rect">
            <a:avLst/>
          </a:prstGeom>
          <a:noFill/>
          <a:ln/>
        </p:spPr>
        <p:txBody>
          <a:bodyPr wrap="square" lIns="0" tIns="0" rIns="0" bIns="0" rtlCol="0" anchor="ctr"/>
          <a:lstStyle/>
          <a:p>
            <a:pPr indent="0" marL="0">
              <a:buNone/>
            </a:pPr>
            <a:r>
              <a:rPr lang="en-US" sz="1400" b="1" dirty="0">
                <a:solidFill>
                  <a:schemeClr val="tx2"/>
                </a:solidFill>
              </a:rPr>
              <a:t>Vertical specialists</a:t>
            </a:r>
            <a:endParaRPr lang="en-US" sz="1400" dirty="0"/>
          </a:p>
        </p:txBody>
      </p:sp>
      <p:sp>
        <p:nvSpPr>
          <p:cNvPr id="17" name="Text 12"/>
          <p:cNvSpPr txBox="1"/>
          <p:nvPr/>
        </p:nvSpPr>
        <p:spPr>
          <a:xfrm>
            <a:off x="6172200" y="1801368"/>
            <a:ext cx="2377440" cy="822960"/>
          </a:xfrm>
          <a:prstGeom prst="rect">
            <a:avLst/>
          </a:prstGeom>
          <a:noFill/>
          <a:ln/>
        </p:spPr>
        <p:txBody>
          <a:bodyPr wrap="square" lIns="0" tIns="0" rIns="0" bIns="0" rtlCol="0" anchor="t"/>
          <a:lstStyle/>
          <a:p>
            <a:pPr indent="0" marL="0">
              <a:buNone/>
            </a:pPr>
            <a:r>
              <a:rPr lang="en-US" sz="1200" dirty="0">
                <a:solidFill>
                  <a:schemeClr val="tx1"/>
                </a:solidFill>
              </a:rPr>
              <a:t>Post-train on proprietary environments to beat general models on narrow tasks</a:t>
            </a:r>
            <a:endParaRPr lang="en-US" sz="1200" dirty="0"/>
          </a:p>
        </p:txBody>
      </p:sp>
      <p:sp>
        <p:nvSpPr>
          <p:cNvPr id="18" name="win card 4"/>
          <p:cNvSpPr/>
          <p:nvPr/>
        </p:nvSpPr>
        <p:spPr>
          <a:xfrm>
            <a:off x="457200" y="2834640"/>
            <a:ext cx="2606040" cy="1645920"/>
          </a:xfrm>
          <a:prstGeom prst="roundRect">
            <a:avLst>
              <a:gd name="adj" fmla="val 4444"/>
            </a:avLst>
          </a:prstGeom>
          <a:solidFill>
            <a:schemeClr val="bg2"/>
          </a:solidFill>
          <a:ln w="12700">
            <a:solidFill>
              <a:schemeClr val="bg2"/>
            </a:solidFill>
            <a:prstDash val="solid"/>
          </a:ln>
        </p:spPr>
      </p:sp>
      <p:sp>
        <p:nvSpPr>
          <p:cNvPr id="19" name="High-volume agents badge"/>
          <p:cNvSpPr/>
          <p:nvPr/>
        </p:nvSpPr>
        <p:spPr>
          <a:xfrm>
            <a:off x="594360" y="2971800"/>
            <a:ext cx="502920" cy="502920"/>
          </a:xfrm>
          <a:prstGeom prst="ellipse">
            <a:avLst/>
          </a:prstGeom>
          <a:solidFill>
            <a:schemeClr val="accent1"/>
          </a:solidFill>
          <a:ln w="12700">
            <a:solidFill>
              <a:schemeClr val="accent1"/>
            </a:solidFill>
            <a:prstDash val="solid"/>
          </a:ln>
        </p:spPr>
      </p:sp>
      <p:pic>
        <p:nvPicPr>
          <p:cNvPr id="20" name="High-volume agents icon" descr="preencoded.png">    </p:cNvPr>
          <p:cNvPicPr>
            <a:picLocks noChangeAspect="1"/>
          </p:cNvPicPr>
          <p:nvPr/>
        </p:nvPicPr>
        <p:blipFill>
          <a:blip r:embed="rId4"/>
          <a:stretch>
            <a:fillRect/>
          </a:stretch>
        </p:blipFill>
        <p:spPr>
          <a:xfrm>
            <a:off x="715061" y="3092501"/>
            <a:ext cx="261518" cy="261518"/>
          </a:xfrm>
          <a:prstGeom prst="rect">
            <a:avLst/>
          </a:prstGeom>
        </p:spPr>
      </p:pic>
      <p:sp>
        <p:nvSpPr>
          <p:cNvPr id="21" name="Text 15"/>
          <p:cNvSpPr txBox="1"/>
          <p:nvPr/>
        </p:nvSpPr>
        <p:spPr>
          <a:xfrm>
            <a:off x="1207008" y="3017520"/>
            <a:ext cx="1783080" cy="457200"/>
          </a:xfrm>
          <a:prstGeom prst="rect">
            <a:avLst/>
          </a:prstGeom>
          <a:noFill/>
          <a:ln/>
        </p:spPr>
        <p:txBody>
          <a:bodyPr wrap="square" lIns="0" tIns="0" rIns="0" bIns="0" rtlCol="0" anchor="ctr"/>
          <a:lstStyle/>
          <a:p>
            <a:pPr indent="0" marL="0">
              <a:buNone/>
            </a:pPr>
            <a:r>
              <a:rPr lang="en-US" sz="1400" b="1" dirty="0">
                <a:solidFill>
                  <a:schemeClr val="tx2"/>
                </a:solidFill>
              </a:rPr>
              <a:t>High-volume agents</a:t>
            </a:r>
            <a:endParaRPr lang="en-US" sz="1400" dirty="0"/>
          </a:p>
        </p:txBody>
      </p:sp>
      <p:sp>
        <p:nvSpPr>
          <p:cNvPr id="22" name="Text 16"/>
          <p:cNvSpPr txBox="1"/>
          <p:nvPr/>
        </p:nvSpPr>
        <p:spPr>
          <a:xfrm>
            <a:off x="594360" y="3584448"/>
            <a:ext cx="2377440" cy="822960"/>
          </a:xfrm>
          <a:prstGeom prst="rect">
            <a:avLst/>
          </a:prstGeom>
          <a:noFill/>
          <a:ln/>
        </p:spPr>
        <p:txBody>
          <a:bodyPr wrap="square" lIns="0" tIns="0" rIns="0" bIns="0" rtlCol="0" anchor="t"/>
          <a:lstStyle/>
          <a:p>
            <a:pPr indent="0" marL="0">
              <a:buNone/>
            </a:pPr>
            <a:r>
              <a:rPr lang="en-US" sz="1200" dirty="0">
                <a:solidFill>
                  <a:schemeClr val="tx1"/>
                </a:solidFill>
              </a:rPr>
              <a:t>Coding and automation agents where cost per token dominates</a:t>
            </a:r>
            <a:endParaRPr lang="en-US" sz="1200" dirty="0"/>
          </a:p>
        </p:txBody>
      </p:sp>
      <p:sp>
        <p:nvSpPr>
          <p:cNvPr id="23" name="win card 5"/>
          <p:cNvSpPr/>
          <p:nvPr/>
        </p:nvSpPr>
        <p:spPr>
          <a:xfrm>
            <a:off x="3246120" y="2834640"/>
            <a:ext cx="2606040" cy="1645920"/>
          </a:xfrm>
          <a:prstGeom prst="roundRect">
            <a:avLst>
              <a:gd name="adj" fmla="val 4444"/>
            </a:avLst>
          </a:prstGeom>
          <a:solidFill>
            <a:schemeClr val="bg2"/>
          </a:solidFill>
          <a:ln w="12700">
            <a:solidFill>
              <a:schemeClr val="bg2"/>
            </a:solidFill>
            <a:prstDash val="solid"/>
          </a:ln>
        </p:spPr>
      </p:sp>
      <p:sp>
        <p:nvSpPr>
          <p:cNvPr id="24" name="Under-served languages badge"/>
          <p:cNvSpPr/>
          <p:nvPr/>
        </p:nvSpPr>
        <p:spPr>
          <a:xfrm>
            <a:off x="3383280" y="2971800"/>
            <a:ext cx="502920" cy="502920"/>
          </a:xfrm>
          <a:prstGeom prst="ellipse">
            <a:avLst/>
          </a:prstGeom>
          <a:solidFill>
            <a:schemeClr val="accent1"/>
          </a:solidFill>
          <a:ln w="12700">
            <a:solidFill>
              <a:schemeClr val="accent1"/>
            </a:solidFill>
            <a:prstDash val="solid"/>
          </a:ln>
        </p:spPr>
      </p:sp>
      <p:pic>
        <p:nvPicPr>
          <p:cNvPr id="25" name="Under-served languages icon" descr="preencoded.png">    </p:cNvPr>
          <p:cNvPicPr>
            <a:picLocks noChangeAspect="1"/>
          </p:cNvPicPr>
          <p:nvPr/>
        </p:nvPicPr>
        <p:blipFill>
          <a:blip r:embed="rId5"/>
          <a:stretch>
            <a:fillRect/>
          </a:stretch>
        </p:blipFill>
        <p:spPr>
          <a:xfrm>
            <a:off x="3503981" y="3092501"/>
            <a:ext cx="261518" cy="261518"/>
          </a:xfrm>
          <a:prstGeom prst="rect">
            <a:avLst/>
          </a:prstGeom>
        </p:spPr>
      </p:pic>
      <p:sp>
        <p:nvSpPr>
          <p:cNvPr id="26" name="Text 19"/>
          <p:cNvSpPr txBox="1"/>
          <p:nvPr/>
        </p:nvSpPr>
        <p:spPr>
          <a:xfrm>
            <a:off x="3995928" y="3017520"/>
            <a:ext cx="1783080" cy="457200"/>
          </a:xfrm>
          <a:prstGeom prst="rect">
            <a:avLst/>
          </a:prstGeom>
          <a:noFill/>
          <a:ln/>
        </p:spPr>
        <p:txBody>
          <a:bodyPr wrap="square" lIns="0" tIns="0" rIns="0" bIns="0" rtlCol="0" anchor="ctr"/>
          <a:lstStyle/>
          <a:p>
            <a:pPr indent="0" marL="0">
              <a:buNone/>
            </a:pPr>
            <a:r>
              <a:rPr lang="en-US" sz="1400" b="1" dirty="0">
                <a:solidFill>
                  <a:schemeClr val="tx2"/>
                </a:solidFill>
              </a:rPr>
              <a:t>Under-served languages</a:t>
            </a:r>
            <a:endParaRPr lang="en-US" sz="1400" dirty="0"/>
          </a:p>
        </p:txBody>
      </p:sp>
      <p:sp>
        <p:nvSpPr>
          <p:cNvPr id="27" name="Text 20"/>
          <p:cNvSpPr txBox="1"/>
          <p:nvPr/>
        </p:nvSpPr>
        <p:spPr>
          <a:xfrm>
            <a:off x="3383280" y="3584448"/>
            <a:ext cx="2377440" cy="822960"/>
          </a:xfrm>
          <a:prstGeom prst="rect">
            <a:avLst/>
          </a:prstGeom>
          <a:noFill/>
          <a:ln/>
        </p:spPr>
        <p:txBody>
          <a:bodyPr wrap="square" lIns="0" tIns="0" rIns="0" bIns="0" rtlCol="0" anchor="t"/>
          <a:lstStyle/>
          <a:p>
            <a:pPr indent="0" marL="0">
              <a:buNone/>
            </a:pPr>
            <a:r>
              <a:rPr lang="en-US" sz="1200" dirty="0">
                <a:solidFill>
                  <a:schemeClr val="tx1"/>
                </a:solidFill>
              </a:rPr>
              <a:t>Hebrew, Arabic, regional European languages via targeted data</a:t>
            </a:r>
            <a:endParaRPr lang="en-US" sz="1200" dirty="0"/>
          </a:p>
        </p:txBody>
      </p:sp>
      <p:sp>
        <p:nvSpPr>
          <p:cNvPr id="28" name="win card 6"/>
          <p:cNvSpPr/>
          <p:nvPr/>
        </p:nvSpPr>
        <p:spPr>
          <a:xfrm>
            <a:off x="6035040" y="2834640"/>
            <a:ext cx="2606040" cy="1645920"/>
          </a:xfrm>
          <a:prstGeom prst="roundRect">
            <a:avLst>
              <a:gd name="adj" fmla="val 4444"/>
            </a:avLst>
          </a:prstGeom>
          <a:solidFill>
            <a:schemeClr val="bg2"/>
          </a:solidFill>
          <a:ln w="12700">
            <a:solidFill>
              <a:schemeClr val="bg2"/>
            </a:solidFill>
            <a:prstDash val="solid"/>
          </a:ln>
        </p:spPr>
      </p:sp>
      <p:sp>
        <p:nvSpPr>
          <p:cNvPr id="29" name="Customisation badge"/>
          <p:cNvSpPr/>
          <p:nvPr/>
        </p:nvSpPr>
        <p:spPr>
          <a:xfrm>
            <a:off x="6172200" y="2971800"/>
            <a:ext cx="502920" cy="502920"/>
          </a:xfrm>
          <a:prstGeom prst="ellipse">
            <a:avLst/>
          </a:prstGeom>
          <a:solidFill>
            <a:schemeClr val="accent1"/>
          </a:solidFill>
          <a:ln w="12700">
            <a:solidFill>
              <a:schemeClr val="accent1"/>
            </a:solidFill>
            <a:prstDash val="solid"/>
          </a:ln>
        </p:spPr>
      </p:sp>
      <p:pic>
        <p:nvPicPr>
          <p:cNvPr id="30" name="Customisation icon" descr="preencoded.png">    </p:cNvPr>
          <p:cNvPicPr>
            <a:picLocks noChangeAspect="1"/>
          </p:cNvPicPr>
          <p:nvPr/>
        </p:nvPicPr>
        <p:blipFill>
          <a:blip r:embed="rId6"/>
          <a:stretch>
            <a:fillRect/>
          </a:stretch>
        </p:blipFill>
        <p:spPr>
          <a:xfrm>
            <a:off x="6292901" y="3092501"/>
            <a:ext cx="261518" cy="261518"/>
          </a:xfrm>
          <a:prstGeom prst="rect">
            <a:avLst/>
          </a:prstGeom>
        </p:spPr>
      </p:pic>
      <p:sp>
        <p:nvSpPr>
          <p:cNvPr id="31" name="Text 23"/>
          <p:cNvSpPr txBox="1"/>
          <p:nvPr/>
        </p:nvSpPr>
        <p:spPr>
          <a:xfrm>
            <a:off x="6784848" y="3017520"/>
            <a:ext cx="1783080" cy="457200"/>
          </a:xfrm>
          <a:prstGeom prst="rect">
            <a:avLst/>
          </a:prstGeom>
          <a:noFill/>
          <a:ln/>
        </p:spPr>
        <p:txBody>
          <a:bodyPr wrap="square" lIns="0" tIns="0" rIns="0" bIns="0" rtlCol="0" anchor="ctr"/>
          <a:lstStyle/>
          <a:p>
            <a:pPr indent="0" marL="0">
              <a:buNone/>
            </a:pPr>
            <a:r>
              <a:rPr lang="en-US" sz="1400" b="1" dirty="0">
                <a:solidFill>
                  <a:schemeClr val="tx2"/>
                </a:solidFill>
              </a:rPr>
              <a:t>Customisation</a:t>
            </a:r>
            <a:endParaRPr lang="en-US" sz="1400" dirty="0"/>
          </a:p>
        </p:txBody>
      </p:sp>
      <p:sp>
        <p:nvSpPr>
          <p:cNvPr id="32" name="Text 24"/>
          <p:cNvSpPr txBox="1"/>
          <p:nvPr/>
        </p:nvSpPr>
        <p:spPr>
          <a:xfrm>
            <a:off x="6172200" y="3584448"/>
            <a:ext cx="2377440" cy="822960"/>
          </a:xfrm>
          <a:prstGeom prst="rect">
            <a:avLst/>
          </a:prstGeom>
          <a:noFill/>
          <a:ln/>
        </p:spPr>
        <p:txBody>
          <a:bodyPr wrap="square" lIns="0" tIns="0" rIns="0" bIns="0" rtlCol="0" anchor="t"/>
          <a:lstStyle/>
          <a:p>
            <a:pPr indent="0" marL="0">
              <a:buNone/>
            </a:pPr>
            <a:r>
              <a:rPr lang="en-US" sz="1200" dirty="0">
                <a:solidFill>
                  <a:schemeClr val="tx1"/>
                </a:solidFill>
              </a:rPr>
              <a:t>Full fine-tuning, RL on customer tasks, predictable pricing</a:t>
            </a:r>
            <a:endParaRPr lang="en-US" sz="12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indent="0" marL="0">
              <a:buNone/>
            </a:pPr>
            <a:r>
              <a:rPr lang="en-US" sz="2800" b="1" dirty="0">
                <a:solidFill>
                  <a:schemeClr val="tx2"/>
                </a:solidFill>
              </a:rPr>
              <a:t>Three levels of ambition</a:t>
            </a:r>
            <a:endParaRPr lang="en-US" sz="2800" dirty="0"/>
          </a:p>
        </p:txBody>
      </p:sp>
      <p:sp>
        <p:nvSpPr>
          <p:cNvPr id="3" name="level card 1"/>
          <p:cNvSpPr/>
          <p:nvPr/>
        </p:nvSpPr>
        <p:spPr>
          <a:xfrm>
            <a:off x="457200" y="1051560"/>
            <a:ext cx="2606040" cy="3246120"/>
          </a:xfrm>
          <a:prstGeom prst="roundRect">
            <a:avLst>
              <a:gd name="adj" fmla="val 2807"/>
            </a:avLst>
          </a:prstGeom>
          <a:solidFill>
            <a:schemeClr val="bg2"/>
          </a:solidFill>
          <a:ln w="12700">
            <a:solidFill>
              <a:schemeClr val="bg2"/>
            </a:solidFill>
            <a:prstDash val="solid"/>
          </a:ln>
        </p:spPr>
      </p:sp>
      <p:sp>
        <p:nvSpPr>
          <p:cNvPr id="4" name="Text 2"/>
          <p:cNvSpPr txBox="1"/>
          <p:nvPr/>
        </p:nvSpPr>
        <p:spPr>
          <a:xfrm>
            <a:off x="640080" y="1188720"/>
            <a:ext cx="2286000" cy="274320"/>
          </a:xfrm>
          <a:prstGeom prst="rect">
            <a:avLst/>
          </a:prstGeom>
          <a:noFill/>
          <a:ln/>
        </p:spPr>
        <p:txBody>
          <a:bodyPr wrap="square" lIns="0" tIns="0" rIns="0" bIns="0" rtlCol="0" anchor="t"/>
          <a:lstStyle/>
          <a:p>
            <a:pPr indent="0" marL="0">
              <a:buNone/>
            </a:pPr>
            <a:r>
              <a:rPr lang="en-US" sz="1200" b="1" dirty="0">
                <a:solidFill>
                  <a:schemeClr val="accent1"/>
                </a:solidFill>
              </a:rPr>
              <a:t>Level 1</a:t>
            </a:r>
            <a:endParaRPr lang="en-US" sz="1200" dirty="0"/>
          </a:p>
        </p:txBody>
      </p:sp>
      <p:sp>
        <p:nvSpPr>
          <p:cNvPr id="5" name="Text 3"/>
          <p:cNvSpPr txBox="1"/>
          <p:nvPr/>
        </p:nvSpPr>
        <p:spPr>
          <a:xfrm>
            <a:off x="640080" y="1463040"/>
            <a:ext cx="2286000" cy="411480"/>
          </a:xfrm>
          <a:prstGeom prst="rect">
            <a:avLst/>
          </a:prstGeom>
          <a:noFill/>
          <a:ln/>
        </p:spPr>
        <p:txBody>
          <a:bodyPr wrap="square" lIns="0" tIns="0" rIns="0" bIns="0" rtlCol="0" anchor="t"/>
          <a:lstStyle/>
          <a:p>
            <a:pPr indent="0" marL="0">
              <a:buNone/>
            </a:pPr>
            <a:r>
              <a:rPr lang="en-US" sz="1800" b="1" dirty="0">
                <a:solidFill>
                  <a:schemeClr val="tx2"/>
                </a:solidFill>
              </a:rPr>
              <a:t>Beam parity</a:t>
            </a:r>
            <a:endParaRPr lang="en-US" sz="1800" dirty="0"/>
          </a:p>
        </p:txBody>
      </p:sp>
      <p:sp>
        <p:nvSpPr>
          <p:cNvPr id="6" name="Text 4"/>
          <p:cNvSpPr txBox="1"/>
          <p:nvPr/>
        </p:nvSpPr>
        <p:spPr>
          <a:xfrm>
            <a:off x="640080" y="1965960"/>
            <a:ext cx="2286000" cy="502920"/>
          </a:xfrm>
          <a:prstGeom prst="rect">
            <a:avLst/>
          </a:prstGeom>
          <a:noFill/>
          <a:ln/>
        </p:spPr>
        <p:txBody>
          <a:bodyPr wrap="square" lIns="0" tIns="0" rIns="0" bIns="0" rtlCol="0" anchor="t"/>
          <a:lstStyle/>
          <a:p>
            <a:pPr indent="0" marL="0">
              <a:buNone/>
            </a:pPr>
            <a:r>
              <a:rPr lang="en-US" sz="2600" b="1" dirty="0">
                <a:solidFill>
                  <a:schemeClr val="accent2"/>
                </a:solidFill>
                <a:latin typeface="Arial" pitchFamily="34" charset="0"/>
                <a:ea typeface="Arial" pitchFamily="34" charset="-122"/>
                <a:cs typeface="Arial" pitchFamily="34" charset="-120"/>
              </a:rPr>
              <a:t>AA ≈ 30</a:t>
            </a:r>
            <a:endParaRPr lang="en-US" sz="2600" dirty="0"/>
          </a:p>
        </p:txBody>
      </p:sp>
      <p:sp>
        <p:nvSpPr>
          <p:cNvPr id="7" name="Text 5"/>
          <p:cNvSpPr txBox="1"/>
          <p:nvPr/>
        </p:nvSpPr>
        <p:spPr>
          <a:xfrm>
            <a:off x="640080" y="2606040"/>
            <a:ext cx="2286000" cy="685800"/>
          </a:xfrm>
          <a:prstGeom prst="rect">
            <a:avLst/>
          </a:prstGeom>
          <a:noFill/>
          <a:ln/>
        </p:spPr>
        <p:txBody>
          <a:bodyPr wrap="square" lIns="0" tIns="0" rIns="0" bIns="0" rtlCol="0" anchor="t"/>
          <a:lstStyle/>
          <a:p>
            <a:pPr indent="0" marL="0">
              <a:buNone/>
            </a:pPr>
            <a:r>
              <a:rPr lang="en-US" sz="1300" dirty="0">
                <a:solidFill>
                  <a:schemeClr val="tx2"/>
                </a:solidFill>
              </a:rPr>
              <a:t>~500B total / 23B active; Beam KPIs</a:t>
            </a:r>
            <a:endParaRPr lang="en-US" sz="1300" dirty="0"/>
          </a:p>
        </p:txBody>
      </p:sp>
      <p:sp>
        <p:nvSpPr>
          <p:cNvPr id="8" name="Text 6"/>
          <p:cNvSpPr txBox="1"/>
          <p:nvPr/>
        </p:nvSpPr>
        <p:spPr>
          <a:xfrm>
            <a:off x="640080" y="3566160"/>
            <a:ext cx="2286000" cy="548640"/>
          </a:xfrm>
          <a:prstGeom prst="rect">
            <a:avLst/>
          </a:prstGeom>
          <a:noFill/>
          <a:ln/>
        </p:spPr>
        <p:txBody>
          <a:bodyPr wrap="square" lIns="0" tIns="0" rIns="0" bIns="0" rtlCol="0" anchor="t"/>
          <a:lstStyle/>
          <a:p>
            <a:pPr indent="0" marL="0">
              <a:buNone/>
            </a:pPr>
            <a:r>
              <a:rPr lang="en-US" sz="1300" b="1" dirty="0">
                <a:solidFill>
                  <a:schemeClr val="tx2"/>
                </a:solidFill>
              </a:rPr>
              <a:t>2-yr cost: </a:t>
            </a:r>
            <a:pPr indent="0" marL="0">
              <a:buNone/>
            </a:pPr>
            <a:r>
              <a:rPr lang="en-US" sz="1300" dirty="0">
                <a:solidFill>
                  <a:schemeClr val="tx2"/>
                </a:solidFill>
              </a:rPr>
              <a:t>$11M–$175M</a:t>
            </a:r>
            <a:endParaRPr lang="en-US" sz="1300" dirty="0"/>
          </a:p>
        </p:txBody>
      </p:sp>
      <p:sp>
        <p:nvSpPr>
          <p:cNvPr id="9" name="level card 2"/>
          <p:cNvSpPr/>
          <p:nvPr/>
        </p:nvSpPr>
        <p:spPr>
          <a:xfrm>
            <a:off x="3246120" y="1051560"/>
            <a:ext cx="2606040" cy="3246120"/>
          </a:xfrm>
          <a:prstGeom prst="roundRect">
            <a:avLst>
              <a:gd name="adj" fmla="val 2807"/>
            </a:avLst>
          </a:prstGeom>
          <a:solidFill>
            <a:schemeClr val="bg2"/>
          </a:solidFill>
          <a:ln w="12700">
            <a:solidFill>
              <a:schemeClr val="bg2"/>
            </a:solidFill>
            <a:prstDash val="solid"/>
          </a:ln>
        </p:spPr>
      </p:sp>
      <p:sp>
        <p:nvSpPr>
          <p:cNvPr id="10" name="Text 8"/>
          <p:cNvSpPr txBox="1"/>
          <p:nvPr/>
        </p:nvSpPr>
        <p:spPr>
          <a:xfrm>
            <a:off x="3429000" y="1188720"/>
            <a:ext cx="2286000" cy="274320"/>
          </a:xfrm>
          <a:prstGeom prst="rect">
            <a:avLst/>
          </a:prstGeom>
          <a:noFill/>
          <a:ln/>
        </p:spPr>
        <p:txBody>
          <a:bodyPr wrap="square" lIns="0" tIns="0" rIns="0" bIns="0" rtlCol="0" anchor="t"/>
          <a:lstStyle/>
          <a:p>
            <a:pPr indent="0" marL="0">
              <a:buNone/>
            </a:pPr>
            <a:r>
              <a:rPr lang="en-US" sz="1200" b="1" dirty="0">
                <a:solidFill>
                  <a:schemeClr val="accent1"/>
                </a:solidFill>
              </a:rPr>
              <a:t>Level 2</a:t>
            </a:r>
            <a:endParaRPr lang="en-US" sz="1200" dirty="0"/>
          </a:p>
        </p:txBody>
      </p:sp>
      <p:sp>
        <p:nvSpPr>
          <p:cNvPr id="11" name="Text 9"/>
          <p:cNvSpPr txBox="1"/>
          <p:nvPr/>
        </p:nvSpPr>
        <p:spPr>
          <a:xfrm>
            <a:off x="3429000" y="1463040"/>
            <a:ext cx="2286000" cy="411480"/>
          </a:xfrm>
          <a:prstGeom prst="rect">
            <a:avLst/>
          </a:prstGeom>
          <a:noFill/>
          <a:ln/>
        </p:spPr>
        <p:txBody>
          <a:bodyPr wrap="square" lIns="0" tIns="0" rIns="0" bIns="0" rtlCol="0" anchor="t"/>
          <a:lstStyle/>
          <a:p>
            <a:pPr indent="0" marL="0">
              <a:buNone/>
            </a:pPr>
            <a:r>
              <a:rPr lang="en-US" sz="1800" b="1" dirty="0">
                <a:solidFill>
                  <a:schemeClr val="tx2"/>
                </a:solidFill>
              </a:rPr>
              <a:t>Open-frontier parity</a:t>
            </a:r>
            <a:endParaRPr lang="en-US" sz="1800" dirty="0"/>
          </a:p>
        </p:txBody>
      </p:sp>
      <p:sp>
        <p:nvSpPr>
          <p:cNvPr id="12" name="Text 10"/>
          <p:cNvSpPr txBox="1"/>
          <p:nvPr/>
        </p:nvSpPr>
        <p:spPr>
          <a:xfrm>
            <a:off x="3429000" y="1965960"/>
            <a:ext cx="2286000" cy="502920"/>
          </a:xfrm>
          <a:prstGeom prst="rect">
            <a:avLst/>
          </a:prstGeom>
          <a:noFill/>
          <a:ln/>
        </p:spPr>
        <p:txBody>
          <a:bodyPr wrap="square" lIns="0" tIns="0" rIns="0" bIns="0" rtlCol="0" anchor="t"/>
          <a:lstStyle/>
          <a:p>
            <a:pPr indent="0" marL="0">
              <a:buNone/>
            </a:pPr>
            <a:r>
              <a:rPr lang="en-US" sz="2600" b="1" dirty="0">
                <a:solidFill>
                  <a:schemeClr val="accent2"/>
                </a:solidFill>
                <a:latin typeface="Arial" pitchFamily="34" charset="0"/>
                <a:ea typeface="Arial" pitchFamily="34" charset="-122"/>
                <a:cs typeface="Arial" pitchFamily="34" charset="-120"/>
              </a:rPr>
              <a:t>AA ≈ 45</a:t>
            </a:r>
            <a:endParaRPr lang="en-US" sz="2600" dirty="0"/>
          </a:p>
        </p:txBody>
      </p:sp>
      <p:sp>
        <p:nvSpPr>
          <p:cNvPr id="13" name="Text 11"/>
          <p:cNvSpPr txBox="1"/>
          <p:nvPr/>
        </p:nvSpPr>
        <p:spPr>
          <a:xfrm>
            <a:off x="3429000" y="2606040"/>
            <a:ext cx="2286000" cy="685800"/>
          </a:xfrm>
          <a:prstGeom prst="rect">
            <a:avLst/>
          </a:prstGeom>
          <a:noFill/>
          <a:ln/>
        </p:spPr>
        <p:txBody>
          <a:bodyPr wrap="square" lIns="0" tIns="0" rIns="0" bIns="0" rtlCol="0" anchor="t"/>
          <a:lstStyle/>
          <a:p>
            <a:pPr indent="0" marL="0">
              <a:buNone/>
            </a:pPr>
            <a:r>
              <a:rPr lang="en-US" sz="1300" dirty="0">
                <a:solidFill>
                  <a:schemeClr val="tx2"/>
                </a:solidFill>
              </a:rPr>
              <a:t>1–2T total / 40–60B active; 30T+ tokens</a:t>
            </a:r>
            <a:endParaRPr lang="en-US" sz="1300" dirty="0"/>
          </a:p>
        </p:txBody>
      </p:sp>
      <p:sp>
        <p:nvSpPr>
          <p:cNvPr id="14" name="Text 12"/>
          <p:cNvSpPr txBox="1"/>
          <p:nvPr/>
        </p:nvSpPr>
        <p:spPr>
          <a:xfrm>
            <a:off x="3429000" y="3566160"/>
            <a:ext cx="2286000" cy="548640"/>
          </a:xfrm>
          <a:prstGeom prst="rect">
            <a:avLst/>
          </a:prstGeom>
          <a:noFill/>
          <a:ln/>
        </p:spPr>
        <p:txBody>
          <a:bodyPr wrap="square" lIns="0" tIns="0" rIns="0" bIns="0" rtlCol="0" anchor="t"/>
          <a:lstStyle/>
          <a:p>
            <a:pPr indent="0" marL="0">
              <a:buNone/>
            </a:pPr>
            <a:r>
              <a:rPr lang="en-US" sz="1300" b="1" dirty="0">
                <a:solidFill>
                  <a:schemeClr val="tx2"/>
                </a:solidFill>
              </a:rPr>
              <a:t>2-yr cost: </a:t>
            </a:r>
            <a:pPr indent="0" marL="0">
              <a:buNone/>
            </a:pPr>
            <a:r>
              <a:rPr lang="en-US" sz="1300" dirty="0">
                <a:solidFill>
                  <a:schemeClr val="tx2"/>
                </a:solidFill>
              </a:rPr>
              <a:t>$300–500M</a:t>
            </a:r>
            <a:endParaRPr lang="en-US" sz="1300" dirty="0"/>
          </a:p>
        </p:txBody>
      </p:sp>
      <p:sp>
        <p:nvSpPr>
          <p:cNvPr id="15" name="level card 3"/>
          <p:cNvSpPr/>
          <p:nvPr/>
        </p:nvSpPr>
        <p:spPr>
          <a:xfrm>
            <a:off x="6035040" y="1051560"/>
            <a:ext cx="2606040" cy="3246120"/>
          </a:xfrm>
          <a:prstGeom prst="roundRect">
            <a:avLst>
              <a:gd name="adj" fmla="val 2807"/>
            </a:avLst>
          </a:prstGeom>
          <a:solidFill>
            <a:schemeClr val="tx2"/>
          </a:solidFill>
          <a:ln w="12700">
            <a:solidFill>
              <a:schemeClr val="tx2"/>
            </a:solidFill>
            <a:prstDash val="solid"/>
          </a:ln>
        </p:spPr>
      </p:sp>
      <p:sp>
        <p:nvSpPr>
          <p:cNvPr id="16" name="Text 14"/>
          <p:cNvSpPr txBox="1"/>
          <p:nvPr/>
        </p:nvSpPr>
        <p:spPr>
          <a:xfrm>
            <a:off x="6217920" y="1188720"/>
            <a:ext cx="2286000" cy="274320"/>
          </a:xfrm>
          <a:prstGeom prst="rect">
            <a:avLst/>
          </a:prstGeom>
          <a:noFill/>
          <a:ln/>
        </p:spPr>
        <p:txBody>
          <a:bodyPr wrap="square" lIns="0" tIns="0" rIns="0" bIns="0" rtlCol="0" anchor="t"/>
          <a:lstStyle/>
          <a:p>
            <a:pPr indent="0" marL="0">
              <a:buNone/>
            </a:pPr>
            <a:r>
              <a:rPr lang="en-US" sz="1200" b="1" dirty="0">
                <a:solidFill>
                  <a:schemeClr val="accent1"/>
                </a:solidFill>
              </a:rPr>
              <a:t>Level 3</a:t>
            </a:r>
            <a:endParaRPr lang="en-US" sz="1200" dirty="0"/>
          </a:p>
        </p:txBody>
      </p:sp>
      <p:sp>
        <p:nvSpPr>
          <p:cNvPr id="17" name="Text 15"/>
          <p:cNvSpPr txBox="1"/>
          <p:nvPr/>
        </p:nvSpPr>
        <p:spPr>
          <a:xfrm>
            <a:off x="6217920" y="1463040"/>
            <a:ext cx="2286000" cy="411480"/>
          </a:xfrm>
          <a:prstGeom prst="rect">
            <a:avLst/>
          </a:prstGeom>
          <a:noFill/>
          <a:ln/>
        </p:spPr>
        <p:txBody>
          <a:bodyPr wrap="square" lIns="0" tIns="0" rIns="0" bIns="0" rtlCol="0" anchor="t"/>
          <a:lstStyle/>
          <a:p>
            <a:pPr indent="0" marL="0">
              <a:buNone/>
            </a:pPr>
            <a:r>
              <a:rPr lang="en-US" sz="1800" b="1" dirty="0">
                <a:solidFill>
                  <a:schemeClr val="bg1"/>
                </a:solidFill>
              </a:rPr>
              <a:t>Frontier challenger</a:t>
            </a:r>
            <a:endParaRPr lang="en-US" sz="1800" dirty="0"/>
          </a:p>
        </p:txBody>
      </p:sp>
      <p:sp>
        <p:nvSpPr>
          <p:cNvPr id="18" name="Text 16"/>
          <p:cNvSpPr txBox="1"/>
          <p:nvPr/>
        </p:nvSpPr>
        <p:spPr>
          <a:xfrm>
            <a:off x="6217920" y="1965960"/>
            <a:ext cx="2286000" cy="502920"/>
          </a:xfrm>
          <a:prstGeom prst="rect">
            <a:avLst/>
          </a:prstGeom>
          <a:noFill/>
          <a:ln/>
        </p:spPr>
        <p:txBody>
          <a:bodyPr wrap="square" lIns="0" tIns="0" rIns="0" bIns="0" rtlCol="0" anchor="t"/>
          <a:lstStyle/>
          <a:p>
            <a:pPr indent="0" marL="0">
              <a:buNone/>
            </a:pPr>
            <a:r>
              <a:rPr lang="en-US" sz="2600" b="1" dirty="0">
                <a:solidFill>
                  <a:schemeClr val="accent1"/>
                </a:solidFill>
                <a:latin typeface="Arial" pitchFamily="34" charset="0"/>
                <a:ea typeface="Arial" pitchFamily="34" charset="-122"/>
                <a:cs typeface="Arial" pitchFamily="34" charset="-120"/>
              </a:rPr>
              <a:t>AA ≥ 53</a:t>
            </a:r>
            <a:endParaRPr lang="en-US" sz="2600" dirty="0"/>
          </a:p>
        </p:txBody>
      </p:sp>
      <p:sp>
        <p:nvSpPr>
          <p:cNvPr id="19" name="Text 17"/>
          <p:cNvSpPr txBox="1"/>
          <p:nvPr/>
        </p:nvSpPr>
        <p:spPr>
          <a:xfrm>
            <a:off x="6217920" y="2606040"/>
            <a:ext cx="2286000" cy="685800"/>
          </a:xfrm>
          <a:prstGeom prst="rect">
            <a:avLst/>
          </a:prstGeom>
          <a:noFill/>
          <a:ln/>
        </p:spPr>
        <p:txBody>
          <a:bodyPr wrap="square" lIns="0" tIns="0" rIns="0" bIns="0" rtlCol="0" anchor="t"/>
          <a:lstStyle/>
          <a:p>
            <a:pPr indent="0" marL="0">
              <a:buNone/>
            </a:pPr>
            <a:r>
              <a:rPr lang="en-US" sz="1300" dirty="0">
                <a:solidFill>
                  <a:schemeClr val="bg1"/>
                </a:solidFill>
              </a:rPr>
              <a:t>Multi-trillion params; 10^25–10^26 FLOPs</a:t>
            </a:r>
            <a:endParaRPr lang="en-US" sz="1300" dirty="0"/>
          </a:p>
        </p:txBody>
      </p:sp>
      <p:sp>
        <p:nvSpPr>
          <p:cNvPr id="20" name="Text 18"/>
          <p:cNvSpPr txBox="1"/>
          <p:nvPr/>
        </p:nvSpPr>
        <p:spPr>
          <a:xfrm>
            <a:off x="6217920" y="3566160"/>
            <a:ext cx="2286000" cy="548640"/>
          </a:xfrm>
          <a:prstGeom prst="rect">
            <a:avLst/>
          </a:prstGeom>
          <a:noFill/>
          <a:ln/>
        </p:spPr>
        <p:txBody>
          <a:bodyPr wrap="square" lIns="0" tIns="0" rIns="0" bIns="0" rtlCol="0" anchor="t"/>
          <a:lstStyle/>
          <a:p>
            <a:pPr indent="0" marL="0">
              <a:buNone/>
            </a:pPr>
            <a:r>
              <a:rPr lang="en-US" sz="1300" b="1" dirty="0">
                <a:solidFill>
                  <a:schemeClr val="bg1"/>
                </a:solidFill>
              </a:rPr>
              <a:t>2-yr cost: </a:t>
            </a:r>
            <a:pPr indent="0" marL="0">
              <a:buNone/>
            </a:pPr>
            <a:r>
              <a:rPr lang="en-US" sz="1300" dirty="0">
                <a:solidFill>
                  <a:schemeClr val="bg1"/>
                </a:solidFill>
              </a:rPr>
              <a:t>$1B+ per generation</a:t>
            </a:r>
            <a:endParaRPr lang="en-US" sz="1300" dirty="0"/>
          </a:p>
        </p:txBody>
      </p:sp>
      <p:sp>
        <p:nvSpPr>
          <p:cNvPr id="21" name="Text 19"/>
          <p:cNvSpPr txBox="1"/>
          <p:nvPr/>
        </p:nvSpPr>
        <p:spPr>
          <a:xfrm>
            <a:off x="457200" y="4370832"/>
            <a:ext cx="8229600" cy="365760"/>
          </a:xfrm>
          <a:prstGeom prst="rect">
            <a:avLst/>
          </a:prstGeom>
          <a:noFill/>
          <a:ln/>
        </p:spPr>
        <p:txBody>
          <a:bodyPr wrap="square" lIns="0" tIns="0" rIns="0" bIns="0" rtlCol="0" anchor="t"/>
          <a:lstStyle/>
          <a:p>
            <a:pPr indent="0" marL="0">
              <a:buNone/>
            </a:pPr>
            <a:r>
              <a:rPr lang="en-US" sz="1300" b="1" dirty="0">
                <a:solidFill>
                  <a:schemeClr val="tx2"/>
                </a:solidFill>
              </a:rPr>
              <a:t>Recommendation: commit to Level 1 now; treat Level 2 as a funded option after proof of demand. Level 3 is a hyperscaler-scale bet.</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indent="0" marL="0">
              <a:buNone/>
            </a:pPr>
            <a:r>
              <a:rPr lang="en-US" sz="2800" b="1" dirty="0">
                <a:solidFill>
                  <a:schemeClr val="tx2"/>
                </a:solidFill>
              </a:rPr>
              <a:t>Three routes to a Beam-class model</a:t>
            </a:r>
            <a:endParaRPr lang="en-US" sz="2800" dirty="0"/>
          </a:p>
        </p:txBody>
      </p:sp>
      <p:graphicFrame>
        <p:nvGraphicFramePr>
          <p:cNvPr id="3" name="options cost chart" descr=""/>
          <p:cNvGraphicFramePr/>
          <p:nvPr/>
        </p:nvGraphicFramePr>
        <p:xfrm>
          <a:off x="457200" y="960120"/>
          <a:ext cx="5120640" cy="37033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852160" y="1051560"/>
            <a:ext cx="2834640" cy="320040"/>
          </a:xfrm>
          <a:prstGeom prst="rect">
            <a:avLst/>
          </a:prstGeom>
          <a:noFill/>
          <a:ln/>
        </p:spPr>
        <p:txBody>
          <a:bodyPr wrap="square" lIns="0" tIns="0" rIns="0" bIns="0" rtlCol="0" anchor="t"/>
          <a:lstStyle/>
          <a:p>
            <a:pPr indent="0" marL="0">
              <a:buNone/>
            </a:pPr>
            <a:r>
              <a:rPr lang="en-US" sz="1400" b="1" dirty="0">
                <a:solidFill>
                  <a:schemeClr val="tx2"/>
                </a:solidFill>
              </a:rPr>
              <a:t>A · ≈$11M · 3–6 months</a:t>
            </a:r>
            <a:endParaRPr lang="en-US" sz="1400" dirty="0"/>
          </a:p>
        </p:txBody>
      </p:sp>
      <p:sp>
        <p:nvSpPr>
          <p:cNvPr id="5" name="Text 2"/>
          <p:cNvSpPr txBox="1"/>
          <p:nvPr/>
        </p:nvSpPr>
        <p:spPr>
          <a:xfrm>
            <a:off x="5852160" y="1399032"/>
            <a:ext cx="2834640" cy="685800"/>
          </a:xfrm>
          <a:prstGeom prst="rect">
            <a:avLst/>
          </a:prstGeom>
          <a:noFill/>
          <a:ln/>
        </p:spPr>
        <p:txBody>
          <a:bodyPr wrap="square" lIns="0" tIns="0" rIns="0" bIns="0" rtlCol="0" anchor="t"/>
          <a:lstStyle/>
          <a:p>
            <a:pPr indent="0" marL="0">
              <a:buNone/>
            </a:pPr>
            <a:r>
              <a:rPr lang="en-US" sz="1300" dirty="0">
                <a:solidFill>
                  <a:schemeClr val="tx1"/>
                </a:solidFill>
              </a:rPr>
              <a:t>SFT + RL on Beam weights for a niche; 15–25 people</a:t>
            </a:r>
            <a:endParaRPr lang="en-US" sz="1300" dirty="0"/>
          </a:p>
        </p:txBody>
      </p:sp>
      <p:sp>
        <p:nvSpPr>
          <p:cNvPr id="6" name="Text 3"/>
          <p:cNvSpPr txBox="1"/>
          <p:nvPr/>
        </p:nvSpPr>
        <p:spPr>
          <a:xfrm>
            <a:off x="5852160" y="2240280"/>
            <a:ext cx="2834640" cy="320040"/>
          </a:xfrm>
          <a:prstGeom prst="rect">
            <a:avLst/>
          </a:prstGeom>
          <a:noFill/>
          <a:ln/>
        </p:spPr>
        <p:txBody>
          <a:bodyPr wrap="square" lIns="0" tIns="0" rIns="0" bIns="0" rtlCol="0" anchor="t"/>
          <a:lstStyle/>
          <a:p>
            <a:pPr indent="0" marL="0">
              <a:buNone/>
            </a:pPr>
            <a:r>
              <a:rPr lang="en-US" sz="1400" b="1" dirty="0">
                <a:solidFill>
                  <a:schemeClr val="tx2"/>
                </a:solidFill>
              </a:rPr>
              <a:t>B · ≈$56M · 9–12 months</a:t>
            </a:r>
            <a:endParaRPr lang="en-US" sz="1400" dirty="0"/>
          </a:p>
        </p:txBody>
      </p:sp>
      <p:sp>
        <p:nvSpPr>
          <p:cNvPr id="7" name="Text 4"/>
          <p:cNvSpPr txBox="1"/>
          <p:nvPr/>
        </p:nvSpPr>
        <p:spPr>
          <a:xfrm>
            <a:off x="5852160" y="2587752"/>
            <a:ext cx="2834640" cy="685800"/>
          </a:xfrm>
          <a:prstGeom prst="rect">
            <a:avLst/>
          </a:prstGeom>
          <a:noFill/>
          <a:ln/>
        </p:spPr>
        <p:txBody>
          <a:bodyPr wrap="square" lIns="0" tIns="0" rIns="0" bIns="0" rtlCol="0" anchor="t"/>
          <a:lstStyle/>
          <a:p>
            <a:pPr indent="0" marL="0">
              <a:buNone/>
            </a:pPr>
            <a:r>
              <a:rPr lang="en-US" sz="1300" dirty="0">
                <a:solidFill>
                  <a:schemeClr val="tx1"/>
                </a:solidFill>
              </a:rPr>
              <a:t>Add 3–6T domain tokens + full RL; 40–60 people</a:t>
            </a:r>
            <a:endParaRPr lang="en-US" sz="1300" dirty="0"/>
          </a:p>
        </p:txBody>
      </p:sp>
      <p:sp>
        <p:nvSpPr>
          <p:cNvPr id="8" name="Text 5"/>
          <p:cNvSpPr txBox="1"/>
          <p:nvPr/>
        </p:nvSpPr>
        <p:spPr>
          <a:xfrm>
            <a:off x="5852160" y="3429000"/>
            <a:ext cx="2834640" cy="320040"/>
          </a:xfrm>
          <a:prstGeom prst="rect">
            <a:avLst/>
          </a:prstGeom>
          <a:noFill/>
          <a:ln/>
        </p:spPr>
        <p:txBody>
          <a:bodyPr wrap="square" lIns="0" tIns="0" rIns="0" bIns="0" rtlCol="0" anchor="t"/>
          <a:lstStyle/>
          <a:p>
            <a:pPr indent="0" marL="0">
              <a:buNone/>
            </a:pPr>
            <a:r>
              <a:rPr lang="en-US" sz="1400" b="1" dirty="0">
                <a:solidFill>
                  <a:schemeClr val="tx2"/>
                </a:solidFill>
              </a:rPr>
              <a:t>C · ≈$175M · 15–18 months</a:t>
            </a:r>
            <a:endParaRPr lang="en-US" sz="1400" dirty="0"/>
          </a:p>
        </p:txBody>
      </p:sp>
      <p:sp>
        <p:nvSpPr>
          <p:cNvPr id="9" name="Text 6"/>
          <p:cNvSpPr txBox="1"/>
          <p:nvPr/>
        </p:nvSpPr>
        <p:spPr>
          <a:xfrm>
            <a:off x="5852160" y="3776472"/>
            <a:ext cx="2834640" cy="685800"/>
          </a:xfrm>
          <a:prstGeom prst="rect">
            <a:avLst/>
          </a:prstGeom>
          <a:noFill/>
          <a:ln/>
        </p:spPr>
        <p:txBody>
          <a:bodyPr wrap="square" lIns="0" tIns="0" rIns="0" bIns="0" rtlCol="0" anchor="t"/>
          <a:lstStyle/>
          <a:p>
            <a:pPr indent="0" marL="0">
              <a:buNone/>
            </a:pPr>
            <a:r>
              <a:rPr lang="en-US" sz="1300" dirty="0">
                <a:solidFill>
                  <a:schemeClr val="tx1"/>
                </a:solidFill>
              </a:rPr>
              <a:t>Own model, ~11–14M GPU-hours; 80–120 people</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indent="0" marL="0">
              <a:buNone/>
            </a:pPr>
            <a:r>
              <a:rPr lang="en-US" sz="2800" b="1" dirty="0">
                <a:solidFill>
                  <a:schemeClr val="tx2"/>
                </a:solidFill>
              </a:rPr>
              <a:t>Staged roadmap with decision gates</a:t>
            </a:r>
            <a:endParaRPr lang="en-US" sz="2800" dirty="0"/>
          </a:p>
        </p:txBody>
      </p:sp>
      <p:sp>
        <p:nvSpPr>
          <p:cNvPr id="3" name="timeline axis"/>
          <p:cNvSpPr/>
          <p:nvPr/>
        </p:nvSpPr>
        <p:spPr>
          <a:xfrm>
            <a:off x="731520" y="2148840"/>
            <a:ext cx="7680960" cy="0"/>
          </a:xfrm>
          <a:prstGeom prst="line">
            <a:avLst/>
          </a:prstGeom>
          <a:noFill/>
          <a:ln w="25400">
            <a:solidFill>
              <a:schemeClr val="accent4"/>
            </a:solidFill>
            <a:prstDash val="solid"/>
          </a:ln>
        </p:spPr>
      </p:sp>
      <p:sp>
        <p:nvSpPr>
          <p:cNvPr id="4" name="gate 1"/>
          <p:cNvSpPr/>
          <p:nvPr/>
        </p:nvSpPr>
        <p:spPr>
          <a:xfrm>
            <a:off x="1024128" y="1984248"/>
            <a:ext cx="329184" cy="329184"/>
          </a:xfrm>
          <a:prstGeom prst="ellipse">
            <a:avLst/>
          </a:prstGeom>
          <a:solidFill>
            <a:schemeClr val="accent2"/>
          </a:solidFill>
          <a:ln w="25400">
            <a:solidFill>
              <a:schemeClr val="bg1"/>
            </a:solidFill>
            <a:prstDash val="solid"/>
          </a:ln>
        </p:spPr>
      </p:sp>
      <p:sp>
        <p:nvSpPr>
          <p:cNvPr id="5" name="Text 3"/>
          <p:cNvSpPr txBox="1"/>
          <p:nvPr/>
        </p:nvSpPr>
        <p:spPr>
          <a:xfrm>
            <a:off x="457200" y="1417320"/>
            <a:ext cx="1463040" cy="274320"/>
          </a:xfrm>
          <a:prstGeom prst="rect">
            <a:avLst/>
          </a:prstGeom>
          <a:noFill/>
          <a:ln/>
        </p:spPr>
        <p:txBody>
          <a:bodyPr wrap="square" lIns="0" tIns="0" rIns="0" bIns="0" rtlCol="0" anchor="t"/>
          <a:lstStyle/>
          <a:p>
            <a:pPr algn="ctr" indent="0" marL="0">
              <a:buNone/>
            </a:pPr>
            <a:r>
              <a:rPr lang="en-US" sz="1200" dirty="0">
                <a:solidFill>
                  <a:schemeClr val="accent4"/>
                </a:solidFill>
              </a:rPr>
              <a:t>Month 1</a:t>
            </a:r>
            <a:endParaRPr lang="en-US" sz="1200" dirty="0"/>
          </a:p>
        </p:txBody>
      </p:sp>
      <p:sp>
        <p:nvSpPr>
          <p:cNvPr id="6" name="Text 4"/>
          <p:cNvSpPr txBox="1"/>
          <p:nvPr/>
        </p:nvSpPr>
        <p:spPr>
          <a:xfrm>
            <a:off x="457200" y="1691640"/>
            <a:ext cx="1463040" cy="274320"/>
          </a:xfrm>
          <a:prstGeom prst="rect">
            <a:avLst/>
          </a:prstGeom>
          <a:noFill/>
          <a:ln/>
        </p:spPr>
        <p:txBody>
          <a:bodyPr wrap="square" lIns="0" tIns="0" rIns="0" bIns="0" rtlCol="0" anchor="t"/>
          <a:lstStyle/>
          <a:p>
            <a:pPr algn="ctr" indent="0" marL="0">
              <a:buNone/>
            </a:pPr>
            <a:r>
              <a:rPr lang="en-US" sz="1400" b="1" dirty="0">
                <a:solidFill>
                  <a:schemeClr val="tx2"/>
                </a:solidFill>
              </a:rPr>
              <a:t>G0 Baseline</a:t>
            </a:r>
            <a:endParaRPr lang="en-US" sz="1400" dirty="0"/>
          </a:p>
        </p:txBody>
      </p:sp>
      <p:sp>
        <p:nvSpPr>
          <p:cNvPr id="7" name="gate detail 1"/>
          <p:cNvSpPr/>
          <p:nvPr/>
        </p:nvSpPr>
        <p:spPr>
          <a:xfrm>
            <a:off x="457200" y="2560320"/>
            <a:ext cx="1463040" cy="1188720"/>
          </a:xfrm>
          <a:prstGeom prst="roundRect">
            <a:avLst>
              <a:gd name="adj" fmla="val 6154"/>
            </a:avLst>
          </a:prstGeom>
          <a:solidFill>
            <a:schemeClr val="bg2"/>
          </a:solidFill>
          <a:ln w="12700">
            <a:solidFill>
              <a:schemeClr val="bg2"/>
            </a:solidFill>
            <a:prstDash val="solid"/>
          </a:ln>
        </p:spPr>
      </p:sp>
      <p:sp>
        <p:nvSpPr>
          <p:cNvPr id="8" name="Text 6"/>
          <p:cNvSpPr txBox="1"/>
          <p:nvPr/>
        </p:nvSpPr>
        <p:spPr>
          <a:xfrm>
            <a:off x="566928" y="2670048"/>
            <a:ext cx="1243584" cy="1280160"/>
          </a:xfrm>
          <a:prstGeom prst="rect">
            <a:avLst/>
          </a:prstGeom>
          <a:noFill/>
          <a:ln/>
        </p:spPr>
        <p:txBody>
          <a:bodyPr wrap="square" lIns="0" tIns="0" rIns="0" bIns="0" rtlCol="0" anchor="t"/>
          <a:lstStyle/>
          <a:p>
            <a:pPr indent="0" marL="0">
              <a:buNone/>
            </a:pPr>
            <a:r>
              <a:rPr lang="en-US" sz="1200" dirty="0">
                <a:solidFill>
                  <a:schemeClr val="tx1"/>
                </a:solidFill>
              </a:rPr>
              <a:t>Reproduce Beam &amp; peers on our own harness</a:t>
            </a:r>
            <a:endParaRPr lang="en-US" sz="1200" dirty="0"/>
          </a:p>
        </p:txBody>
      </p:sp>
      <p:sp>
        <p:nvSpPr>
          <p:cNvPr id="9" name="gate 2"/>
          <p:cNvSpPr/>
          <p:nvPr/>
        </p:nvSpPr>
        <p:spPr>
          <a:xfrm>
            <a:off x="2697480" y="1984248"/>
            <a:ext cx="329184" cy="329184"/>
          </a:xfrm>
          <a:prstGeom prst="ellipse">
            <a:avLst/>
          </a:prstGeom>
          <a:solidFill>
            <a:schemeClr val="accent2"/>
          </a:solidFill>
          <a:ln w="25400">
            <a:solidFill>
              <a:schemeClr val="bg1"/>
            </a:solidFill>
            <a:prstDash val="solid"/>
          </a:ln>
        </p:spPr>
      </p:sp>
      <p:sp>
        <p:nvSpPr>
          <p:cNvPr id="10" name="Text 8"/>
          <p:cNvSpPr txBox="1"/>
          <p:nvPr/>
        </p:nvSpPr>
        <p:spPr>
          <a:xfrm>
            <a:off x="2130552" y="1417320"/>
            <a:ext cx="1463040" cy="274320"/>
          </a:xfrm>
          <a:prstGeom prst="rect">
            <a:avLst/>
          </a:prstGeom>
          <a:noFill/>
          <a:ln/>
        </p:spPr>
        <p:txBody>
          <a:bodyPr wrap="square" lIns="0" tIns="0" rIns="0" bIns="0" rtlCol="0" anchor="t"/>
          <a:lstStyle/>
          <a:p>
            <a:pPr algn="ctr" indent="0" marL="0">
              <a:buNone/>
            </a:pPr>
            <a:r>
              <a:rPr lang="en-US" sz="1200" dirty="0">
                <a:solidFill>
                  <a:schemeClr val="accent4"/>
                </a:solidFill>
              </a:rPr>
              <a:t>Month 6</a:t>
            </a:r>
            <a:endParaRPr lang="en-US" sz="1200" dirty="0"/>
          </a:p>
        </p:txBody>
      </p:sp>
      <p:sp>
        <p:nvSpPr>
          <p:cNvPr id="11" name="Text 9"/>
          <p:cNvSpPr txBox="1"/>
          <p:nvPr/>
        </p:nvSpPr>
        <p:spPr>
          <a:xfrm>
            <a:off x="2130552" y="1691640"/>
            <a:ext cx="1463040" cy="274320"/>
          </a:xfrm>
          <a:prstGeom prst="rect">
            <a:avLst/>
          </a:prstGeom>
          <a:noFill/>
          <a:ln/>
        </p:spPr>
        <p:txBody>
          <a:bodyPr wrap="square" lIns="0" tIns="0" rIns="0" bIns="0" rtlCol="0" anchor="t"/>
          <a:lstStyle/>
          <a:p>
            <a:pPr algn="ctr" indent="0" marL="0">
              <a:buNone/>
            </a:pPr>
            <a:r>
              <a:rPr lang="en-US" sz="1400" b="1" dirty="0">
                <a:solidFill>
                  <a:schemeClr val="tx2"/>
                </a:solidFill>
              </a:rPr>
              <a:t>G1 Adapt</a:t>
            </a:r>
            <a:endParaRPr lang="en-US" sz="1400" dirty="0"/>
          </a:p>
        </p:txBody>
      </p:sp>
      <p:sp>
        <p:nvSpPr>
          <p:cNvPr id="12" name="gate detail 2"/>
          <p:cNvSpPr/>
          <p:nvPr/>
        </p:nvSpPr>
        <p:spPr>
          <a:xfrm>
            <a:off x="2130552" y="2560320"/>
            <a:ext cx="1463040" cy="1188720"/>
          </a:xfrm>
          <a:prstGeom prst="roundRect">
            <a:avLst>
              <a:gd name="adj" fmla="val 6154"/>
            </a:avLst>
          </a:prstGeom>
          <a:solidFill>
            <a:schemeClr val="bg2"/>
          </a:solidFill>
          <a:ln w="12700">
            <a:solidFill>
              <a:schemeClr val="bg2"/>
            </a:solidFill>
            <a:prstDash val="solid"/>
          </a:ln>
        </p:spPr>
      </p:sp>
      <p:sp>
        <p:nvSpPr>
          <p:cNvPr id="13" name="Text 11"/>
          <p:cNvSpPr txBox="1"/>
          <p:nvPr/>
        </p:nvSpPr>
        <p:spPr>
          <a:xfrm>
            <a:off x="2240280" y="2670048"/>
            <a:ext cx="1243584" cy="1280160"/>
          </a:xfrm>
          <a:prstGeom prst="rect">
            <a:avLst/>
          </a:prstGeom>
          <a:noFill/>
          <a:ln/>
        </p:spPr>
        <p:txBody>
          <a:bodyPr wrap="square" lIns="0" tIns="0" rIns="0" bIns="0" rtlCol="0" anchor="t"/>
          <a:lstStyle/>
          <a:p>
            <a:pPr indent="0" marL="0">
              <a:buNone/>
            </a:pPr>
            <a:r>
              <a:rPr lang="en-US" sz="1200" dirty="0">
                <a:solidFill>
                  <a:schemeClr val="tx1"/>
                </a:solidFill>
              </a:rPr>
              <a:t>Adapted Beam +5 pts on domain evals; first paying pilot</a:t>
            </a:r>
            <a:endParaRPr lang="en-US" sz="1200" dirty="0"/>
          </a:p>
        </p:txBody>
      </p:sp>
      <p:sp>
        <p:nvSpPr>
          <p:cNvPr id="14" name="gate 3"/>
          <p:cNvSpPr/>
          <p:nvPr/>
        </p:nvSpPr>
        <p:spPr>
          <a:xfrm>
            <a:off x="4370832" y="1984248"/>
            <a:ext cx="329184" cy="329184"/>
          </a:xfrm>
          <a:prstGeom prst="ellipse">
            <a:avLst/>
          </a:prstGeom>
          <a:solidFill>
            <a:schemeClr val="accent1"/>
          </a:solidFill>
          <a:ln w="25400">
            <a:solidFill>
              <a:schemeClr val="bg1"/>
            </a:solidFill>
            <a:prstDash val="solid"/>
          </a:ln>
        </p:spPr>
      </p:sp>
      <p:sp>
        <p:nvSpPr>
          <p:cNvPr id="15" name="Text 13"/>
          <p:cNvSpPr txBox="1"/>
          <p:nvPr/>
        </p:nvSpPr>
        <p:spPr>
          <a:xfrm>
            <a:off x="3803904" y="1417320"/>
            <a:ext cx="1463040" cy="274320"/>
          </a:xfrm>
          <a:prstGeom prst="rect">
            <a:avLst/>
          </a:prstGeom>
          <a:noFill/>
          <a:ln/>
        </p:spPr>
        <p:txBody>
          <a:bodyPr wrap="square" lIns="0" tIns="0" rIns="0" bIns="0" rtlCol="0" anchor="t"/>
          <a:lstStyle/>
          <a:p>
            <a:pPr algn="ctr" indent="0" marL="0">
              <a:buNone/>
            </a:pPr>
            <a:r>
              <a:rPr lang="en-US" sz="1200" dirty="0">
                <a:solidFill>
                  <a:schemeClr val="accent4"/>
                </a:solidFill>
              </a:rPr>
              <a:t>Month 9</a:t>
            </a:r>
            <a:endParaRPr lang="en-US" sz="1200" dirty="0"/>
          </a:p>
        </p:txBody>
      </p:sp>
      <p:sp>
        <p:nvSpPr>
          <p:cNvPr id="16" name="Text 14"/>
          <p:cNvSpPr txBox="1"/>
          <p:nvPr/>
        </p:nvSpPr>
        <p:spPr>
          <a:xfrm>
            <a:off x="3803904" y="1691640"/>
            <a:ext cx="1463040" cy="274320"/>
          </a:xfrm>
          <a:prstGeom prst="rect">
            <a:avLst/>
          </a:prstGeom>
          <a:noFill/>
          <a:ln/>
        </p:spPr>
        <p:txBody>
          <a:bodyPr wrap="square" lIns="0" tIns="0" rIns="0" bIns="0" rtlCol="0" anchor="t"/>
          <a:lstStyle/>
          <a:p>
            <a:pPr algn="ctr" indent="0" marL="0">
              <a:buNone/>
            </a:pPr>
            <a:r>
              <a:rPr lang="en-US" sz="1400" b="1" dirty="0">
                <a:solidFill>
                  <a:schemeClr val="tx2"/>
                </a:solidFill>
              </a:rPr>
              <a:t>G2 Scale?</a:t>
            </a:r>
            <a:endParaRPr lang="en-US" sz="1400" dirty="0"/>
          </a:p>
        </p:txBody>
      </p:sp>
      <p:sp>
        <p:nvSpPr>
          <p:cNvPr id="17" name="gate detail 3"/>
          <p:cNvSpPr/>
          <p:nvPr/>
        </p:nvSpPr>
        <p:spPr>
          <a:xfrm>
            <a:off x="3803904" y="2560320"/>
            <a:ext cx="1463040" cy="1188720"/>
          </a:xfrm>
          <a:prstGeom prst="roundRect">
            <a:avLst>
              <a:gd name="adj" fmla="val 6154"/>
            </a:avLst>
          </a:prstGeom>
          <a:solidFill>
            <a:schemeClr val="bg2"/>
          </a:solidFill>
          <a:ln w="12700">
            <a:solidFill>
              <a:schemeClr val="bg2"/>
            </a:solidFill>
            <a:prstDash val="solid"/>
          </a:ln>
        </p:spPr>
      </p:sp>
      <p:sp>
        <p:nvSpPr>
          <p:cNvPr id="18" name="Text 16"/>
          <p:cNvSpPr txBox="1"/>
          <p:nvPr/>
        </p:nvSpPr>
        <p:spPr>
          <a:xfrm>
            <a:off x="3913632" y="2670048"/>
            <a:ext cx="1243584" cy="1280160"/>
          </a:xfrm>
          <a:prstGeom prst="rect">
            <a:avLst/>
          </a:prstGeom>
          <a:noFill/>
          <a:ln/>
        </p:spPr>
        <p:txBody>
          <a:bodyPr wrap="square" lIns="0" tIns="0" rIns="0" bIns="0" rtlCol="0" anchor="t"/>
          <a:lstStyle/>
          <a:p>
            <a:pPr indent="0" marL="0">
              <a:buNone/>
            </a:pPr>
            <a:r>
              <a:rPr lang="en-US" sz="1200" dirty="0">
                <a:solidFill>
                  <a:schemeClr val="tx1"/>
                </a:solidFill>
              </a:rPr>
              <a:t>Pilot model hits scaling targets; 20T tokens; ≥$150M funding</a:t>
            </a:r>
            <a:endParaRPr lang="en-US" sz="1200" dirty="0"/>
          </a:p>
        </p:txBody>
      </p:sp>
      <p:sp>
        <p:nvSpPr>
          <p:cNvPr id="19" name="gate 4"/>
          <p:cNvSpPr/>
          <p:nvPr/>
        </p:nvSpPr>
        <p:spPr>
          <a:xfrm>
            <a:off x="6044184" y="1984248"/>
            <a:ext cx="329184" cy="329184"/>
          </a:xfrm>
          <a:prstGeom prst="ellipse">
            <a:avLst/>
          </a:prstGeom>
          <a:solidFill>
            <a:schemeClr val="accent2"/>
          </a:solidFill>
          <a:ln w="25400">
            <a:solidFill>
              <a:schemeClr val="bg1"/>
            </a:solidFill>
            <a:prstDash val="solid"/>
          </a:ln>
        </p:spPr>
      </p:sp>
      <p:sp>
        <p:nvSpPr>
          <p:cNvPr id="20" name="Text 18"/>
          <p:cNvSpPr txBox="1"/>
          <p:nvPr/>
        </p:nvSpPr>
        <p:spPr>
          <a:xfrm>
            <a:off x="5477256" y="1417320"/>
            <a:ext cx="1463040" cy="274320"/>
          </a:xfrm>
          <a:prstGeom prst="rect">
            <a:avLst/>
          </a:prstGeom>
          <a:noFill/>
          <a:ln/>
        </p:spPr>
        <p:txBody>
          <a:bodyPr wrap="square" lIns="0" tIns="0" rIns="0" bIns="0" rtlCol="0" anchor="t"/>
          <a:lstStyle/>
          <a:p>
            <a:pPr algn="ctr" indent="0" marL="0">
              <a:buNone/>
            </a:pPr>
            <a:r>
              <a:rPr lang="en-US" sz="1200" dirty="0">
                <a:solidFill>
                  <a:schemeClr val="accent4"/>
                </a:solidFill>
              </a:rPr>
              <a:t>Month 11</a:t>
            </a:r>
            <a:endParaRPr lang="en-US" sz="1200" dirty="0"/>
          </a:p>
        </p:txBody>
      </p:sp>
      <p:sp>
        <p:nvSpPr>
          <p:cNvPr id="21" name="Text 19"/>
          <p:cNvSpPr txBox="1"/>
          <p:nvPr/>
        </p:nvSpPr>
        <p:spPr>
          <a:xfrm>
            <a:off x="5477256" y="1691640"/>
            <a:ext cx="1463040" cy="274320"/>
          </a:xfrm>
          <a:prstGeom prst="rect">
            <a:avLst/>
          </a:prstGeom>
          <a:noFill/>
          <a:ln/>
        </p:spPr>
        <p:txBody>
          <a:bodyPr wrap="square" lIns="0" tIns="0" rIns="0" bIns="0" rtlCol="0" anchor="t"/>
          <a:lstStyle/>
          <a:p>
            <a:pPr algn="ctr" indent="0" marL="0">
              <a:buNone/>
            </a:pPr>
            <a:r>
              <a:rPr lang="en-US" sz="1400" b="1" dirty="0">
                <a:solidFill>
                  <a:schemeClr val="tx2"/>
                </a:solidFill>
              </a:rPr>
              <a:t>G3 Pre-train</a:t>
            </a:r>
            <a:endParaRPr lang="en-US" sz="1400" dirty="0"/>
          </a:p>
        </p:txBody>
      </p:sp>
      <p:sp>
        <p:nvSpPr>
          <p:cNvPr id="22" name="gate detail 4"/>
          <p:cNvSpPr/>
          <p:nvPr/>
        </p:nvSpPr>
        <p:spPr>
          <a:xfrm>
            <a:off x="5477256" y="2560320"/>
            <a:ext cx="1463040" cy="1188720"/>
          </a:xfrm>
          <a:prstGeom prst="roundRect">
            <a:avLst>
              <a:gd name="adj" fmla="val 6154"/>
            </a:avLst>
          </a:prstGeom>
          <a:solidFill>
            <a:schemeClr val="bg2"/>
          </a:solidFill>
          <a:ln w="12700">
            <a:solidFill>
              <a:schemeClr val="bg2"/>
            </a:solidFill>
            <a:prstDash val="solid"/>
          </a:ln>
        </p:spPr>
      </p:sp>
      <p:sp>
        <p:nvSpPr>
          <p:cNvPr id="23" name="Text 21"/>
          <p:cNvSpPr txBox="1"/>
          <p:nvPr/>
        </p:nvSpPr>
        <p:spPr>
          <a:xfrm>
            <a:off x="5586984" y="2670048"/>
            <a:ext cx="1243584" cy="1280160"/>
          </a:xfrm>
          <a:prstGeom prst="rect">
            <a:avLst/>
          </a:prstGeom>
          <a:noFill/>
          <a:ln/>
        </p:spPr>
        <p:txBody>
          <a:bodyPr wrap="square" lIns="0" tIns="0" rIns="0" bIns="0" rtlCol="0" anchor="t"/>
          <a:lstStyle/>
          <a:p>
            <a:pPr indent="0" marL="0">
              <a:buNone/>
            </a:pPr>
            <a:r>
              <a:rPr lang="en-US" sz="1200" dirty="0">
                <a:solidFill>
                  <a:schemeClr val="tx1"/>
                </a:solidFill>
              </a:rPr>
              <a:t>Stable full training run under way</a:t>
            </a:r>
            <a:endParaRPr lang="en-US" sz="1200" dirty="0"/>
          </a:p>
        </p:txBody>
      </p:sp>
      <p:sp>
        <p:nvSpPr>
          <p:cNvPr id="24" name="gate 5"/>
          <p:cNvSpPr/>
          <p:nvPr/>
        </p:nvSpPr>
        <p:spPr>
          <a:xfrm>
            <a:off x="7717536" y="1984248"/>
            <a:ext cx="329184" cy="329184"/>
          </a:xfrm>
          <a:prstGeom prst="ellipse">
            <a:avLst/>
          </a:prstGeom>
          <a:solidFill>
            <a:schemeClr val="accent2"/>
          </a:solidFill>
          <a:ln w="25400">
            <a:solidFill>
              <a:schemeClr val="bg1"/>
            </a:solidFill>
            <a:prstDash val="solid"/>
          </a:ln>
        </p:spPr>
      </p:sp>
      <p:sp>
        <p:nvSpPr>
          <p:cNvPr id="25" name="Text 23"/>
          <p:cNvSpPr txBox="1"/>
          <p:nvPr/>
        </p:nvSpPr>
        <p:spPr>
          <a:xfrm>
            <a:off x="7150608" y="1417320"/>
            <a:ext cx="1463040" cy="274320"/>
          </a:xfrm>
          <a:prstGeom prst="rect">
            <a:avLst/>
          </a:prstGeom>
          <a:noFill/>
          <a:ln/>
        </p:spPr>
        <p:txBody>
          <a:bodyPr wrap="square" lIns="0" tIns="0" rIns="0" bIns="0" rtlCol="0" anchor="t"/>
          <a:lstStyle/>
          <a:p>
            <a:pPr algn="ctr" indent="0" marL="0">
              <a:buNone/>
            </a:pPr>
            <a:r>
              <a:rPr lang="en-US" sz="1200" dirty="0">
                <a:solidFill>
                  <a:schemeClr val="accent4"/>
                </a:solidFill>
              </a:rPr>
              <a:t>Month 17</a:t>
            </a:r>
            <a:endParaRPr lang="en-US" sz="1200" dirty="0"/>
          </a:p>
        </p:txBody>
      </p:sp>
      <p:sp>
        <p:nvSpPr>
          <p:cNvPr id="26" name="Text 24"/>
          <p:cNvSpPr txBox="1"/>
          <p:nvPr/>
        </p:nvSpPr>
        <p:spPr>
          <a:xfrm>
            <a:off x="7150608" y="1691640"/>
            <a:ext cx="1463040" cy="274320"/>
          </a:xfrm>
          <a:prstGeom prst="rect">
            <a:avLst/>
          </a:prstGeom>
          <a:noFill/>
          <a:ln/>
        </p:spPr>
        <p:txBody>
          <a:bodyPr wrap="square" lIns="0" tIns="0" rIns="0" bIns="0" rtlCol="0" anchor="t"/>
          <a:lstStyle/>
          <a:p>
            <a:pPr algn="ctr" indent="0" marL="0">
              <a:buNone/>
            </a:pPr>
            <a:r>
              <a:rPr lang="en-US" sz="1400" b="1" dirty="0">
                <a:solidFill>
                  <a:schemeClr val="tx2"/>
                </a:solidFill>
              </a:rPr>
              <a:t>G4 Release</a:t>
            </a:r>
            <a:endParaRPr lang="en-US" sz="1400" dirty="0"/>
          </a:p>
        </p:txBody>
      </p:sp>
      <p:sp>
        <p:nvSpPr>
          <p:cNvPr id="27" name="gate detail 5"/>
          <p:cNvSpPr/>
          <p:nvPr/>
        </p:nvSpPr>
        <p:spPr>
          <a:xfrm>
            <a:off x="7150608" y="2560320"/>
            <a:ext cx="1463040" cy="1188720"/>
          </a:xfrm>
          <a:prstGeom prst="roundRect">
            <a:avLst>
              <a:gd name="adj" fmla="val 6154"/>
            </a:avLst>
          </a:prstGeom>
          <a:solidFill>
            <a:schemeClr val="bg2"/>
          </a:solidFill>
          <a:ln w="12700">
            <a:solidFill>
              <a:schemeClr val="bg2"/>
            </a:solidFill>
            <a:prstDash val="solid"/>
          </a:ln>
        </p:spPr>
      </p:sp>
      <p:sp>
        <p:nvSpPr>
          <p:cNvPr id="28" name="Text 26"/>
          <p:cNvSpPr txBox="1"/>
          <p:nvPr/>
        </p:nvSpPr>
        <p:spPr>
          <a:xfrm>
            <a:off x="7260336" y="2670048"/>
            <a:ext cx="1243584" cy="1280160"/>
          </a:xfrm>
          <a:prstGeom prst="rect">
            <a:avLst/>
          </a:prstGeom>
          <a:noFill/>
          <a:ln/>
        </p:spPr>
        <p:txBody>
          <a:bodyPr wrap="square" lIns="0" tIns="0" rIns="0" bIns="0" rtlCol="0" anchor="t"/>
          <a:lstStyle/>
          <a:p>
            <a:pPr indent="0" marL="0">
              <a:buNone/>
            </a:pPr>
            <a:r>
              <a:rPr lang="en-US" sz="1200" dirty="0">
                <a:solidFill>
                  <a:schemeClr val="tx1"/>
                </a:solidFill>
              </a:rPr>
              <a:t>Level 1 KPIs met independently; safety report; partners</a:t>
            </a:r>
            <a:endParaRPr lang="en-US" sz="1200" dirty="0"/>
          </a:p>
        </p:txBody>
      </p:sp>
      <p:sp>
        <p:nvSpPr>
          <p:cNvPr id="29" name="Text 27"/>
          <p:cNvSpPr txBox="1"/>
          <p:nvPr/>
        </p:nvSpPr>
        <p:spPr>
          <a:xfrm>
            <a:off x="457200" y="3977640"/>
            <a:ext cx="8229600" cy="457200"/>
          </a:xfrm>
          <a:prstGeom prst="rect">
            <a:avLst/>
          </a:prstGeom>
          <a:noFill/>
          <a:ln/>
        </p:spPr>
        <p:txBody>
          <a:bodyPr wrap="square" lIns="0" tIns="0" rIns="0" bIns="0" rtlCol="0" anchor="t"/>
          <a:lstStyle/>
          <a:p>
            <a:pPr indent="0" marL="0">
              <a:buNone/>
            </a:pPr>
            <a:r>
              <a:rPr lang="en-US" sz="1300" b="1" dirty="0">
                <a:solidFill>
                  <a:schemeClr val="tx2"/>
                </a:solidFill>
              </a:rPr>
              <a:t>G2 is the key investment decision: only proceed to a from-scratch model if Stage 1 shows demand and funding is secured.</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indent="0" marL="0">
              <a:buNone/>
            </a:pPr>
            <a:r>
              <a:rPr lang="en-US" sz="2800" b="1" dirty="0">
                <a:solidFill>
                  <a:schemeClr val="tx2"/>
                </a:solidFill>
              </a:rPr>
              <a:t>Key risks and how we manage them</a:t>
            </a:r>
            <a:endParaRPr lang="en-US" sz="2800" dirty="0"/>
          </a:p>
        </p:txBody>
      </p:sp>
      <p:sp>
        <p:nvSpPr>
          <p:cNvPr id="3" name="risk card 1"/>
          <p:cNvSpPr/>
          <p:nvPr/>
        </p:nvSpPr>
        <p:spPr>
          <a:xfrm>
            <a:off x="457200" y="1024128"/>
            <a:ext cx="4023360" cy="1069848"/>
          </a:xfrm>
          <a:prstGeom prst="roundRect">
            <a:avLst>
              <a:gd name="adj" fmla="val 6838"/>
            </a:avLst>
          </a:prstGeom>
          <a:solidFill>
            <a:schemeClr val="bg2"/>
          </a:solidFill>
          <a:ln w="12700">
            <a:solidFill>
              <a:schemeClr val="bg2"/>
            </a:solidFill>
            <a:prstDash val="solid"/>
          </a:ln>
        </p:spPr>
      </p:sp>
      <p:sp>
        <p:nvSpPr>
          <p:cNvPr id="4" name="Frontier keeps moving badge"/>
          <p:cNvSpPr/>
          <p:nvPr/>
        </p:nvSpPr>
        <p:spPr>
          <a:xfrm>
            <a:off x="621792" y="1298448"/>
            <a:ext cx="502920" cy="502920"/>
          </a:xfrm>
          <a:prstGeom prst="ellipse">
            <a:avLst/>
          </a:prstGeom>
          <a:solidFill>
            <a:schemeClr val="accent1"/>
          </a:solidFill>
          <a:ln w="12700">
            <a:solidFill>
              <a:schemeClr val="accent1"/>
            </a:solidFill>
            <a:prstDash val="solid"/>
          </a:ln>
        </p:spPr>
      </p:sp>
      <p:pic>
        <p:nvPicPr>
          <p:cNvPr id="5" name="Frontier keeps moving icon" descr="preencoded.png">    </p:cNvPr>
          <p:cNvPicPr>
            <a:picLocks noChangeAspect="1"/>
          </p:cNvPicPr>
          <p:nvPr/>
        </p:nvPicPr>
        <p:blipFill>
          <a:blip r:embed="rId1"/>
          <a:stretch>
            <a:fillRect/>
          </a:stretch>
        </p:blipFill>
        <p:spPr>
          <a:xfrm>
            <a:off x="742493" y="1419149"/>
            <a:ext cx="261518" cy="261518"/>
          </a:xfrm>
          <a:prstGeom prst="rect">
            <a:avLst/>
          </a:prstGeom>
        </p:spPr>
      </p:pic>
      <p:sp>
        <p:nvSpPr>
          <p:cNvPr id="6" name="Text 3"/>
          <p:cNvSpPr txBox="1"/>
          <p:nvPr/>
        </p:nvSpPr>
        <p:spPr>
          <a:xfrm>
            <a:off x="1280160" y="1179576"/>
            <a:ext cx="3108960" cy="347472"/>
          </a:xfrm>
          <a:prstGeom prst="rect">
            <a:avLst/>
          </a:prstGeom>
          <a:noFill/>
          <a:ln/>
        </p:spPr>
        <p:txBody>
          <a:bodyPr wrap="square" lIns="0" tIns="0" rIns="0" bIns="0" rtlCol="0" anchor="t"/>
          <a:lstStyle/>
          <a:p>
            <a:pPr indent="0" marL="0">
              <a:buNone/>
            </a:pPr>
            <a:r>
              <a:rPr lang="en-US" sz="1400" b="1" dirty="0">
                <a:solidFill>
                  <a:schemeClr val="tx2"/>
                </a:solidFill>
              </a:rPr>
              <a:t>Frontier keeps moving</a:t>
            </a:r>
            <a:endParaRPr lang="en-US" sz="1400" dirty="0"/>
          </a:p>
        </p:txBody>
      </p:sp>
      <p:sp>
        <p:nvSpPr>
          <p:cNvPr id="7" name="Text 4"/>
          <p:cNvSpPr txBox="1"/>
          <p:nvPr/>
        </p:nvSpPr>
        <p:spPr>
          <a:xfrm>
            <a:off x="1280160" y="1545336"/>
            <a:ext cx="3108960" cy="411480"/>
          </a:xfrm>
          <a:prstGeom prst="rect">
            <a:avLst/>
          </a:prstGeom>
          <a:noFill/>
          <a:ln/>
        </p:spPr>
        <p:txBody>
          <a:bodyPr wrap="square" lIns="0" tIns="0" rIns="0" bIns="0" rtlCol="0" anchor="t"/>
          <a:lstStyle/>
          <a:p>
            <a:pPr indent="0" marL="0">
              <a:buNone/>
            </a:pPr>
            <a:r>
              <a:rPr lang="en-US" sz="1300" dirty="0">
                <a:solidFill>
                  <a:schemeClr val="tx1"/>
                </a:solidFill>
              </a:rPr>
              <a:t>Don’t race the leaderboard; own a niche</a:t>
            </a:r>
            <a:endParaRPr lang="en-US" sz="1300" dirty="0"/>
          </a:p>
        </p:txBody>
      </p:sp>
      <p:sp>
        <p:nvSpPr>
          <p:cNvPr id="8" name="risk card 2"/>
          <p:cNvSpPr/>
          <p:nvPr/>
        </p:nvSpPr>
        <p:spPr>
          <a:xfrm>
            <a:off x="4663440" y="1024128"/>
            <a:ext cx="4023360" cy="1069848"/>
          </a:xfrm>
          <a:prstGeom prst="roundRect">
            <a:avLst>
              <a:gd name="adj" fmla="val 6838"/>
            </a:avLst>
          </a:prstGeom>
          <a:solidFill>
            <a:schemeClr val="bg2"/>
          </a:solidFill>
          <a:ln w="12700">
            <a:solidFill>
              <a:schemeClr val="bg2"/>
            </a:solidFill>
            <a:prstDash val="solid"/>
          </a:ln>
        </p:spPr>
      </p:sp>
      <p:sp>
        <p:nvSpPr>
          <p:cNvPr id="9" name="Chinese open models at near-zero price badge"/>
          <p:cNvSpPr/>
          <p:nvPr/>
        </p:nvSpPr>
        <p:spPr>
          <a:xfrm>
            <a:off x="4828032" y="1298448"/>
            <a:ext cx="502920" cy="502920"/>
          </a:xfrm>
          <a:prstGeom prst="ellipse">
            <a:avLst/>
          </a:prstGeom>
          <a:solidFill>
            <a:schemeClr val="accent1"/>
          </a:solidFill>
          <a:ln w="12700">
            <a:solidFill>
              <a:schemeClr val="accent1"/>
            </a:solidFill>
            <a:prstDash val="solid"/>
          </a:ln>
        </p:spPr>
      </p:sp>
      <p:pic>
        <p:nvPicPr>
          <p:cNvPr id="10" name="Chinese open models at near-zero price icon" descr="preencoded.png">    </p:cNvPr>
          <p:cNvPicPr>
            <a:picLocks noChangeAspect="1"/>
          </p:cNvPicPr>
          <p:nvPr/>
        </p:nvPicPr>
        <p:blipFill>
          <a:blip r:embed="rId2"/>
          <a:stretch>
            <a:fillRect/>
          </a:stretch>
        </p:blipFill>
        <p:spPr>
          <a:xfrm>
            <a:off x="4948733" y="1419149"/>
            <a:ext cx="261518" cy="261518"/>
          </a:xfrm>
          <a:prstGeom prst="rect">
            <a:avLst/>
          </a:prstGeom>
        </p:spPr>
      </p:pic>
      <p:sp>
        <p:nvSpPr>
          <p:cNvPr id="11" name="Text 7"/>
          <p:cNvSpPr txBox="1"/>
          <p:nvPr/>
        </p:nvSpPr>
        <p:spPr>
          <a:xfrm>
            <a:off x="5486400" y="1179576"/>
            <a:ext cx="3108960" cy="347472"/>
          </a:xfrm>
          <a:prstGeom prst="rect">
            <a:avLst/>
          </a:prstGeom>
          <a:noFill/>
          <a:ln/>
        </p:spPr>
        <p:txBody>
          <a:bodyPr wrap="square" lIns="0" tIns="0" rIns="0" bIns="0" rtlCol="0" anchor="t"/>
          <a:lstStyle/>
          <a:p>
            <a:pPr indent="0" marL="0">
              <a:buNone/>
            </a:pPr>
            <a:r>
              <a:rPr lang="en-US" sz="1400" b="1" dirty="0">
                <a:solidFill>
                  <a:schemeClr val="tx2"/>
                </a:solidFill>
              </a:rPr>
              <a:t>Chinese open models at near-zero price</a:t>
            </a:r>
            <a:endParaRPr lang="en-US" sz="1400" dirty="0"/>
          </a:p>
        </p:txBody>
      </p:sp>
      <p:sp>
        <p:nvSpPr>
          <p:cNvPr id="12" name="Text 8"/>
          <p:cNvSpPr txBox="1"/>
          <p:nvPr/>
        </p:nvSpPr>
        <p:spPr>
          <a:xfrm>
            <a:off x="5486400" y="1545336"/>
            <a:ext cx="3108960" cy="411480"/>
          </a:xfrm>
          <a:prstGeom prst="rect">
            <a:avLst/>
          </a:prstGeom>
          <a:noFill/>
          <a:ln/>
        </p:spPr>
        <p:txBody>
          <a:bodyPr wrap="square" lIns="0" tIns="0" rIns="0" bIns="0" rtlCol="0" anchor="t"/>
          <a:lstStyle/>
          <a:p>
            <a:pPr indent="0" marL="0">
              <a:buNone/>
            </a:pPr>
            <a:r>
              <a:rPr lang="en-US" sz="1300" dirty="0">
                <a:solidFill>
                  <a:schemeClr val="tx1"/>
                </a:solidFill>
              </a:rPr>
              <a:t>Sell provenance, sovereignty, support</a:t>
            </a:r>
            <a:endParaRPr lang="en-US" sz="1300" dirty="0"/>
          </a:p>
        </p:txBody>
      </p:sp>
      <p:sp>
        <p:nvSpPr>
          <p:cNvPr id="13" name="risk card 3"/>
          <p:cNvSpPr/>
          <p:nvPr/>
        </p:nvSpPr>
        <p:spPr>
          <a:xfrm>
            <a:off x="457200" y="2231136"/>
            <a:ext cx="4023360" cy="1069848"/>
          </a:xfrm>
          <a:prstGeom prst="roundRect">
            <a:avLst>
              <a:gd name="adj" fmla="val 6838"/>
            </a:avLst>
          </a:prstGeom>
          <a:solidFill>
            <a:schemeClr val="bg2"/>
          </a:solidFill>
          <a:ln w="12700">
            <a:solidFill>
              <a:schemeClr val="bg2"/>
            </a:solidFill>
            <a:prstDash val="solid"/>
          </a:ln>
        </p:spPr>
      </p:sp>
      <p:sp>
        <p:nvSpPr>
          <p:cNvPr id="14" name="Claims that don’t replicate badge"/>
          <p:cNvSpPr/>
          <p:nvPr/>
        </p:nvSpPr>
        <p:spPr>
          <a:xfrm>
            <a:off x="621792" y="2505456"/>
            <a:ext cx="502920" cy="502920"/>
          </a:xfrm>
          <a:prstGeom prst="ellipse">
            <a:avLst/>
          </a:prstGeom>
          <a:solidFill>
            <a:schemeClr val="accent1"/>
          </a:solidFill>
          <a:ln w="12700">
            <a:solidFill>
              <a:schemeClr val="accent1"/>
            </a:solidFill>
            <a:prstDash val="solid"/>
          </a:ln>
        </p:spPr>
      </p:sp>
      <p:pic>
        <p:nvPicPr>
          <p:cNvPr id="15" name="Claims that don’t replicate icon" descr="preencoded.png">    </p:cNvPr>
          <p:cNvPicPr>
            <a:picLocks noChangeAspect="1"/>
          </p:cNvPicPr>
          <p:nvPr/>
        </p:nvPicPr>
        <p:blipFill>
          <a:blip r:embed="rId3"/>
          <a:stretch>
            <a:fillRect/>
          </a:stretch>
        </p:blipFill>
        <p:spPr>
          <a:xfrm>
            <a:off x="742493" y="2626157"/>
            <a:ext cx="261518" cy="261518"/>
          </a:xfrm>
          <a:prstGeom prst="rect">
            <a:avLst/>
          </a:prstGeom>
        </p:spPr>
      </p:pic>
      <p:sp>
        <p:nvSpPr>
          <p:cNvPr id="16" name="Text 11"/>
          <p:cNvSpPr txBox="1"/>
          <p:nvPr/>
        </p:nvSpPr>
        <p:spPr>
          <a:xfrm>
            <a:off x="1280160" y="2386584"/>
            <a:ext cx="3108960" cy="347472"/>
          </a:xfrm>
          <a:prstGeom prst="rect">
            <a:avLst/>
          </a:prstGeom>
          <a:noFill/>
          <a:ln/>
        </p:spPr>
        <p:txBody>
          <a:bodyPr wrap="square" lIns="0" tIns="0" rIns="0" bIns="0" rtlCol="0" anchor="t"/>
          <a:lstStyle/>
          <a:p>
            <a:pPr indent="0" marL="0">
              <a:buNone/>
            </a:pPr>
            <a:r>
              <a:rPr lang="en-US" sz="1400" b="1" dirty="0">
                <a:solidFill>
                  <a:schemeClr val="tx2"/>
                </a:solidFill>
              </a:rPr>
              <a:t>Claims that don’t replicate</a:t>
            </a:r>
            <a:endParaRPr lang="en-US" sz="1400" dirty="0"/>
          </a:p>
        </p:txBody>
      </p:sp>
      <p:sp>
        <p:nvSpPr>
          <p:cNvPr id="17" name="Text 12"/>
          <p:cNvSpPr txBox="1"/>
          <p:nvPr/>
        </p:nvSpPr>
        <p:spPr>
          <a:xfrm>
            <a:off x="1280160" y="2752344"/>
            <a:ext cx="3108960" cy="411480"/>
          </a:xfrm>
          <a:prstGeom prst="rect">
            <a:avLst/>
          </a:prstGeom>
          <a:noFill/>
          <a:ln/>
        </p:spPr>
        <p:txBody>
          <a:bodyPr wrap="square" lIns="0" tIns="0" rIns="0" bIns="0" rtlCol="0" anchor="t"/>
          <a:lstStyle/>
          <a:p>
            <a:pPr indent="0" marL="0">
              <a:buNone/>
            </a:pPr>
            <a:r>
              <a:rPr lang="en-US" sz="1300" dirty="0">
                <a:solidFill>
                  <a:schemeClr val="tx1"/>
                </a:solidFill>
              </a:rPr>
              <a:t>Independent harness from day one</a:t>
            </a:r>
            <a:endParaRPr lang="en-US" sz="1300" dirty="0"/>
          </a:p>
        </p:txBody>
      </p:sp>
      <p:sp>
        <p:nvSpPr>
          <p:cNvPr id="18" name="risk card 4"/>
          <p:cNvSpPr/>
          <p:nvPr/>
        </p:nvSpPr>
        <p:spPr>
          <a:xfrm>
            <a:off x="4663440" y="2231136"/>
            <a:ext cx="4023360" cy="1069848"/>
          </a:xfrm>
          <a:prstGeom prst="roundRect">
            <a:avLst>
              <a:gd name="adj" fmla="val 6838"/>
            </a:avLst>
          </a:prstGeom>
          <a:solidFill>
            <a:schemeClr val="bg2"/>
          </a:solidFill>
          <a:ln w="12700">
            <a:solidFill>
              <a:schemeClr val="bg2"/>
            </a:solidFill>
            <a:prstDash val="solid"/>
          </a:ln>
        </p:spPr>
      </p:sp>
      <p:sp>
        <p:nvSpPr>
          <p:cNvPr id="19" name="GPU cost and availability badge"/>
          <p:cNvSpPr/>
          <p:nvPr/>
        </p:nvSpPr>
        <p:spPr>
          <a:xfrm>
            <a:off x="4828032" y="2505456"/>
            <a:ext cx="502920" cy="502920"/>
          </a:xfrm>
          <a:prstGeom prst="ellipse">
            <a:avLst/>
          </a:prstGeom>
          <a:solidFill>
            <a:schemeClr val="accent1"/>
          </a:solidFill>
          <a:ln w="12700">
            <a:solidFill>
              <a:schemeClr val="accent1"/>
            </a:solidFill>
            <a:prstDash val="solid"/>
          </a:ln>
        </p:spPr>
      </p:sp>
      <p:pic>
        <p:nvPicPr>
          <p:cNvPr id="20" name="GPU cost and availability icon" descr="preencoded.png">    </p:cNvPr>
          <p:cNvPicPr>
            <a:picLocks noChangeAspect="1"/>
          </p:cNvPicPr>
          <p:nvPr/>
        </p:nvPicPr>
        <p:blipFill>
          <a:blip r:embed="rId4"/>
          <a:stretch>
            <a:fillRect/>
          </a:stretch>
        </p:blipFill>
        <p:spPr>
          <a:xfrm>
            <a:off x="4948733" y="2626157"/>
            <a:ext cx="261518" cy="261518"/>
          </a:xfrm>
          <a:prstGeom prst="rect">
            <a:avLst/>
          </a:prstGeom>
        </p:spPr>
      </p:pic>
      <p:sp>
        <p:nvSpPr>
          <p:cNvPr id="21" name="Text 15"/>
          <p:cNvSpPr txBox="1"/>
          <p:nvPr/>
        </p:nvSpPr>
        <p:spPr>
          <a:xfrm>
            <a:off x="5486400" y="2386584"/>
            <a:ext cx="3108960" cy="347472"/>
          </a:xfrm>
          <a:prstGeom prst="rect">
            <a:avLst/>
          </a:prstGeom>
          <a:noFill/>
          <a:ln/>
        </p:spPr>
        <p:txBody>
          <a:bodyPr wrap="square" lIns="0" tIns="0" rIns="0" bIns="0" rtlCol="0" anchor="t"/>
          <a:lstStyle/>
          <a:p>
            <a:pPr indent="0" marL="0">
              <a:buNone/>
            </a:pPr>
            <a:r>
              <a:rPr lang="en-US" sz="1400" b="1" dirty="0">
                <a:solidFill>
                  <a:schemeClr val="tx2"/>
                </a:solidFill>
              </a:rPr>
              <a:t>GPU cost and availability</a:t>
            </a:r>
            <a:endParaRPr lang="en-US" sz="1400" dirty="0"/>
          </a:p>
        </p:txBody>
      </p:sp>
      <p:sp>
        <p:nvSpPr>
          <p:cNvPr id="22" name="Text 16"/>
          <p:cNvSpPr txBox="1"/>
          <p:nvPr/>
        </p:nvSpPr>
        <p:spPr>
          <a:xfrm>
            <a:off x="5486400" y="2752344"/>
            <a:ext cx="3108960" cy="411480"/>
          </a:xfrm>
          <a:prstGeom prst="rect">
            <a:avLst/>
          </a:prstGeom>
          <a:noFill/>
          <a:ln/>
        </p:spPr>
        <p:txBody>
          <a:bodyPr wrap="square" lIns="0" tIns="0" rIns="0" bIns="0" rtlCol="0" anchor="t"/>
          <a:lstStyle/>
          <a:p>
            <a:pPr indent="0" marL="0">
              <a:buNone/>
            </a:pPr>
            <a:r>
              <a:rPr lang="en-US" sz="1300" dirty="0">
                <a:solidFill>
                  <a:schemeClr val="tx1"/>
                </a:solidFill>
              </a:rPr>
              <a:t>Multi-provider reservations; NVFP4</a:t>
            </a:r>
            <a:endParaRPr lang="en-US" sz="1300" dirty="0"/>
          </a:p>
        </p:txBody>
      </p:sp>
      <p:sp>
        <p:nvSpPr>
          <p:cNvPr id="23" name="risk card 5"/>
          <p:cNvSpPr/>
          <p:nvPr/>
        </p:nvSpPr>
        <p:spPr>
          <a:xfrm>
            <a:off x="457200" y="3438144"/>
            <a:ext cx="4023360" cy="1069848"/>
          </a:xfrm>
          <a:prstGeom prst="roundRect">
            <a:avLst>
              <a:gd name="adj" fmla="val 6838"/>
            </a:avLst>
          </a:prstGeom>
          <a:solidFill>
            <a:schemeClr val="bg2"/>
          </a:solidFill>
          <a:ln w="12700">
            <a:solidFill>
              <a:schemeClr val="bg2"/>
            </a:solidFill>
            <a:prstDash val="solid"/>
          </a:ln>
        </p:spPr>
      </p:sp>
      <p:sp>
        <p:nvSpPr>
          <p:cNvPr id="24" name="RL infrastructure underestimated badge"/>
          <p:cNvSpPr/>
          <p:nvPr/>
        </p:nvSpPr>
        <p:spPr>
          <a:xfrm>
            <a:off x="621792" y="3712464"/>
            <a:ext cx="502920" cy="502920"/>
          </a:xfrm>
          <a:prstGeom prst="ellipse">
            <a:avLst/>
          </a:prstGeom>
          <a:solidFill>
            <a:schemeClr val="accent1"/>
          </a:solidFill>
          <a:ln w="12700">
            <a:solidFill>
              <a:schemeClr val="accent1"/>
            </a:solidFill>
            <a:prstDash val="solid"/>
          </a:ln>
        </p:spPr>
      </p:sp>
      <p:pic>
        <p:nvPicPr>
          <p:cNvPr id="25" name="RL infrastructure underestimated icon" descr="preencoded.png">    </p:cNvPr>
          <p:cNvPicPr>
            <a:picLocks noChangeAspect="1"/>
          </p:cNvPicPr>
          <p:nvPr/>
        </p:nvPicPr>
        <p:blipFill>
          <a:blip r:embed="rId5"/>
          <a:stretch>
            <a:fillRect/>
          </a:stretch>
        </p:blipFill>
        <p:spPr>
          <a:xfrm>
            <a:off x="742493" y="3833165"/>
            <a:ext cx="261518" cy="261518"/>
          </a:xfrm>
          <a:prstGeom prst="rect">
            <a:avLst/>
          </a:prstGeom>
        </p:spPr>
      </p:pic>
      <p:sp>
        <p:nvSpPr>
          <p:cNvPr id="26" name="Text 19"/>
          <p:cNvSpPr txBox="1"/>
          <p:nvPr/>
        </p:nvSpPr>
        <p:spPr>
          <a:xfrm>
            <a:off x="1280160" y="3593592"/>
            <a:ext cx="3108960" cy="347472"/>
          </a:xfrm>
          <a:prstGeom prst="rect">
            <a:avLst/>
          </a:prstGeom>
          <a:noFill/>
          <a:ln/>
        </p:spPr>
        <p:txBody>
          <a:bodyPr wrap="square" lIns="0" tIns="0" rIns="0" bIns="0" rtlCol="0" anchor="t"/>
          <a:lstStyle/>
          <a:p>
            <a:pPr indent="0" marL="0">
              <a:buNone/>
            </a:pPr>
            <a:r>
              <a:rPr lang="en-US" sz="1400" b="1" dirty="0">
                <a:solidFill>
                  <a:schemeClr val="tx2"/>
                </a:solidFill>
              </a:rPr>
              <a:t>RL infrastructure underestimated</a:t>
            </a:r>
            <a:endParaRPr lang="en-US" sz="1400" dirty="0"/>
          </a:p>
        </p:txBody>
      </p:sp>
      <p:sp>
        <p:nvSpPr>
          <p:cNvPr id="27" name="Text 20"/>
          <p:cNvSpPr txBox="1"/>
          <p:nvPr/>
        </p:nvSpPr>
        <p:spPr>
          <a:xfrm>
            <a:off x="1280160" y="3959352"/>
            <a:ext cx="3108960" cy="411480"/>
          </a:xfrm>
          <a:prstGeom prst="rect">
            <a:avLst/>
          </a:prstGeom>
          <a:noFill/>
          <a:ln/>
        </p:spPr>
        <p:txBody>
          <a:bodyPr wrap="square" lIns="0" tIns="0" rIns="0" bIns="0" rtlCol="0" anchor="t"/>
          <a:lstStyle/>
          <a:p>
            <a:pPr indent="0" marL="0">
              <a:buNone/>
            </a:pPr>
            <a:r>
              <a:rPr lang="en-US" sz="1300" dirty="0">
                <a:solidFill>
                  <a:schemeClr val="tx1"/>
                </a:solidFill>
              </a:rPr>
              <a:t>Build environments from month 1</a:t>
            </a:r>
            <a:endParaRPr lang="en-US" sz="1300" dirty="0"/>
          </a:p>
        </p:txBody>
      </p:sp>
      <p:sp>
        <p:nvSpPr>
          <p:cNvPr id="28" name="risk card 6"/>
          <p:cNvSpPr/>
          <p:nvPr/>
        </p:nvSpPr>
        <p:spPr>
          <a:xfrm>
            <a:off x="4663440" y="3438144"/>
            <a:ext cx="4023360" cy="1069848"/>
          </a:xfrm>
          <a:prstGeom prst="roundRect">
            <a:avLst>
              <a:gd name="adj" fmla="val 6838"/>
            </a:avLst>
          </a:prstGeom>
          <a:solidFill>
            <a:schemeClr val="bg2"/>
          </a:solidFill>
          <a:ln w="12700">
            <a:solidFill>
              <a:schemeClr val="bg2"/>
            </a:solidFill>
            <a:prstDash val="solid"/>
          </a:ln>
        </p:spPr>
      </p:sp>
      <p:sp>
        <p:nvSpPr>
          <p:cNvPr id="29" name="Talent and legal exposure badge"/>
          <p:cNvSpPr/>
          <p:nvPr/>
        </p:nvSpPr>
        <p:spPr>
          <a:xfrm>
            <a:off x="4828032" y="3712464"/>
            <a:ext cx="502920" cy="502920"/>
          </a:xfrm>
          <a:prstGeom prst="ellipse">
            <a:avLst/>
          </a:prstGeom>
          <a:solidFill>
            <a:schemeClr val="accent1"/>
          </a:solidFill>
          <a:ln w="12700">
            <a:solidFill>
              <a:schemeClr val="accent1"/>
            </a:solidFill>
            <a:prstDash val="solid"/>
          </a:ln>
        </p:spPr>
      </p:sp>
      <p:pic>
        <p:nvPicPr>
          <p:cNvPr id="30" name="Talent and legal exposure icon" descr="preencoded.png">    </p:cNvPr>
          <p:cNvPicPr>
            <a:picLocks noChangeAspect="1"/>
          </p:cNvPicPr>
          <p:nvPr/>
        </p:nvPicPr>
        <p:blipFill>
          <a:blip r:embed="rId6"/>
          <a:stretch>
            <a:fillRect/>
          </a:stretch>
        </p:blipFill>
        <p:spPr>
          <a:xfrm>
            <a:off x="4948733" y="3833165"/>
            <a:ext cx="261518" cy="261518"/>
          </a:xfrm>
          <a:prstGeom prst="rect">
            <a:avLst/>
          </a:prstGeom>
        </p:spPr>
      </p:pic>
      <p:sp>
        <p:nvSpPr>
          <p:cNvPr id="31" name="Text 23"/>
          <p:cNvSpPr txBox="1"/>
          <p:nvPr/>
        </p:nvSpPr>
        <p:spPr>
          <a:xfrm>
            <a:off x="5486400" y="3593592"/>
            <a:ext cx="3108960" cy="347472"/>
          </a:xfrm>
          <a:prstGeom prst="rect">
            <a:avLst/>
          </a:prstGeom>
          <a:noFill/>
          <a:ln/>
        </p:spPr>
        <p:txBody>
          <a:bodyPr wrap="square" lIns="0" tIns="0" rIns="0" bIns="0" rtlCol="0" anchor="t"/>
          <a:lstStyle/>
          <a:p>
            <a:pPr indent="0" marL="0">
              <a:buNone/>
            </a:pPr>
            <a:r>
              <a:rPr lang="en-US" sz="1400" b="1" dirty="0">
                <a:solidFill>
                  <a:schemeClr val="tx2"/>
                </a:solidFill>
              </a:rPr>
              <a:t>Talent and legal exposure</a:t>
            </a:r>
            <a:endParaRPr lang="en-US" sz="1400" dirty="0"/>
          </a:p>
        </p:txBody>
      </p:sp>
      <p:sp>
        <p:nvSpPr>
          <p:cNvPr id="32" name="Text 24"/>
          <p:cNvSpPr txBox="1"/>
          <p:nvPr/>
        </p:nvSpPr>
        <p:spPr>
          <a:xfrm>
            <a:off x="5486400" y="3959352"/>
            <a:ext cx="3108960" cy="411480"/>
          </a:xfrm>
          <a:prstGeom prst="rect">
            <a:avLst/>
          </a:prstGeom>
          <a:noFill/>
          <a:ln/>
        </p:spPr>
        <p:txBody>
          <a:bodyPr wrap="square" lIns="0" tIns="0" rIns="0" bIns="0" rtlCol="0" anchor="t"/>
          <a:lstStyle/>
          <a:p>
            <a:pPr indent="0" marL="0">
              <a:buNone/>
            </a:pPr>
            <a:r>
              <a:rPr lang="en-US" sz="1300" dirty="0">
                <a:solidFill>
                  <a:schemeClr val="tx1"/>
                </a:solidFill>
              </a:rPr>
              <a:t>Equity, partnerships; provenance tracking</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indent="0" marL="0">
              <a:buNone/>
            </a:pPr>
            <a:r>
              <a:rPr lang="en-US" sz="2800" b="1" dirty="0">
                <a:solidFill>
                  <a:schemeClr val="bg1"/>
                </a:solidFill>
              </a:rPr>
              <a:t>Recommendation and next steps</a:t>
            </a:r>
            <a:endParaRPr lang="en-US" sz="2800" dirty="0"/>
          </a:p>
        </p:txBody>
      </p:sp>
      <p:sp>
        <p:nvSpPr>
          <p:cNvPr id="3" name="step badge 1"/>
          <p:cNvSpPr/>
          <p:nvPr/>
        </p:nvSpPr>
        <p:spPr>
          <a:xfrm>
            <a:off x="457200" y="1051560"/>
            <a:ext cx="548640" cy="548640"/>
          </a:xfrm>
          <a:prstGeom prst="ellipse">
            <a:avLst/>
          </a:prstGeom>
          <a:solidFill>
            <a:schemeClr val="accent1"/>
          </a:solidFill>
          <a:ln w="12700">
            <a:solidFill>
              <a:schemeClr val="accent1"/>
            </a:solidFill>
            <a:prstDash val="solid"/>
          </a:ln>
        </p:spPr>
      </p:sp>
      <p:sp>
        <p:nvSpPr>
          <p:cNvPr id="4" name="Text 2"/>
          <p:cNvSpPr txBox="1"/>
          <p:nvPr/>
        </p:nvSpPr>
        <p:spPr>
          <a:xfrm>
            <a:off x="457200" y="1051560"/>
            <a:ext cx="548640" cy="548640"/>
          </a:xfrm>
          <a:prstGeom prst="rect">
            <a:avLst/>
          </a:prstGeom>
          <a:noFill/>
          <a:ln/>
        </p:spPr>
        <p:txBody>
          <a:bodyPr wrap="square" lIns="0" tIns="0" rIns="0" bIns="0" rtlCol="0" anchor="ctr"/>
          <a:lstStyle/>
          <a:p>
            <a:pPr algn="ctr" indent="0" marL="0">
              <a:buNone/>
            </a:pPr>
            <a:r>
              <a:rPr lang="en-US" sz="2000" b="1" dirty="0">
                <a:solidFill>
                  <a:schemeClr val="tx2"/>
                </a:solidFill>
              </a:rPr>
              <a:t>1</a:t>
            </a:r>
            <a:endParaRPr lang="en-US" sz="2000" dirty="0"/>
          </a:p>
        </p:txBody>
      </p:sp>
      <p:sp>
        <p:nvSpPr>
          <p:cNvPr id="5" name="Text 3"/>
          <p:cNvSpPr txBox="1"/>
          <p:nvPr/>
        </p:nvSpPr>
        <p:spPr>
          <a:xfrm>
            <a:off x="1234440" y="1033272"/>
            <a:ext cx="7406640" cy="320040"/>
          </a:xfrm>
          <a:prstGeom prst="rect">
            <a:avLst/>
          </a:prstGeom>
          <a:noFill/>
          <a:ln/>
        </p:spPr>
        <p:txBody>
          <a:bodyPr wrap="square" lIns="0" tIns="0" rIns="0" bIns="0" rtlCol="0" anchor="t"/>
          <a:lstStyle/>
          <a:p>
            <a:pPr indent="0" marL="0">
              <a:buNone/>
            </a:pPr>
            <a:r>
              <a:rPr lang="en-US" sz="1700" b="1" dirty="0">
                <a:solidFill>
                  <a:schemeClr val="bg1"/>
                </a:solidFill>
              </a:rPr>
              <a:t>Choose the wedge</a:t>
            </a:r>
            <a:endParaRPr lang="en-US" sz="1700" dirty="0"/>
          </a:p>
        </p:txBody>
      </p:sp>
      <p:sp>
        <p:nvSpPr>
          <p:cNvPr id="6" name="Text 4"/>
          <p:cNvSpPr txBox="1"/>
          <p:nvPr/>
        </p:nvSpPr>
        <p:spPr>
          <a:xfrm>
            <a:off x="1234440" y="1353312"/>
            <a:ext cx="7406640" cy="320040"/>
          </a:xfrm>
          <a:prstGeom prst="rect">
            <a:avLst/>
          </a:prstGeom>
          <a:noFill/>
          <a:ln/>
        </p:spPr>
        <p:txBody>
          <a:bodyPr wrap="square" lIns="0" tIns="0" rIns="0" bIns="0" rtlCol="0" anchor="t"/>
          <a:lstStyle/>
          <a:p>
            <a:pPr indent="0" marL="0">
              <a:buNone/>
            </a:pPr>
            <a:r>
              <a:rPr lang="en-US" sz="1400" dirty="0">
                <a:solidFill>
                  <a:schemeClr val="bg2"/>
                </a:solidFill>
              </a:rPr>
              <a:t>Pick one or two segments: sovereign, regulated, vertical or language</a:t>
            </a:r>
            <a:endParaRPr lang="en-US" sz="1400" dirty="0"/>
          </a:p>
        </p:txBody>
      </p:sp>
      <p:sp>
        <p:nvSpPr>
          <p:cNvPr id="7" name="step badge 2"/>
          <p:cNvSpPr/>
          <p:nvPr/>
        </p:nvSpPr>
        <p:spPr>
          <a:xfrm>
            <a:off x="457200" y="1920240"/>
            <a:ext cx="548640" cy="548640"/>
          </a:xfrm>
          <a:prstGeom prst="ellipse">
            <a:avLst/>
          </a:prstGeom>
          <a:solidFill>
            <a:schemeClr val="accent1"/>
          </a:solidFill>
          <a:ln w="12700">
            <a:solidFill>
              <a:schemeClr val="accent1"/>
            </a:solidFill>
            <a:prstDash val="solid"/>
          </a:ln>
        </p:spPr>
      </p:sp>
      <p:sp>
        <p:nvSpPr>
          <p:cNvPr id="8" name="Text 6"/>
          <p:cNvSpPr txBox="1"/>
          <p:nvPr/>
        </p:nvSpPr>
        <p:spPr>
          <a:xfrm>
            <a:off x="457200" y="1920240"/>
            <a:ext cx="548640" cy="548640"/>
          </a:xfrm>
          <a:prstGeom prst="rect">
            <a:avLst/>
          </a:prstGeom>
          <a:noFill/>
          <a:ln/>
        </p:spPr>
        <p:txBody>
          <a:bodyPr wrap="square" lIns="0" tIns="0" rIns="0" bIns="0" rtlCol="0" anchor="ctr"/>
          <a:lstStyle/>
          <a:p>
            <a:pPr algn="ctr" indent="0" marL="0">
              <a:buNone/>
            </a:pPr>
            <a:r>
              <a:rPr lang="en-US" sz="2000" b="1" dirty="0">
                <a:solidFill>
                  <a:schemeClr val="tx2"/>
                </a:solidFill>
              </a:rPr>
              <a:t>2</a:t>
            </a:r>
            <a:endParaRPr lang="en-US" sz="2000" dirty="0"/>
          </a:p>
        </p:txBody>
      </p:sp>
      <p:sp>
        <p:nvSpPr>
          <p:cNvPr id="9" name="Text 7"/>
          <p:cNvSpPr txBox="1"/>
          <p:nvPr/>
        </p:nvSpPr>
        <p:spPr>
          <a:xfrm>
            <a:off x="1234440" y="1901952"/>
            <a:ext cx="7406640" cy="320040"/>
          </a:xfrm>
          <a:prstGeom prst="rect">
            <a:avLst/>
          </a:prstGeom>
          <a:noFill/>
          <a:ln/>
        </p:spPr>
        <p:txBody>
          <a:bodyPr wrap="square" lIns="0" tIns="0" rIns="0" bIns="0" rtlCol="0" anchor="t"/>
          <a:lstStyle/>
          <a:p>
            <a:pPr indent="0" marL="0">
              <a:buNone/>
            </a:pPr>
            <a:r>
              <a:rPr lang="en-US" sz="1700" b="1" dirty="0">
                <a:solidFill>
                  <a:schemeClr val="bg1"/>
                </a:solidFill>
              </a:rPr>
              <a:t>Adapt Beam (Stage 1)</a:t>
            </a:r>
            <a:endParaRPr lang="en-US" sz="1700" dirty="0"/>
          </a:p>
        </p:txBody>
      </p:sp>
      <p:sp>
        <p:nvSpPr>
          <p:cNvPr id="10" name="Text 8"/>
          <p:cNvSpPr txBox="1"/>
          <p:nvPr/>
        </p:nvSpPr>
        <p:spPr>
          <a:xfrm>
            <a:off x="1234440" y="2221992"/>
            <a:ext cx="7406640" cy="320040"/>
          </a:xfrm>
          <a:prstGeom prst="rect">
            <a:avLst/>
          </a:prstGeom>
          <a:noFill/>
          <a:ln/>
        </p:spPr>
        <p:txBody>
          <a:bodyPr wrap="square" lIns="0" tIns="0" rIns="0" bIns="0" rtlCol="0" anchor="t"/>
          <a:lstStyle/>
          <a:p>
            <a:pPr indent="0" marL="0">
              <a:buNone/>
            </a:pPr>
            <a:r>
              <a:rPr lang="en-US" sz="1400" dirty="0">
                <a:solidFill>
                  <a:schemeClr val="bg2"/>
                </a:solidFill>
              </a:rPr>
              <a:t>≈$11M, 3–6 months: SFT + RL on Beam 1.0 for that wedge</a:t>
            </a:r>
            <a:endParaRPr lang="en-US" sz="1400" dirty="0"/>
          </a:p>
        </p:txBody>
      </p:sp>
      <p:sp>
        <p:nvSpPr>
          <p:cNvPr id="11" name="step badge 3"/>
          <p:cNvSpPr/>
          <p:nvPr/>
        </p:nvSpPr>
        <p:spPr>
          <a:xfrm>
            <a:off x="457200" y="2788920"/>
            <a:ext cx="548640" cy="548640"/>
          </a:xfrm>
          <a:prstGeom prst="ellipse">
            <a:avLst/>
          </a:prstGeom>
          <a:solidFill>
            <a:schemeClr val="accent1"/>
          </a:solidFill>
          <a:ln w="12700">
            <a:solidFill>
              <a:schemeClr val="accent1"/>
            </a:solidFill>
            <a:prstDash val="solid"/>
          </a:ln>
        </p:spPr>
      </p:sp>
      <p:sp>
        <p:nvSpPr>
          <p:cNvPr id="12" name="Text 10"/>
          <p:cNvSpPr txBox="1"/>
          <p:nvPr/>
        </p:nvSpPr>
        <p:spPr>
          <a:xfrm>
            <a:off x="457200" y="2788920"/>
            <a:ext cx="548640" cy="548640"/>
          </a:xfrm>
          <a:prstGeom prst="rect">
            <a:avLst/>
          </a:prstGeom>
          <a:noFill/>
          <a:ln/>
        </p:spPr>
        <p:txBody>
          <a:bodyPr wrap="square" lIns="0" tIns="0" rIns="0" bIns="0" rtlCol="0" anchor="ctr"/>
          <a:lstStyle/>
          <a:p>
            <a:pPr algn="ctr" indent="0" marL="0">
              <a:buNone/>
            </a:pPr>
            <a:r>
              <a:rPr lang="en-US" sz="2000" b="1" dirty="0">
                <a:solidFill>
                  <a:schemeClr val="tx2"/>
                </a:solidFill>
              </a:rPr>
              <a:t>3</a:t>
            </a:r>
            <a:endParaRPr lang="en-US" sz="2000" dirty="0"/>
          </a:p>
        </p:txBody>
      </p:sp>
      <p:sp>
        <p:nvSpPr>
          <p:cNvPr id="13" name="Text 11"/>
          <p:cNvSpPr txBox="1"/>
          <p:nvPr/>
        </p:nvSpPr>
        <p:spPr>
          <a:xfrm>
            <a:off x="1234440" y="2770632"/>
            <a:ext cx="7406640" cy="320040"/>
          </a:xfrm>
          <a:prstGeom prst="rect">
            <a:avLst/>
          </a:prstGeom>
          <a:noFill/>
          <a:ln/>
        </p:spPr>
        <p:txBody>
          <a:bodyPr wrap="square" lIns="0" tIns="0" rIns="0" bIns="0" rtlCol="0" anchor="t"/>
          <a:lstStyle/>
          <a:p>
            <a:pPr indent="0" marL="0">
              <a:buNone/>
            </a:pPr>
            <a:r>
              <a:rPr lang="en-US" sz="1700" b="1" dirty="0">
                <a:solidFill>
                  <a:schemeClr val="bg1"/>
                </a:solidFill>
              </a:rPr>
              <a:t>Build the hard parts early</a:t>
            </a:r>
            <a:endParaRPr lang="en-US" sz="1700" dirty="0"/>
          </a:p>
        </p:txBody>
      </p:sp>
      <p:sp>
        <p:nvSpPr>
          <p:cNvPr id="14" name="Text 12"/>
          <p:cNvSpPr txBox="1"/>
          <p:nvPr/>
        </p:nvSpPr>
        <p:spPr>
          <a:xfrm>
            <a:off x="1234440" y="3090672"/>
            <a:ext cx="7406640" cy="320040"/>
          </a:xfrm>
          <a:prstGeom prst="rect">
            <a:avLst/>
          </a:prstGeom>
          <a:noFill/>
          <a:ln/>
        </p:spPr>
        <p:txBody>
          <a:bodyPr wrap="square" lIns="0" tIns="0" rIns="0" bIns="0" rtlCol="0" anchor="t"/>
          <a:lstStyle/>
          <a:p>
            <a:pPr indent="0" marL="0">
              <a:buNone/>
            </a:pPr>
            <a:r>
              <a:rPr lang="en-US" sz="1400" dirty="0">
                <a:solidFill>
                  <a:schemeClr val="bg2"/>
                </a:solidFill>
              </a:rPr>
              <a:t>Data engine, RL environment fleet, independent eval harness</a:t>
            </a:r>
            <a:endParaRPr lang="en-US" sz="1400" dirty="0"/>
          </a:p>
        </p:txBody>
      </p:sp>
      <p:sp>
        <p:nvSpPr>
          <p:cNvPr id="15" name="step badge 4"/>
          <p:cNvSpPr/>
          <p:nvPr/>
        </p:nvSpPr>
        <p:spPr>
          <a:xfrm>
            <a:off x="457200" y="3657600"/>
            <a:ext cx="548640" cy="548640"/>
          </a:xfrm>
          <a:prstGeom prst="ellipse">
            <a:avLst/>
          </a:prstGeom>
          <a:solidFill>
            <a:schemeClr val="accent1"/>
          </a:solidFill>
          <a:ln w="12700">
            <a:solidFill>
              <a:schemeClr val="accent1"/>
            </a:solidFill>
            <a:prstDash val="solid"/>
          </a:ln>
        </p:spPr>
      </p:sp>
      <p:sp>
        <p:nvSpPr>
          <p:cNvPr id="16" name="Text 14"/>
          <p:cNvSpPr txBox="1"/>
          <p:nvPr/>
        </p:nvSpPr>
        <p:spPr>
          <a:xfrm>
            <a:off x="457200" y="3657600"/>
            <a:ext cx="548640" cy="548640"/>
          </a:xfrm>
          <a:prstGeom prst="rect">
            <a:avLst/>
          </a:prstGeom>
          <a:noFill/>
          <a:ln/>
        </p:spPr>
        <p:txBody>
          <a:bodyPr wrap="square" lIns="0" tIns="0" rIns="0" bIns="0" rtlCol="0" anchor="ctr"/>
          <a:lstStyle/>
          <a:p>
            <a:pPr algn="ctr" indent="0" marL="0">
              <a:buNone/>
            </a:pPr>
            <a:r>
              <a:rPr lang="en-US" sz="2000" b="1" dirty="0">
                <a:solidFill>
                  <a:schemeClr val="tx2"/>
                </a:solidFill>
              </a:rPr>
              <a:t>4</a:t>
            </a:r>
            <a:endParaRPr lang="en-US" sz="2000" dirty="0"/>
          </a:p>
        </p:txBody>
      </p:sp>
      <p:sp>
        <p:nvSpPr>
          <p:cNvPr id="17" name="Text 15"/>
          <p:cNvSpPr txBox="1"/>
          <p:nvPr/>
        </p:nvSpPr>
        <p:spPr>
          <a:xfrm>
            <a:off x="1234440" y="3639312"/>
            <a:ext cx="7406640" cy="320040"/>
          </a:xfrm>
          <a:prstGeom prst="rect">
            <a:avLst/>
          </a:prstGeom>
          <a:noFill/>
          <a:ln/>
        </p:spPr>
        <p:txBody>
          <a:bodyPr wrap="square" lIns="0" tIns="0" rIns="0" bIns="0" rtlCol="0" anchor="t"/>
          <a:lstStyle/>
          <a:p>
            <a:pPr indent="0" marL="0">
              <a:buNone/>
            </a:pPr>
            <a:r>
              <a:rPr lang="en-US" sz="1700" b="1" dirty="0">
                <a:solidFill>
                  <a:schemeClr val="bg1"/>
                </a:solidFill>
              </a:rPr>
              <a:t>Decide at Gate 2</a:t>
            </a:r>
            <a:endParaRPr lang="en-US" sz="1700" dirty="0"/>
          </a:p>
        </p:txBody>
      </p:sp>
      <p:sp>
        <p:nvSpPr>
          <p:cNvPr id="18" name="Text 16"/>
          <p:cNvSpPr txBox="1"/>
          <p:nvPr/>
        </p:nvSpPr>
        <p:spPr>
          <a:xfrm>
            <a:off x="1234440" y="3959352"/>
            <a:ext cx="7406640" cy="320040"/>
          </a:xfrm>
          <a:prstGeom prst="rect">
            <a:avLst/>
          </a:prstGeom>
          <a:noFill/>
          <a:ln/>
        </p:spPr>
        <p:txBody>
          <a:bodyPr wrap="square" lIns="0" tIns="0" rIns="0" bIns="0" rtlCol="0" anchor="t"/>
          <a:lstStyle/>
          <a:p>
            <a:pPr indent="0" marL="0">
              <a:buNone/>
            </a:pPr>
            <a:r>
              <a:rPr lang="en-US" sz="1400" dirty="0">
                <a:solidFill>
                  <a:schemeClr val="bg2"/>
                </a:solidFill>
              </a:rPr>
              <a:t>Fund continued pre-training or a from-scratch model only on proven demand</a:t>
            </a:r>
            <a:endParaRPr lang="en-US" sz="14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indent="0" marL="0">
              <a:buNone/>
            </a:pPr>
            <a:r>
              <a:rPr lang="en-US" sz="2800" b="1" dirty="0">
                <a:solidFill>
                  <a:schemeClr val="tx2"/>
                </a:solidFill>
              </a:rPr>
              <a:t>Sources and notes</a:t>
            </a:r>
            <a:endParaRPr lang="en-US" sz="2800" dirty="0"/>
          </a:p>
        </p:txBody>
      </p:sp>
      <p:sp>
        <p:nvSpPr>
          <p:cNvPr id="3" name="Text 1"/>
          <p:cNvSpPr txBox="1"/>
          <p:nvPr/>
        </p:nvSpPr>
        <p:spPr>
          <a:xfrm>
            <a:off x="457200" y="1051560"/>
            <a:ext cx="8229600" cy="27432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Reflection AI: Introducing Beam (5 Oct 2026); Beam is now available (16 Oct 2026)</a:t>
            </a:r>
            <a:endParaRPr lang="en-US" sz="1300" dirty="0"/>
          </a:p>
          <a:p>
            <a:pPr marL="342900" indent="-342900">
              <a:spcAft>
                <a:spcPts val="600"/>
              </a:spcAft>
              <a:buSzPct val="100000"/>
              <a:buChar char="•"/>
            </a:pPr>
            <a:r>
              <a:rPr lang="en-US" sz="1300" dirty="0">
                <a:solidFill>
                  <a:schemeClr val="tx1"/>
                </a:solidFill>
              </a:rPr>
              <a:t>Hugging Face model cards: reflection/Beam-1.0-501B-A23B (BF16, FP8, NVFP4); vLLM and NVIDIA serving recipes</a:t>
            </a:r>
            <a:endParaRPr lang="en-US" sz="1300" dirty="0"/>
          </a:p>
          <a:p>
            <a:pPr marL="342900" indent="-342900">
              <a:spcAft>
                <a:spcPts val="600"/>
              </a:spcAft>
              <a:buSzPct val="100000"/>
              <a:buChar char="•"/>
            </a:pPr>
            <a:r>
              <a:rPr lang="en-US" sz="1300" dirty="0">
                <a:solidFill>
                  <a:schemeClr val="tx1"/>
                </a:solidFill>
              </a:rPr>
              <a:t>Artificial Analysis Intelligence Index v4.3.x and Beam article (Oct 2026)</a:t>
            </a:r>
            <a:endParaRPr lang="en-US" sz="1300" dirty="0"/>
          </a:p>
          <a:p>
            <a:pPr marL="342900" indent="-342900">
              <a:spcAft>
                <a:spcPts val="600"/>
              </a:spcAft>
              <a:buSzPct val="100000"/>
              <a:buChar char="•"/>
            </a:pPr>
            <a:r>
              <a:rPr lang="en-US" sz="1300" dirty="0">
                <a:solidFill>
                  <a:schemeClr val="tx1"/>
                </a:solidFill>
              </a:rPr>
              <a:t>Vendor launch materials and system cards: Anthropic (Claude Opus 5.5, Sonnet 5.5, Fable 5.1), OpenAI (GPT-6), Google (Gemini), xAI (Grok 4.7), Meta (Muse, Llama 4)</a:t>
            </a:r>
            <a:endParaRPr lang="en-US" sz="1300" dirty="0"/>
          </a:p>
          <a:p>
            <a:pPr marL="342900" indent="-342900">
              <a:spcAft>
                <a:spcPts val="600"/>
              </a:spcAft>
              <a:buSzPct val="100000"/>
              <a:buChar char="•"/>
            </a:pPr>
            <a:r>
              <a:rPr lang="en-US" sz="1300" dirty="0">
                <a:solidFill>
                  <a:schemeClr val="tx1"/>
                </a:solidFill>
              </a:rPr>
              <a:t>Menlo Ventures enterprise LLM market data; pricing aggregators (BenchLM, Oct 2026)</a:t>
            </a:r>
            <a:endParaRPr lang="en-US" sz="1300" dirty="0"/>
          </a:p>
          <a:p>
            <a:pPr marL="342900" indent="-342900">
              <a:spcAft>
                <a:spcPts val="600"/>
              </a:spcAft>
              <a:buSzPct val="100000"/>
              <a:buChar char="•"/>
            </a:pPr>
            <a:r>
              <a:rPr lang="en-US" sz="1300" dirty="0">
                <a:solidFill>
                  <a:schemeClr val="tx1"/>
                </a:solidFill>
              </a:rPr>
              <a:t>Costs, GPU-hours and team sizes are author estimates; see Sections 12 and Appendix A of the research baseline</a:t>
            </a:r>
            <a:endParaRPr lang="en-US" sz="1300" dirty="0"/>
          </a:p>
        </p:txBody>
      </p:sp>
      <p:sp>
        <p:nvSpPr>
          <p:cNvPr id="4" name="caveat card"/>
          <p:cNvSpPr/>
          <p:nvPr/>
        </p:nvSpPr>
        <p:spPr>
          <a:xfrm>
            <a:off x="457200" y="3429000"/>
            <a:ext cx="8229600" cy="731520"/>
          </a:xfrm>
          <a:prstGeom prst="roundRect">
            <a:avLst>
              <a:gd name="adj" fmla="val 10000"/>
            </a:avLst>
          </a:prstGeom>
          <a:solidFill>
            <a:schemeClr val="bg2"/>
          </a:solidFill>
          <a:ln w="12700">
            <a:solidFill>
              <a:schemeClr val="bg2"/>
            </a:solidFill>
            <a:prstDash val="solid"/>
          </a:ln>
        </p:spPr>
      </p:sp>
      <p:sp>
        <p:nvSpPr>
          <p:cNvPr id="5" name="Text 3"/>
          <p:cNvSpPr txBox="1"/>
          <p:nvPr/>
        </p:nvSpPr>
        <p:spPr>
          <a:xfrm>
            <a:off x="640080" y="3493008"/>
            <a:ext cx="7863840" cy="603504"/>
          </a:xfrm>
          <a:prstGeom prst="rect">
            <a:avLst/>
          </a:prstGeom>
          <a:noFill/>
          <a:ln/>
        </p:spPr>
        <p:txBody>
          <a:bodyPr wrap="square" lIns="0" tIns="0" rIns="0" bIns="0" rtlCol="0" anchor="ctr"/>
          <a:lstStyle/>
          <a:p>
            <a:pPr indent="0" marL="0">
              <a:buNone/>
            </a:pPr>
            <a:r>
              <a:rPr lang="en-US" sz="1200" dirty="0">
                <a:solidFill>
                  <a:schemeClr val="tx1"/>
                </a:solidFill>
              </a:rPr>
              <a:t>Caveat: vendors report different benchmark versions and harnesses. Only the Artificial Analysis index puts all models on one scale; treat cross-vendor gaps under ~2 points as noise. Full source list (42 references) in the research baseline document.</a:t>
            </a:r>
            <a:endParaRPr lang="en-US" sz="12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Beam Executive">
  <a:themeElements>
    <a:clrScheme name="Beam Executive">
      <a:dk1>
        <a:srgbClr val="0B1530"/>
      </a:dk1>
      <a:lt1>
        <a:srgbClr val="FFFFFF"/>
      </a:lt1>
      <a:dk2>
        <a:srgbClr val="13254F"/>
      </a:dk2>
      <a:lt2>
        <a:srgbClr val="EEF2F8"/>
      </a:lt2>
      <a:accent1>
        <a:srgbClr val="F2A516"/>
      </a:accent1>
      <a:accent2>
        <a:srgbClr val="2E6FD8"/>
      </a:accent2>
      <a:accent3>
        <a:srgbClr val="5BB4E5"/>
      </a:accent3>
      <a:accent4>
        <a:srgbClr val="8A93A6"/>
      </a:accent4>
      <a:accent5>
        <a:srgbClr val="1BAF7A"/>
      </a:accent5>
      <a:accent6>
        <a:srgbClr val="E34948"/>
      </a:accent6>
      <a:hlink>
        <a:srgbClr val="2E6FD8"/>
      </a:hlink>
      <a:folHlink>
        <a:srgbClr val="6250D6"/>
      </a:folHlink>
    </a:clrScheme>
    <a:fontScheme name="Beam Executiv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 Beam-Class LLM — Executive Summary</dc:title>
  <dc:subject>PptxGenJS Presentation</dc:subject>
  <dc:creator>Beam research programme</dc:creator>
  <cp:lastModifiedBy>Beam research programme</cp:lastModifiedBy>
  <cp:revision>1</cp:revision>
  <dcterms:created xsi:type="dcterms:W3CDTF">2026-10-19T13:35:42Z</dcterms:created>
  <dcterms:modified xsi:type="dcterms:W3CDTF">2026-10-19T13:35:42Z</dcterms:modified>
</cp:coreProperties>
</file>